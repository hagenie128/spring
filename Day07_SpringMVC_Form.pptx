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RightPanel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RightAccent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5" name="LabelBg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6" name="CourseLabel"/>
          <p:cNvSpPr/>
          <p:nvPr/>
        </p:nvSpPr>
        <p:spPr>
          <a:xfrm>
            <a:off x="457200" y="640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</a:t>
            </a:r>
            <a:endParaRPr lang="en-US" dirty="0"/>
          </a:p>
        </p:txBody>
      </p:sp>
      <p:sp>
        <p:nvSpPr>
          <p:cNvPr id="7" name="MainTitle"/>
          <p:cNvSpPr/>
          <p:nvPr/>
        </p:nvSpPr>
        <p:spPr>
          <a:xfrm>
            <a:off x="457200" y="11704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②</a:t>
            </a:r>
            <a:endParaRPr lang="en-US" dirty="0"/>
          </a:p>
        </p:txBody>
      </p:sp>
      <p:sp>
        <p:nvSpPr>
          <p:cNvPr id="8" name="Subtitle"/>
          <p:cNvSpPr/>
          <p:nvPr/>
        </p:nvSpPr>
        <p:spPr>
          <a:xfrm>
            <a:off x="457200" y="18470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@GetMapping · Form 파라미터 · JSTL</a:t>
            </a:r>
            <a:endParaRPr lang="en-US" dirty="0"/>
          </a:p>
        </p:txBody>
      </p:sp>
      <p:sp>
        <p:nvSpPr>
          <p:cNvPr id="9" name="DayBadge"/>
          <p:cNvSpPr/>
          <p:nvPr/>
        </p:nvSpPr>
        <p:spPr>
          <a:xfrm>
            <a:off x="457200" y="2395728"/>
            <a:ext cx="1097280" cy="43891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0" name="DayNum"/>
          <p:cNvSpPr/>
          <p:nvPr/>
        </p:nvSpPr>
        <p:spPr>
          <a:xfrm>
            <a:off x="457200" y="23957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07</a:t>
            </a:r>
            <a:endParaRPr lang="en-US" dirty="0"/>
          </a:p>
        </p:txBody>
      </p:sp>
      <p:sp>
        <p:nvSpPr>
          <p:cNvPr id="11" name="Prereq"/>
          <p:cNvSpPr/>
          <p:nvPr/>
        </p:nvSpPr>
        <p:spPr>
          <a:xfrm>
            <a:off x="1691640" y="239572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선수학습: 6일차 완료</a:t>
            </a:r>
            <a:endParaRPr lang="en-US" dirty="0"/>
          </a:p>
        </p:txBody>
      </p:sp>
      <p:sp>
        <p:nvSpPr>
          <p:cNvPr id="12" name="TimeLabel"/>
          <p:cNvSpPr/>
          <p:nvPr/>
        </p:nvSpPr>
        <p:spPr>
          <a:xfrm>
            <a:off x="6080760" y="914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dirty="0"/>
          </a:p>
        </p:txBody>
      </p:sp>
      <p:sp>
        <p:nvSpPr>
          <p:cNvPr id="13" name="TimeVal"/>
          <p:cNvSpPr/>
          <p:nvPr/>
        </p:nvSpPr>
        <p:spPr>
          <a:xfrm>
            <a:off x="6080760" y="1197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~ 18:00  (8H)</a:t>
            </a:r>
            <a:endParaRPr lang="en-US" dirty="0"/>
          </a:p>
        </p:txBody>
      </p:sp>
      <p:sp>
        <p:nvSpPr>
          <p:cNvPr id="14" name="Ses1Label"/>
          <p:cNvSpPr/>
          <p:nvPr/>
        </p:nvSpPr>
        <p:spPr>
          <a:xfrm>
            <a:off x="6080760" y="1901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1</a:t>
            </a:r>
            <a:endParaRPr lang="en-US" dirty="0"/>
          </a:p>
        </p:txBody>
      </p:sp>
      <p:sp>
        <p:nvSpPr>
          <p:cNvPr id="15" name="Ses1Val"/>
          <p:cNvSpPr/>
          <p:nvPr/>
        </p:nvSpPr>
        <p:spPr>
          <a:xfrm>
            <a:off x="6080760" y="2185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메서드별 매핑</a:t>
            </a:r>
            <a:endParaRPr lang="en-US" dirty="0"/>
          </a:p>
        </p:txBody>
      </p:sp>
      <p:sp>
        <p:nvSpPr>
          <p:cNvPr id="16" name="Ses2Label"/>
          <p:cNvSpPr/>
          <p:nvPr/>
        </p:nvSpPr>
        <p:spPr>
          <a:xfrm>
            <a:off x="6080760" y="2650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2</a:t>
            </a:r>
            <a:endParaRPr lang="en-US" dirty="0"/>
          </a:p>
        </p:txBody>
      </p:sp>
      <p:sp>
        <p:nvSpPr>
          <p:cNvPr id="17" name="Ses2Val"/>
          <p:cNvSpPr/>
          <p:nvPr/>
        </p:nvSpPr>
        <p:spPr>
          <a:xfrm>
            <a:off x="6080760" y="29334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데이터 바인딩</a:t>
            </a:r>
            <a:endParaRPr lang="en-US" dirty="0"/>
          </a:p>
        </p:txBody>
      </p:sp>
      <p:sp>
        <p:nvSpPr>
          <p:cNvPr id="18" name="Ses3Label"/>
          <p:cNvSpPr/>
          <p:nvPr/>
        </p:nvSpPr>
        <p:spPr>
          <a:xfrm>
            <a:off x="6080760" y="3398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3</a:t>
            </a:r>
            <a:endParaRPr lang="en-US" dirty="0"/>
          </a:p>
        </p:txBody>
      </p:sp>
      <p:sp>
        <p:nvSpPr>
          <p:cNvPr id="19" name="Ses3Val"/>
          <p:cNvSpPr/>
          <p:nvPr/>
        </p:nvSpPr>
        <p:spPr>
          <a:xfrm>
            <a:off x="6080760" y="3681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처리 &amp; 한글 인코딩</a:t>
            </a:r>
            <a:endParaRPr lang="en-US" dirty="0"/>
          </a:p>
        </p:txBody>
      </p:sp>
      <p:sp>
        <p:nvSpPr>
          <p:cNvPr id="20" name="Ses4Label"/>
          <p:cNvSpPr/>
          <p:nvPr/>
        </p:nvSpPr>
        <p:spPr>
          <a:xfrm>
            <a:off x="6080760" y="4146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4</a:t>
            </a:r>
            <a:endParaRPr lang="en-US" dirty="0"/>
          </a:p>
        </p:txBody>
      </p:sp>
      <p:sp>
        <p:nvSpPr>
          <p:cNvPr id="21" name="Ses4Val"/>
          <p:cNvSpPr/>
          <p:nvPr/>
        </p:nvSpPr>
        <p:spPr>
          <a:xfrm>
            <a:off x="6080760" y="44294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/ JSTL 출력</a:t>
            </a:r>
            <a:endParaRPr lang="en-US" dirty="0"/>
          </a:p>
        </p:txBody>
      </p:sp>
      <p:sp>
        <p:nvSpPr>
          <p:cNvPr id="22" name="FtrBg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3" name="FtrTxt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Framework 6.2  ·  Jakarta EE  ·  Tomcat 10.1+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학습 목표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수업이 끝나면 다음을 할 수 있어야 합니다</a:t>
            </a:r>
            <a:endParaRPr lang="en-US" dirty="0"/>
          </a:p>
        </p:txBody>
      </p:sp>
      <p:sp>
        <p:nvSpPr>
          <p:cNvPr id="6" name="Card01"/>
          <p:cNvSpPr/>
          <p:nvPr/>
        </p:nvSpPr>
        <p:spPr>
          <a:xfrm>
            <a:off x="247680" y="1188720"/>
            <a:ext cx="4206240" cy="164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ard01Bar"/>
          <p:cNvSpPr/>
          <p:nvPr/>
        </p:nvSpPr>
        <p:spPr>
          <a:xfrm>
            <a:off x="247680" y="1188720"/>
            <a:ext cx="4206240" cy="7315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8" name="Card01Num"/>
          <p:cNvSpPr/>
          <p:nvPr/>
        </p:nvSpPr>
        <p:spPr>
          <a:xfrm>
            <a:off x="3391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9" name="Card01Txt"/>
          <p:cNvSpPr/>
          <p:nvPr/>
        </p:nvSpPr>
        <p:spPr>
          <a:xfrm>
            <a:off x="339120" y="1664640"/>
            <a:ext cx="4023360" cy="10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@GetMapping / @PostMapping 작성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메서드별 요청 처리 메서드를 어노테이션으로 선언할 수 있다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@RequestMapping 기본 방식과 축약 방식의 차이를 설명할 수 있다</a:t>
            </a:r>
            <a:endParaRPr lang="en-US" dirty="0"/>
          </a:p>
        </p:txBody>
      </p:sp>
      <p:sp>
        <p:nvSpPr>
          <p:cNvPr id="10" name="Card02"/>
          <p:cNvSpPr/>
          <p:nvPr/>
        </p:nvSpPr>
        <p:spPr>
          <a:xfrm>
            <a:off x="4704480" y="1188720"/>
            <a:ext cx="4206240" cy="164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Card02Bar"/>
          <p:cNvSpPr/>
          <p:nvPr/>
        </p:nvSpPr>
        <p:spPr>
          <a:xfrm>
            <a:off x="4704480" y="1188720"/>
            <a:ext cx="4206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Card02Num"/>
          <p:cNvSpPr/>
          <p:nvPr/>
        </p:nvSpPr>
        <p:spPr>
          <a:xfrm>
            <a:off x="47959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3" name="Card02Txt"/>
          <p:cNvSpPr/>
          <p:nvPr/>
        </p:nvSpPr>
        <p:spPr>
          <a:xfrm>
            <a:off x="4795920" y="1664640"/>
            <a:ext cx="4023360" cy="10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@RequestParam / @PathVariable / @ModelAttribute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어노테이션의 차이를 설명하고 상황에 맞게 사용할 수 있다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경로 변수, 쿼리스트링, 폼 필드 각각의 바인딩 방식을 구분한다</a:t>
            </a:r>
            <a:endParaRPr lang="en-US" dirty="0"/>
          </a:p>
        </p:txBody>
      </p:sp>
      <p:sp>
        <p:nvSpPr>
          <p:cNvPr id="14" name="Card03"/>
          <p:cNvSpPr/>
          <p:nvPr/>
        </p:nvSpPr>
        <p:spPr>
          <a:xfrm>
            <a:off x="247680" y="2926080"/>
            <a:ext cx="4206240" cy="164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Card03Bar"/>
          <p:cNvSpPr/>
          <p:nvPr/>
        </p:nvSpPr>
        <p:spPr>
          <a:xfrm>
            <a:off x="247680" y="2926080"/>
            <a:ext cx="4206240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Card03Num"/>
          <p:cNvSpPr/>
          <p:nvPr/>
        </p:nvSpPr>
        <p:spPr>
          <a:xfrm>
            <a:off x="3391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17" name="Card03Txt"/>
          <p:cNvSpPr/>
          <p:nvPr/>
        </p:nvSpPr>
        <p:spPr>
          <a:xfrm>
            <a:off x="339120" y="3402000"/>
            <a:ext cx="4023360" cy="10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 → DTO 바인딩 &amp; JSP 출력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폼 데이터를 DTO 객체로 바인딩하고 JSP 화면에 출력할 수 있다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name 속성과 DTO 필드명 일치 원칙을 설명할 수 있다</a:t>
            </a:r>
            <a:endParaRPr lang="en-US" dirty="0"/>
          </a:p>
        </p:txBody>
      </p:sp>
      <p:sp>
        <p:nvSpPr>
          <p:cNvPr id="18" name="Card04"/>
          <p:cNvSpPr/>
          <p:nvPr/>
        </p:nvSpPr>
        <p:spPr>
          <a:xfrm>
            <a:off x="4704480" y="2926080"/>
            <a:ext cx="4206240" cy="1646784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Card04Bar"/>
          <p:cNvSpPr/>
          <p:nvPr/>
        </p:nvSpPr>
        <p:spPr>
          <a:xfrm>
            <a:off x="4704480" y="2926080"/>
            <a:ext cx="4206240" cy="731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Card04Num"/>
          <p:cNvSpPr/>
          <p:nvPr/>
        </p:nvSpPr>
        <p:spPr>
          <a:xfrm>
            <a:off x="479592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/>
          </a:p>
        </p:txBody>
      </p:sp>
      <p:sp>
        <p:nvSpPr>
          <p:cNvPr id="21" name="Card04Txt"/>
          <p:cNvSpPr/>
          <p:nvPr/>
        </p:nvSpPr>
        <p:spPr>
          <a:xfrm>
            <a:off x="4795920" y="3402000"/>
            <a:ext cx="4023360" cy="109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CharacterEncodingFilter &amp; JSTL 출력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POST 데이터가 깨지지 않도록 필터를 설정할 수 있다</a:t>
            </a:r>
            <a:endParaRPr lang="en-US" dirty="0"/>
          </a:p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JSTL c:forEach, c:choose로 List 데이터를 반복·조건 출력할 수 있다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@RequestMapping vs 축약 어노테이션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GET/POST만 확실히 구분하면 충분 — PUT/PATCH/DELETE는 REST API에서 다시 다룬다</a:t>
            </a:r>
            <a:endParaRPr lang="en-US" dirty="0"/>
          </a:p>
        </p:txBody>
      </p:sp>
      <p:sp>
        <p:nvSpPr>
          <p:cNvPr id="6" name="LCol"/>
          <p:cNvSpPr/>
          <p:nvPr/>
        </p:nvSpPr>
        <p:spPr>
          <a:xfrm>
            <a:off x="247680" y="1170432"/>
            <a:ext cx="411552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LColHdr"/>
          <p:cNvSpPr/>
          <p:nvPr/>
        </p:nvSpPr>
        <p:spPr>
          <a:xfrm>
            <a:off x="247680" y="1170432"/>
            <a:ext cx="4115520" cy="14600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LColHdrTxt"/>
          <p:cNvSpPr/>
          <p:nvPr/>
        </p:nvSpPr>
        <p:spPr>
          <a:xfrm>
            <a:off x="339120" y="1207008"/>
            <a:ext cx="393264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방식 (@RequestMapping)</a:t>
            </a:r>
            <a:endParaRPr lang="en-US" dirty="0"/>
          </a:p>
        </p:txBody>
      </p:sp>
      <p:sp>
        <p:nvSpPr>
          <p:cNvPr id="9" name="CodeBg"/>
          <p:cNvSpPr/>
          <p:nvPr/>
        </p:nvSpPr>
        <p:spPr>
          <a:xfrm>
            <a:off x="339120" y="1353312"/>
            <a:ext cx="3932640" cy="146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8B9B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CodeTxt"/>
          <p:cNvSpPr/>
          <p:nvPr/>
        </p:nvSpPr>
        <p:spPr>
          <a:xfrm>
            <a:off x="430560" y="1444752"/>
            <a:ext cx="3749760" cy="127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value = "/order",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method = RequestMethod.GET)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orderForm() { ... 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value = "/order",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method = RequestMethod.POST)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orderSave() { ... }</a:t>
            </a:r>
            <a:endParaRPr lang="en-US" dirty="0"/>
          </a:p>
        </p:txBody>
      </p:sp>
      <p:sp>
        <p:nvSpPr>
          <p:cNvPr id="11" name="Ann0Bg"/>
          <p:cNvSpPr/>
          <p:nvPr/>
        </p:nvSpPr>
        <p:spPr>
          <a:xfrm>
            <a:off x="339120" y="2904752"/>
            <a:ext cx="3932640" cy="274320"/>
          </a:xfrm>
          <a:prstGeom prst="rect">
            <a:avLst/>
          </a:prstGeom>
          <a:solidFill>
            <a:srgbClr val="F8FAF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2" name="Ann0Name"/>
          <p:cNvSpPr/>
          <p:nvPr/>
        </p:nvSpPr>
        <p:spPr>
          <a:xfrm>
            <a:off x="430560" y="2959616"/>
            <a:ext cx="146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endParaRPr lang="en-US" dirty="0"/>
          </a:p>
        </p:txBody>
      </p:sp>
      <p:sp>
        <p:nvSpPr>
          <p:cNvPr id="13" name="Ann0Desc"/>
          <p:cNvSpPr/>
          <p:nvPr/>
        </p:nvSpPr>
        <p:spPr>
          <a:xfrm>
            <a:off x="1947680" y="2959616"/>
            <a:ext cx="226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조회, 화면 표시</a:t>
            </a:r>
            <a:endParaRPr lang="en-US" dirty="0"/>
          </a:p>
        </p:txBody>
      </p:sp>
      <p:sp>
        <p:nvSpPr>
          <p:cNvPr id="14" name="Ann1Bg"/>
          <p:cNvSpPr/>
          <p:nvPr/>
        </p:nvSpPr>
        <p:spPr>
          <a:xfrm>
            <a:off x="339120" y="3197360"/>
            <a:ext cx="3932640" cy="274320"/>
          </a:xfrm>
          <a:prstGeom prst="rect">
            <a:avLst/>
          </a:prstGeom>
          <a:solidFill>
            <a:srgbClr val="F8FAFC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15" name="Ann1Name"/>
          <p:cNvSpPr/>
          <p:nvPr/>
        </p:nvSpPr>
        <p:spPr>
          <a:xfrm>
            <a:off x="430560" y="3252224"/>
            <a:ext cx="146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endParaRPr lang="en-US" dirty="0"/>
          </a:p>
        </p:txBody>
      </p:sp>
      <p:sp>
        <p:nvSpPr>
          <p:cNvPr id="16" name="Ann1Desc"/>
          <p:cNvSpPr/>
          <p:nvPr/>
        </p:nvSpPr>
        <p:spPr>
          <a:xfrm>
            <a:off x="1947680" y="3252224"/>
            <a:ext cx="226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등록, 폼 제출</a:t>
            </a:r>
            <a:endParaRPr lang="en-US" dirty="0"/>
          </a:p>
        </p:txBody>
      </p:sp>
      <p:sp>
        <p:nvSpPr>
          <p:cNvPr id="17" name="Ann2Bg"/>
          <p:cNvSpPr/>
          <p:nvPr/>
        </p:nvSpPr>
        <p:spPr>
          <a:xfrm>
            <a:off x="339120" y="3489968"/>
            <a:ext cx="3932640" cy="274320"/>
          </a:xfrm>
          <a:prstGeom prst="rect">
            <a:avLst/>
          </a:prstGeom>
          <a:solidFill>
            <a:srgbClr val="F8FAFC"/>
          </a:solidFill>
          <a:ln w="9525">
            <a:solidFill>
              <a:srgbClr val="7B1FA2"/>
            </a:solidFill>
            <a:prstDash val="solid"/>
          </a:ln>
        </p:spPr>
      </p:sp>
      <p:sp>
        <p:nvSpPr>
          <p:cNvPr id="18" name="Ann2Name"/>
          <p:cNvSpPr/>
          <p:nvPr/>
        </p:nvSpPr>
        <p:spPr>
          <a:xfrm>
            <a:off x="430560" y="3544832"/>
            <a:ext cx="146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@PutMapping</a:t>
            </a:r>
            <a:endParaRPr lang="en-US" dirty="0"/>
          </a:p>
        </p:txBody>
      </p:sp>
      <p:sp>
        <p:nvSpPr>
          <p:cNvPr id="19" name="Ann2Desc"/>
          <p:cNvSpPr/>
          <p:nvPr/>
        </p:nvSpPr>
        <p:spPr>
          <a:xfrm>
            <a:off x="1947680" y="3544832"/>
            <a:ext cx="226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수정</a:t>
            </a:r>
            <a:endParaRPr lang="en-US" dirty="0"/>
          </a:p>
        </p:txBody>
      </p:sp>
      <p:sp>
        <p:nvSpPr>
          <p:cNvPr id="20" name="Ann3Bg"/>
          <p:cNvSpPr/>
          <p:nvPr/>
        </p:nvSpPr>
        <p:spPr>
          <a:xfrm>
            <a:off x="339120" y="3782576"/>
            <a:ext cx="3932640" cy="274320"/>
          </a:xfrm>
          <a:prstGeom prst="rect">
            <a:avLst/>
          </a:prstGeom>
          <a:solidFill>
            <a:srgbClr val="F8FAFC"/>
          </a:solidFill>
          <a:ln w="9525">
            <a:solidFill>
              <a:srgbClr val="F9A825"/>
            </a:solidFill>
            <a:prstDash val="solid"/>
          </a:ln>
        </p:spPr>
      </p:sp>
      <p:sp>
        <p:nvSpPr>
          <p:cNvPr id="21" name="Ann3Name"/>
          <p:cNvSpPr/>
          <p:nvPr/>
        </p:nvSpPr>
        <p:spPr>
          <a:xfrm>
            <a:off x="430560" y="3837440"/>
            <a:ext cx="146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@PatchMapping</a:t>
            </a:r>
            <a:endParaRPr lang="en-US" dirty="0"/>
          </a:p>
        </p:txBody>
      </p:sp>
      <p:sp>
        <p:nvSpPr>
          <p:cNvPr id="22" name="Ann3Desc"/>
          <p:cNvSpPr/>
          <p:nvPr/>
        </p:nvSpPr>
        <p:spPr>
          <a:xfrm>
            <a:off x="1947680" y="3837440"/>
            <a:ext cx="226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일부 수정</a:t>
            </a:r>
            <a:endParaRPr lang="en-US" dirty="0"/>
          </a:p>
        </p:txBody>
      </p:sp>
      <p:sp>
        <p:nvSpPr>
          <p:cNvPr id="23" name="Ann4Bg"/>
          <p:cNvSpPr/>
          <p:nvPr/>
        </p:nvSpPr>
        <p:spPr>
          <a:xfrm>
            <a:off x="339120" y="4075184"/>
            <a:ext cx="3932640" cy="274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3935"/>
            </a:solidFill>
            <a:prstDash val="solid"/>
          </a:ln>
        </p:spPr>
      </p:sp>
      <p:sp>
        <p:nvSpPr>
          <p:cNvPr id="24" name="Ann4Name"/>
          <p:cNvSpPr/>
          <p:nvPr/>
        </p:nvSpPr>
        <p:spPr>
          <a:xfrm>
            <a:off x="430560" y="4130048"/>
            <a:ext cx="146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</a:t>
            </a:r>
            <a:endParaRPr lang="en-US" dirty="0"/>
          </a:p>
        </p:txBody>
      </p:sp>
      <p:sp>
        <p:nvSpPr>
          <p:cNvPr id="25" name="Ann4Desc"/>
          <p:cNvSpPr/>
          <p:nvPr/>
        </p:nvSpPr>
        <p:spPr>
          <a:xfrm>
            <a:off x="1947680" y="4130048"/>
            <a:ext cx="226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</a:t>
            </a:r>
            <a:endParaRPr lang="en-US" dirty="0"/>
          </a:p>
        </p:txBody>
      </p:sp>
      <p:sp>
        <p:nvSpPr>
          <p:cNvPr id="26" name="RCol"/>
          <p:cNvSpPr/>
          <p:nvPr/>
        </p:nvSpPr>
        <p:spPr>
          <a:xfrm>
            <a:off x="4704480" y="1170432"/>
            <a:ext cx="419184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RColHdr"/>
          <p:cNvSpPr/>
          <p:nvPr/>
        </p:nvSpPr>
        <p:spPr>
          <a:xfrm>
            <a:off x="4704480" y="1170432"/>
            <a:ext cx="4191840" cy="14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8" name="RColHdrTxt"/>
          <p:cNvSpPr/>
          <p:nvPr/>
        </p:nvSpPr>
        <p:spPr>
          <a:xfrm>
            <a:off x="4795920" y="1207008"/>
            <a:ext cx="40089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주요 URL 패턴</a:t>
            </a:r>
            <a:endParaRPr lang="en-US" dirty="0"/>
          </a:p>
        </p:txBody>
      </p:sp>
      <p:sp>
        <p:nvSpPr>
          <p:cNvPr id="29" name="Pat0Bg"/>
          <p:cNvSpPr/>
          <p:nvPr/>
        </p:nvSpPr>
        <p:spPr>
          <a:xfrm>
            <a:off x="4795920" y="1353312"/>
            <a:ext cx="4008960" cy="512064"/>
          </a:xfrm>
          <a:prstGeom prst="rect">
            <a:avLst/>
          </a:prstGeom>
          <a:solidFill>
            <a:srgbClr val="F0F8F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0" name="Pat0Url"/>
          <p:cNvSpPr/>
          <p:nvPr/>
        </p:nvSpPr>
        <p:spPr>
          <a:xfrm>
            <a:off x="4887360" y="140817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/menus</a:t>
            </a:r>
            <a:endParaRPr lang="en-US" dirty="0"/>
          </a:p>
        </p:txBody>
      </p:sp>
      <p:sp>
        <p:nvSpPr>
          <p:cNvPr id="31" name="Pat0Desc"/>
          <p:cNvSpPr/>
          <p:nvPr/>
        </p:nvSpPr>
        <p:spPr>
          <a:xfrm>
            <a:off x="4887360" y="165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목록 조회</a:t>
            </a:r>
            <a:endParaRPr lang="en-US" dirty="0"/>
          </a:p>
        </p:txBody>
      </p:sp>
      <p:sp>
        <p:nvSpPr>
          <p:cNvPr id="32" name="Pat1Bg"/>
          <p:cNvSpPr/>
          <p:nvPr/>
        </p:nvSpPr>
        <p:spPr>
          <a:xfrm>
            <a:off x="4795920" y="1901952"/>
            <a:ext cx="4008960" cy="512064"/>
          </a:xfrm>
          <a:prstGeom prst="rect">
            <a:avLst/>
          </a:prstGeom>
          <a:solidFill>
            <a:srgbClr val="F0F8F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3" name="Pat1Url"/>
          <p:cNvSpPr/>
          <p:nvPr/>
        </p:nvSpPr>
        <p:spPr>
          <a:xfrm>
            <a:off x="4887360" y="195681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/menus/{id}</a:t>
            </a:r>
            <a:endParaRPr lang="en-US" dirty="0"/>
          </a:p>
        </p:txBody>
      </p:sp>
      <p:sp>
        <p:nvSpPr>
          <p:cNvPr id="34" name="Pat1Desc"/>
          <p:cNvSpPr/>
          <p:nvPr/>
        </p:nvSpPr>
        <p:spPr>
          <a:xfrm>
            <a:off x="4887360" y="220195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상세</a:t>
            </a:r>
            <a:endParaRPr lang="en-US" dirty="0"/>
          </a:p>
        </p:txBody>
      </p:sp>
      <p:sp>
        <p:nvSpPr>
          <p:cNvPr id="35" name="Pat2Bg"/>
          <p:cNvSpPr/>
          <p:nvPr/>
        </p:nvSpPr>
        <p:spPr>
          <a:xfrm>
            <a:off x="4795920" y="2450592"/>
            <a:ext cx="4008960" cy="512064"/>
          </a:xfrm>
          <a:prstGeom prst="rect">
            <a:avLst/>
          </a:prstGeom>
          <a:solidFill>
            <a:srgbClr val="F0F8F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6" name="Pat2Url"/>
          <p:cNvSpPr/>
          <p:nvPr/>
        </p:nvSpPr>
        <p:spPr>
          <a:xfrm>
            <a:off x="4887360" y="250545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/menus/search?keyword=...</a:t>
            </a:r>
            <a:endParaRPr lang="en-US" dirty="0"/>
          </a:p>
        </p:txBody>
      </p:sp>
      <p:sp>
        <p:nvSpPr>
          <p:cNvPr id="37" name="Pat2Desc"/>
          <p:cNvSpPr/>
          <p:nvPr/>
        </p:nvSpPr>
        <p:spPr>
          <a:xfrm>
            <a:off x="4887360" y="275059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endParaRPr lang="en-US" dirty="0"/>
          </a:p>
        </p:txBody>
      </p:sp>
      <p:sp>
        <p:nvSpPr>
          <p:cNvPr id="38" name="Pat3Bg"/>
          <p:cNvSpPr/>
          <p:nvPr/>
        </p:nvSpPr>
        <p:spPr>
          <a:xfrm>
            <a:off x="4795920" y="2999232"/>
            <a:ext cx="4008960" cy="512064"/>
          </a:xfrm>
          <a:prstGeom prst="rect">
            <a:avLst/>
          </a:prstGeom>
          <a:solidFill>
            <a:srgbClr val="F0F8FF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39" name="Pat3Url"/>
          <p:cNvSpPr/>
          <p:nvPr/>
        </p:nvSpPr>
        <p:spPr>
          <a:xfrm>
            <a:off x="4887360" y="305409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/orders/new</a:t>
            </a:r>
            <a:endParaRPr lang="en-US" dirty="0"/>
          </a:p>
        </p:txBody>
      </p:sp>
      <p:sp>
        <p:nvSpPr>
          <p:cNvPr id="40" name="Pat3Desc"/>
          <p:cNvSpPr/>
          <p:nvPr/>
        </p:nvSpPr>
        <p:spPr>
          <a:xfrm>
            <a:off x="4887360" y="329923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입력 폼 표시</a:t>
            </a:r>
            <a:endParaRPr lang="en-US" dirty="0"/>
          </a:p>
        </p:txBody>
      </p:sp>
      <p:sp>
        <p:nvSpPr>
          <p:cNvPr id="41" name="Pat4Bg"/>
          <p:cNvSpPr/>
          <p:nvPr/>
        </p:nvSpPr>
        <p:spPr>
          <a:xfrm>
            <a:off x="4795920" y="3547872"/>
            <a:ext cx="4008960" cy="512064"/>
          </a:xfrm>
          <a:prstGeom prst="rect">
            <a:avLst/>
          </a:prstGeom>
          <a:solidFill>
            <a:srgbClr val="F0F8FF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42" name="Pat4Url"/>
          <p:cNvSpPr/>
          <p:nvPr/>
        </p:nvSpPr>
        <p:spPr>
          <a:xfrm>
            <a:off x="4887360" y="360273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/orders</a:t>
            </a:r>
            <a:endParaRPr lang="en-US" dirty="0"/>
          </a:p>
        </p:txBody>
      </p:sp>
      <p:sp>
        <p:nvSpPr>
          <p:cNvPr id="43" name="Pat4Desc"/>
          <p:cNvSpPr/>
          <p:nvPr/>
        </p:nvSpPr>
        <p:spPr>
          <a:xfrm>
            <a:off x="4887360" y="384787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데이터 처리</a:t>
            </a:r>
            <a:endParaRPr lang="en-US" dirty="0"/>
          </a:p>
        </p:txBody>
      </p:sp>
      <p:sp>
        <p:nvSpPr>
          <p:cNvPr id="44" name="Pat5Bg"/>
          <p:cNvSpPr/>
          <p:nvPr/>
        </p:nvSpPr>
        <p:spPr>
          <a:xfrm>
            <a:off x="4795920" y="4096512"/>
            <a:ext cx="4008960" cy="512064"/>
          </a:xfrm>
          <a:prstGeom prst="rect">
            <a:avLst/>
          </a:prstGeom>
          <a:solidFill>
            <a:srgbClr val="0D1B2A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45" name="Pat5Url"/>
          <p:cNvSpPr/>
          <p:nvPr/>
        </p:nvSpPr>
        <p:spPr>
          <a:xfrm>
            <a:off x="4887360" y="415137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/orders/list</a:t>
            </a:r>
            <a:endParaRPr lang="en-US" dirty="0"/>
          </a:p>
        </p:txBody>
      </p:sp>
      <p:sp>
        <p:nvSpPr>
          <p:cNvPr id="46" name="Pat5Desc"/>
          <p:cNvSpPr/>
          <p:nvPr/>
        </p:nvSpPr>
        <p:spPr>
          <a:xfrm>
            <a:off x="4887360" y="43965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내역 조회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데이터 바인딩 — 3가지 방식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구조와 데이터 전달 방식에 따라 어노테이션을 선택한다</a:t>
            </a:r>
            <a:endParaRPr lang="en-US" dirty="0"/>
          </a:p>
        </p:txBody>
      </p:sp>
      <p:sp>
        <p:nvSpPr>
          <p:cNvPr id="6" name="Row01Bg"/>
          <p:cNvSpPr/>
          <p:nvPr/>
        </p:nvSpPr>
        <p:spPr>
          <a:xfrm>
            <a:off x="365760" y="1170432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Row01Bar"/>
          <p:cNvSpPr/>
          <p:nvPr/>
        </p:nvSpPr>
        <p:spPr>
          <a:xfrm>
            <a:off x="365760" y="1170432"/>
            <a:ext cx="91440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8" name="Row01Num"/>
          <p:cNvSpPr/>
          <p:nvPr/>
        </p:nvSpPr>
        <p:spPr>
          <a:xfrm>
            <a:off x="566928" y="1207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9" name="Row01Title"/>
          <p:cNvSpPr/>
          <p:nvPr/>
        </p:nvSpPr>
        <p:spPr>
          <a:xfrm>
            <a:off x="1188720" y="1207008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@RequestParam</a:t>
            </a:r>
            <a:endParaRPr lang="en-US" dirty="0"/>
          </a:p>
        </p:txBody>
      </p:sp>
      <p:sp>
        <p:nvSpPr>
          <p:cNvPr id="10" name="Row01Desc"/>
          <p:cNvSpPr/>
          <p:nvPr/>
        </p:nvSpPr>
        <p:spPr>
          <a:xfrm>
            <a:off x="1188720" y="1481328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쿼리스트링 또는 form field 하나씩 받기</a:t>
            </a:r>
            <a:endParaRPr lang="en-US" dirty="0"/>
          </a:p>
        </p:txBody>
      </p:sp>
      <p:sp>
        <p:nvSpPr>
          <p:cNvPr id="11" name="Row01Ex1"/>
          <p:cNvSpPr/>
          <p:nvPr/>
        </p:nvSpPr>
        <p:spPr>
          <a:xfrm>
            <a:off x="1188720" y="1900432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예: /menus/search?keyword=버거  →  @RequestParam String keyword</a:t>
            </a:r>
            <a:endParaRPr lang="en-US" dirty="0"/>
          </a:p>
        </p:txBody>
      </p:sp>
      <p:sp>
        <p:nvSpPr>
          <p:cNvPr id="12" name="Row01Ex2"/>
          <p:cNvSpPr/>
          <p:nvPr/>
        </p:nvSpPr>
        <p:spPr>
          <a:xfrm>
            <a:off x="1188720" y="2150432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required=false, defaultValue 옵션으로 선택적 파라미터 처리</a:t>
            </a:r>
            <a:endParaRPr lang="en-US" dirty="0"/>
          </a:p>
        </p:txBody>
      </p:sp>
      <p:sp>
        <p:nvSpPr>
          <p:cNvPr id="13" name="Row02Bg"/>
          <p:cNvSpPr/>
          <p:nvPr/>
        </p:nvSpPr>
        <p:spPr>
          <a:xfrm>
            <a:off x="365760" y="2450432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Row02Bar"/>
          <p:cNvSpPr/>
          <p:nvPr/>
        </p:nvSpPr>
        <p:spPr>
          <a:xfrm>
            <a:off x="365760" y="2450432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Row02Num"/>
          <p:cNvSpPr/>
          <p:nvPr/>
        </p:nvSpPr>
        <p:spPr>
          <a:xfrm>
            <a:off x="566928" y="2487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6" name="Row02Title"/>
          <p:cNvSpPr/>
          <p:nvPr/>
        </p:nvSpPr>
        <p:spPr>
          <a:xfrm>
            <a:off x="1188720" y="2487008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@PathVariable</a:t>
            </a:r>
            <a:endParaRPr lang="en-US" dirty="0"/>
          </a:p>
        </p:txBody>
      </p:sp>
      <p:sp>
        <p:nvSpPr>
          <p:cNvPr id="17" name="Row02Desc"/>
          <p:cNvSpPr/>
          <p:nvPr/>
        </p:nvSpPr>
        <p:spPr>
          <a:xfrm>
            <a:off x="1188720" y="2761328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경로 일부를 변수로 받기 — 자원의 고유 식별자</a:t>
            </a:r>
            <a:endParaRPr lang="en-US" dirty="0"/>
          </a:p>
        </p:txBody>
      </p:sp>
      <p:sp>
        <p:nvSpPr>
          <p:cNvPr id="18" name="Row02Ex1"/>
          <p:cNvSpPr/>
          <p:nvPr/>
        </p:nvSpPr>
        <p:spPr>
          <a:xfrm>
            <a:off x="1188720" y="3180432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예: /menus/3  →  @PathVariable Long menuId</a:t>
            </a:r>
            <a:endParaRPr lang="en-US" dirty="0"/>
          </a:p>
        </p:txBody>
      </p:sp>
      <p:sp>
        <p:nvSpPr>
          <p:cNvPr id="19" name="Row02Ex2"/>
          <p:cNvSpPr/>
          <p:nvPr/>
        </p:nvSpPr>
        <p:spPr>
          <a:xfrm>
            <a:off x="1188720" y="3430432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템플릿 {menuId}와 메서드 파라미터 이름이 일치해야 한다</a:t>
            </a:r>
            <a:endParaRPr lang="en-US" dirty="0"/>
          </a:p>
        </p:txBody>
      </p:sp>
      <p:sp>
        <p:nvSpPr>
          <p:cNvPr id="20" name="Row03Bg"/>
          <p:cNvSpPr/>
          <p:nvPr/>
        </p:nvSpPr>
        <p:spPr>
          <a:xfrm>
            <a:off x="365760" y="3730432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Row03Bar"/>
          <p:cNvSpPr/>
          <p:nvPr/>
        </p:nvSpPr>
        <p:spPr>
          <a:xfrm>
            <a:off x="365760" y="3730432"/>
            <a:ext cx="91440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Row03Num"/>
          <p:cNvSpPr/>
          <p:nvPr/>
        </p:nvSpPr>
        <p:spPr>
          <a:xfrm>
            <a:off x="566928" y="3767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23" name="Row03Title"/>
          <p:cNvSpPr/>
          <p:nvPr/>
        </p:nvSpPr>
        <p:spPr>
          <a:xfrm>
            <a:off x="1188720" y="3767008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@ModelAttribute</a:t>
            </a:r>
            <a:endParaRPr lang="en-US" dirty="0"/>
          </a:p>
        </p:txBody>
      </p:sp>
      <p:sp>
        <p:nvSpPr>
          <p:cNvPr id="24" name="Row03Desc"/>
          <p:cNvSpPr/>
          <p:nvPr/>
        </p:nvSpPr>
        <p:spPr>
          <a:xfrm>
            <a:off x="1188720" y="4041328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form field를 DTO 객체에 한 번에 바인딩</a:t>
            </a:r>
            <a:endParaRPr lang="en-US" dirty="0"/>
          </a:p>
        </p:txBody>
      </p:sp>
      <p:sp>
        <p:nvSpPr>
          <p:cNvPr id="25" name="Row03Ex1"/>
          <p:cNvSpPr/>
          <p:nvPr/>
        </p:nvSpPr>
        <p:spPr>
          <a:xfrm>
            <a:off x="1188720" y="4460432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예: customerName=홍길동&amp;quantity=2  →  @ModelAttribute OrderForm form</a:t>
            </a:r>
            <a:endParaRPr lang="en-US" dirty="0"/>
          </a:p>
        </p:txBody>
      </p:sp>
      <p:sp>
        <p:nvSpPr>
          <p:cNvPr id="26" name="Row03Ex2"/>
          <p:cNvSpPr/>
          <p:nvPr/>
        </p:nvSpPr>
        <p:spPr>
          <a:xfrm>
            <a:off x="1188720" y="4710432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DTO에는 기본 생성자와 setter가 필요하다 (Spring이 setter 주입)</a:t>
            </a:r>
            <a:endParaRPr lang="en-US" dirty="0"/>
          </a:p>
        </p:txBody>
      </p:sp>
      <p:sp>
        <p:nvSpPr>
          <p:cNvPr id="27" name="FtrBg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FtrTxt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기준: 식별자 → @PathVariable | 선택 조건 → @RequestParam | 폼 전체 → @ModelAttribute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@RequestParam 상세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쿼리스트링 파라미터를 메서드 인자로 직접 받는다</a:t>
            </a:r>
            <a:endParaRPr lang="en-US" dirty="0"/>
          </a:p>
        </p:txBody>
      </p:sp>
      <p:sp>
        <p:nvSpPr>
          <p:cNvPr id="6" name="CodeBg"/>
          <p:cNvSpPr/>
          <p:nvPr/>
        </p:nvSpPr>
        <p:spPr>
          <a:xfrm>
            <a:off x="247680" y="1170432"/>
            <a:ext cx="420624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odeTxt"/>
          <p:cNvSpPr/>
          <p:nvPr/>
        </p:nvSpPr>
        <p:spPr>
          <a:xfrm>
            <a:off x="339120" y="1261872"/>
            <a:ext cx="402336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@GetMapping("/menus/search")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search(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@RequestParam(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required = false,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defaultValue = "") String keyword,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@RequestParam(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required = false,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defaultValue = "all") String category,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Model model)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model.addAttribute("keyword", keyword);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model.addAttribute("category", category);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"menu/list";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8" name="RPanel"/>
          <p:cNvSpPr/>
          <p:nvPr/>
        </p:nvSpPr>
        <p:spPr>
          <a:xfrm>
            <a:off x="4704480" y="1170432"/>
            <a:ext cx="419184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RPanelHdr"/>
          <p:cNvSpPr/>
          <p:nvPr/>
        </p:nvSpPr>
        <p:spPr>
          <a:xfrm>
            <a:off x="4704480" y="1170432"/>
            <a:ext cx="4191840" cy="1460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0" name="RPanelHdrTxt"/>
          <p:cNvSpPr/>
          <p:nvPr/>
        </p:nvSpPr>
        <p:spPr>
          <a:xfrm>
            <a:off x="4795920" y="1207008"/>
            <a:ext cx="40089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속성</a:t>
            </a:r>
            <a:endParaRPr lang="en-US" dirty="0"/>
          </a:p>
        </p:txBody>
      </p:sp>
      <p:sp>
        <p:nvSpPr>
          <p:cNvPr id="11" name="Pt0Bg"/>
          <p:cNvSpPr/>
          <p:nvPr/>
        </p:nvSpPr>
        <p:spPr>
          <a:xfrm>
            <a:off x="4795920" y="1353312"/>
            <a:ext cx="4008960" cy="7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2" name="Pt0Key"/>
          <p:cNvSpPr/>
          <p:nvPr/>
        </p:nvSpPr>
        <p:spPr>
          <a:xfrm>
            <a:off x="4887360" y="140817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dirty="0"/>
          </a:p>
        </p:txBody>
      </p:sp>
      <p:sp>
        <p:nvSpPr>
          <p:cNvPr id="13" name="Pt0Desc1"/>
          <p:cNvSpPr/>
          <p:nvPr/>
        </p:nvSpPr>
        <p:spPr>
          <a:xfrm>
            <a:off x="4887360" y="165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기본값 true — 파라미터 없으면 400 오류</a:t>
            </a:r>
            <a:endParaRPr lang="en-US" dirty="0"/>
          </a:p>
        </p:txBody>
      </p:sp>
      <p:sp>
        <p:nvSpPr>
          <p:cNvPr id="14" name="Pt0Desc2"/>
          <p:cNvSpPr/>
          <p:nvPr/>
        </p:nvSpPr>
        <p:spPr>
          <a:xfrm>
            <a:off x="4887360" y="185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false로 설정하면 파라미터 없어도 null</a:t>
            </a:r>
            <a:endParaRPr lang="en-US" dirty="0"/>
          </a:p>
        </p:txBody>
      </p:sp>
      <p:sp>
        <p:nvSpPr>
          <p:cNvPr id="15" name="Pt1Bg"/>
          <p:cNvSpPr/>
          <p:nvPr/>
        </p:nvSpPr>
        <p:spPr>
          <a:xfrm>
            <a:off x="4795920" y="2193312"/>
            <a:ext cx="4008960" cy="7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Pt1Key"/>
          <p:cNvSpPr/>
          <p:nvPr/>
        </p:nvSpPr>
        <p:spPr>
          <a:xfrm>
            <a:off x="4887360" y="224817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defaultValue</a:t>
            </a:r>
            <a:endParaRPr lang="en-US" dirty="0"/>
          </a:p>
        </p:txBody>
      </p:sp>
      <p:sp>
        <p:nvSpPr>
          <p:cNvPr id="17" name="Pt1Desc1"/>
          <p:cNvSpPr/>
          <p:nvPr/>
        </p:nvSpPr>
        <p:spPr>
          <a:xfrm>
            <a:off x="4887360" y="249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없을 때 사용할 기본값</a:t>
            </a:r>
            <a:endParaRPr lang="en-US" dirty="0"/>
          </a:p>
        </p:txBody>
      </p:sp>
      <p:sp>
        <p:nvSpPr>
          <p:cNvPr id="18" name="Pt1Desc2"/>
          <p:cNvSpPr/>
          <p:nvPr/>
        </p:nvSpPr>
        <p:spPr>
          <a:xfrm>
            <a:off x="4887360" y="269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required=false와 함께 쓰면 NPE 방지</a:t>
            </a:r>
            <a:endParaRPr lang="en-US" dirty="0"/>
          </a:p>
        </p:txBody>
      </p:sp>
      <p:sp>
        <p:nvSpPr>
          <p:cNvPr id="19" name="Pt2Bg"/>
          <p:cNvSpPr/>
          <p:nvPr/>
        </p:nvSpPr>
        <p:spPr>
          <a:xfrm>
            <a:off x="4795920" y="3033312"/>
            <a:ext cx="4008960" cy="7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Pt2Key"/>
          <p:cNvSpPr/>
          <p:nvPr/>
        </p:nvSpPr>
        <p:spPr>
          <a:xfrm>
            <a:off x="4887360" y="308817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타입 변환</a:t>
            </a:r>
            <a:endParaRPr lang="en-US" dirty="0"/>
          </a:p>
        </p:txBody>
      </p:sp>
      <p:sp>
        <p:nvSpPr>
          <p:cNvPr id="21" name="Pt2Desc1"/>
          <p:cNvSpPr/>
          <p:nvPr/>
        </p:nvSpPr>
        <p:spPr>
          <a:xfrm>
            <a:off x="4887360" y="333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int/Long 자동 변환</a:t>
            </a:r>
            <a:endParaRPr lang="en-US" dirty="0"/>
          </a:p>
        </p:txBody>
      </p:sp>
      <p:sp>
        <p:nvSpPr>
          <p:cNvPr id="22" name="Pt2Desc2"/>
          <p:cNvSpPr/>
          <p:nvPr/>
        </p:nvSpPr>
        <p:spPr>
          <a:xfrm>
            <a:off x="4887360" y="353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불가 값 입력 시 400 오류 발생</a:t>
            </a:r>
            <a:endParaRPr lang="en-US" dirty="0"/>
          </a:p>
        </p:txBody>
      </p:sp>
      <p:sp>
        <p:nvSpPr>
          <p:cNvPr id="23" name="Pt3Bg"/>
          <p:cNvSpPr/>
          <p:nvPr/>
        </p:nvSpPr>
        <p:spPr>
          <a:xfrm>
            <a:off x="4795920" y="3873312"/>
            <a:ext cx="4008960" cy="7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Pt3Key"/>
          <p:cNvSpPr/>
          <p:nvPr/>
        </p:nvSpPr>
        <p:spPr>
          <a:xfrm>
            <a:off x="4887360" y="392817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속성</a:t>
            </a:r>
            <a:endParaRPr lang="en-US" dirty="0"/>
          </a:p>
        </p:txBody>
      </p:sp>
      <p:sp>
        <p:nvSpPr>
          <p:cNvPr id="25" name="Pt3Desc1"/>
          <p:cNvSpPr/>
          <p:nvPr/>
        </p:nvSpPr>
        <p:spPr>
          <a:xfrm>
            <a:off x="4887360" y="417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@RequestParam("q") String keyword</a:t>
            </a:r>
            <a:endParaRPr lang="en-US" dirty="0"/>
          </a:p>
        </p:txBody>
      </p:sp>
      <p:sp>
        <p:nvSpPr>
          <p:cNvPr id="26" name="Pt3Desc2"/>
          <p:cNvSpPr/>
          <p:nvPr/>
        </p:nvSpPr>
        <p:spPr>
          <a:xfrm>
            <a:off x="4887360" y="437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이름과 변수명이 다를 때 사용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@PathVariable 상세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경로 일부를 변수로 추출 — 자원의 고유 식별자에 사용한다</a:t>
            </a:r>
            <a:endParaRPr lang="en-US" dirty="0"/>
          </a:p>
        </p:txBody>
      </p:sp>
      <p:sp>
        <p:nvSpPr>
          <p:cNvPr id="6" name="CodeBg"/>
          <p:cNvSpPr/>
          <p:nvPr/>
        </p:nvSpPr>
        <p:spPr>
          <a:xfrm>
            <a:off x="247680" y="1170432"/>
            <a:ext cx="420624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odeTxt"/>
          <p:cNvSpPr/>
          <p:nvPr/>
        </p:nvSpPr>
        <p:spPr>
          <a:xfrm>
            <a:off x="339120" y="1261872"/>
            <a:ext cx="402336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@RequestMapping("/menus")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MenuController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@GetMapping("/{menuId}")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String detail(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@PathVariable Long menuId,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Model model)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MenuItem menu = findMenu(menuId);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model.addAttribute("menu", menu);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"menu/detail";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8" name="RPanel"/>
          <p:cNvSpPr/>
          <p:nvPr/>
        </p:nvSpPr>
        <p:spPr>
          <a:xfrm>
            <a:off x="4704480" y="1170432"/>
            <a:ext cx="419184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RPanelHdr"/>
          <p:cNvSpPr/>
          <p:nvPr/>
        </p:nvSpPr>
        <p:spPr>
          <a:xfrm>
            <a:off x="4704480" y="1170432"/>
            <a:ext cx="4191840" cy="14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RPanelHdrTxt"/>
          <p:cNvSpPr/>
          <p:nvPr/>
        </p:nvSpPr>
        <p:spPr>
          <a:xfrm>
            <a:off x="4795920" y="1207008"/>
            <a:ext cx="40089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@PathVariable vs @RequestParam?</a:t>
            </a:r>
            <a:endParaRPr lang="en-US" dirty="0"/>
          </a:p>
        </p:txBody>
      </p:sp>
      <p:sp>
        <p:nvSpPr>
          <p:cNvPr id="11" name="Cmp0Bg"/>
          <p:cNvSpPr/>
          <p:nvPr/>
        </p:nvSpPr>
        <p:spPr>
          <a:xfrm>
            <a:off x="4795920" y="1353312"/>
            <a:ext cx="4008960" cy="7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12" name="Cmp0Url"/>
          <p:cNvSpPr/>
          <p:nvPr/>
        </p:nvSpPr>
        <p:spPr>
          <a:xfrm>
            <a:off x="4887360" y="1408176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/menus/search?keyword=버거</a:t>
            </a:r>
            <a:endParaRPr lang="en-US" dirty="0"/>
          </a:p>
        </p:txBody>
      </p:sp>
      <p:sp>
        <p:nvSpPr>
          <p:cNvPr id="13" name="Cmp0Ann"/>
          <p:cNvSpPr/>
          <p:nvPr/>
        </p:nvSpPr>
        <p:spPr>
          <a:xfrm>
            <a:off x="4887360" y="164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endParaRPr lang="en-US" dirty="0"/>
          </a:p>
        </p:txBody>
      </p:sp>
      <p:sp>
        <p:nvSpPr>
          <p:cNvPr id="14" name="Cmp0Desc"/>
          <p:cNvSpPr/>
          <p:nvPr/>
        </p:nvSpPr>
        <p:spPr>
          <a:xfrm>
            <a:off x="4887360" y="1873312"/>
            <a:ext cx="38260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선택적 검색 조건</a:t>
            </a:r>
            <a:endParaRPr lang="en-US" dirty="0"/>
          </a:p>
        </p:txBody>
      </p:sp>
      <p:sp>
        <p:nvSpPr>
          <p:cNvPr id="15" name="Cmp1Bg"/>
          <p:cNvSpPr/>
          <p:nvPr/>
        </p:nvSpPr>
        <p:spPr>
          <a:xfrm>
            <a:off x="4795920" y="2193312"/>
            <a:ext cx="4008960" cy="7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6" name="Cmp1Url"/>
          <p:cNvSpPr/>
          <p:nvPr/>
        </p:nvSpPr>
        <p:spPr>
          <a:xfrm>
            <a:off x="4887360" y="2248176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/menus/3</a:t>
            </a:r>
            <a:endParaRPr lang="en-US" dirty="0"/>
          </a:p>
        </p:txBody>
      </p:sp>
      <p:sp>
        <p:nvSpPr>
          <p:cNvPr id="17" name="Cmp1Ann"/>
          <p:cNvSpPr/>
          <p:nvPr/>
        </p:nvSpPr>
        <p:spPr>
          <a:xfrm>
            <a:off x="4887360" y="248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endParaRPr lang="en-US" dirty="0"/>
          </a:p>
        </p:txBody>
      </p:sp>
      <p:sp>
        <p:nvSpPr>
          <p:cNvPr id="18" name="Cmp1Desc"/>
          <p:cNvSpPr/>
          <p:nvPr/>
        </p:nvSpPr>
        <p:spPr>
          <a:xfrm>
            <a:off x="4887360" y="2713312"/>
            <a:ext cx="38260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자원의 고유 식별자</a:t>
            </a:r>
            <a:endParaRPr lang="en-US" dirty="0"/>
          </a:p>
        </p:txBody>
      </p:sp>
      <p:sp>
        <p:nvSpPr>
          <p:cNvPr id="19" name="Cmp2Bg"/>
          <p:cNvSpPr/>
          <p:nvPr/>
        </p:nvSpPr>
        <p:spPr>
          <a:xfrm>
            <a:off x="4795920" y="3033312"/>
            <a:ext cx="4008960" cy="7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0" name="Cmp2Url"/>
          <p:cNvSpPr/>
          <p:nvPr/>
        </p:nvSpPr>
        <p:spPr>
          <a:xfrm>
            <a:off x="4887360" y="3088176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/menus/3/reviews</a:t>
            </a:r>
            <a:endParaRPr lang="en-US" dirty="0"/>
          </a:p>
        </p:txBody>
      </p:sp>
      <p:sp>
        <p:nvSpPr>
          <p:cNvPr id="21" name="Cmp2Ann"/>
          <p:cNvSpPr/>
          <p:nvPr/>
        </p:nvSpPr>
        <p:spPr>
          <a:xfrm>
            <a:off x="4887360" y="332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endParaRPr lang="en-US" dirty="0"/>
          </a:p>
        </p:txBody>
      </p:sp>
      <p:sp>
        <p:nvSpPr>
          <p:cNvPr id="22" name="Cmp2Desc"/>
          <p:cNvSpPr/>
          <p:nvPr/>
        </p:nvSpPr>
        <p:spPr>
          <a:xfrm>
            <a:off x="4887360" y="3553312"/>
            <a:ext cx="38260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중첩 자원 접근</a:t>
            </a:r>
            <a:endParaRPr lang="en-US" dirty="0"/>
          </a:p>
        </p:txBody>
      </p:sp>
      <p:sp>
        <p:nvSpPr>
          <p:cNvPr id="23" name="Cmp3Bg"/>
          <p:cNvSpPr/>
          <p:nvPr/>
        </p:nvSpPr>
        <p:spPr>
          <a:xfrm>
            <a:off x="4795920" y="3873312"/>
            <a:ext cx="4008960" cy="7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24" name="Cmp3Url"/>
          <p:cNvSpPr/>
          <p:nvPr/>
        </p:nvSpPr>
        <p:spPr>
          <a:xfrm>
            <a:off x="4887360" y="3928176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customerName=홍길동&amp;qty=2</a:t>
            </a:r>
            <a:endParaRPr lang="en-US" dirty="0"/>
          </a:p>
        </p:txBody>
      </p:sp>
      <p:sp>
        <p:nvSpPr>
          <p:cNvPr id="25" name="Cmp3Ann"/>
          <p:cNvSpPr/>
          <p:nvPr/>
        </p:nvSpPr>
        <p:spPr>
          <a:xfrm>
            <a:off x="4887360" y="416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@ModelAttribute</a:t>
            </a:r>
            <a:endParaRPr lang="en-US" dirty="0"/>
          </a:p>
        </p:txBody>
      </p:sp>
      <p:sp>
        <p:nvSpPr>
          <p:cNvPr id="26" name="Cmp3Desc"/>
          <p:cNvSpPr/>
          <p:nvPr/>
        </p:nvSpPr>
        <p:spPr>
          <a:xfrm>
            <a:off x="4887360" y="4393312"/>
            <a:ext cx="38260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여러 필드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@ModelAttribute 상세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폼 필드를 DTO 객체에 한 번에 바인딩 — 기본 생성자 + setter 필요</a:t>
            </a:r>
            <a:endParaRPr lang="en-US" dirty="0"/>
          </a:p>
        </p:txBody>
      </p:sp>
      <p:sp>
        <p:nvSpPr>
          <p:cNvPr id="6" name="CodeBg"/>
          <p:cNvSpPr/>
          <p:nvPr/>
        </p:nvSpPr>
        <p:spPr>
          <a:xfrm>
            <a:off x="247680" y="1170432"/>
            <a:ext cx="420624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odeTxt"/>
          <p:cNvSpPr/>
          <p:nvPr/>
        </p:nvSpPr>
        <p:spPr>
          <a:xfrm>
            <a:off x="339120" y="1261872"/>
            <a:ext cx="402336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DTO 클래스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OrderForm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private String menuName;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private int quantity;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private String customerName;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기본 생성자 필수!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OrderForm() {}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setter 필수!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void setMenuName(String n) { ... 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void setQuantity(int q) { ... 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void setCustomerName(String c) { ... 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8" name="CodeBg"/>
          <p:cNvSpPr/>
          <p:nvPr/>
        </p:nvSpPr>
        <p:spPr>
          <a:xfrm>
            <a:off x="4704480" y="1170432"/>
            <a:ext cx="4191840" cy="1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CodeTxt"/>
          <p:cNvSpPr/>
          <p:nvPr/>
        </p:nvSpPr>
        <p:spPr>
          <a:xfrm>
            <a:off x="4795920" y="1261872"/>
            <a:ext cx="4008960" cy="1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@PostMapping("/orders")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order(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@ModelAttribute OrderForm form,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Model model)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form.getMenuName() 이미 세팅됨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form.getQuantity() 이미 세팅됨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model.addAttribute("order", form);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"order/result";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10" name="ExpPanel"/>
          <p:cNvSpPr/>
          <p:nvPr/>
        </p:nvSpPr>
        <p:spPr>
          <a:xfrm>
            <a:off x="4704480" y="2907008"/>
            <a:ext cx="4191840" cy="1963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ExpPanelHdr"/>
          <p:cNvSpPr/>
          <p:nvPr/>
        </p:nvSpPr>
        <p:spPr>
          <a:xfrm>
            <a:off x="4704480" y="2907008"/>
            <a:ext cx="4191840" cy="1460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ExpPanelHdrTxt"/>
          <p:cNvSpPr/>
          <p:nvPr/>
        </p:nvSpPr>
        <p:spPr>
          <a:xfrm>
            <a:off x="4795920" y="2943584"/>
            <a:ext cx="40089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바인딩 원리</a:t>
            </a:r>
            <a:endParaRPr lang="en-US" dirty="0"/>
          </a:p>
        </p:txBody>
      </p:sp>
      <p:sp>
        <p:nvSpPr>
          <p:cNvPr id="13" name="Exp0Title"/>
          <p:cNvSpPr/>
          <p:nvPr/>
        </p:nvSpPr>
        <p:spPr>
          <a:xfrm>
            <a:off x="4887360" y="3089888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빈 객체 생성</a:t>
            </a:r>
            <a:endParaRPr lang="en-US" dirty="0"/>
          </a:p>
        </p:txBody>
      </p:sp>
      <p:sp>
        <p:nvSpPr>
          <p:cNvPr id="14" name="Exp0Desc"/>
          <p:cNvSpPr/>
          <p:nvPr/>
        </p:nvSpPr>
        <p:spPr>
          <a:xfrm>
            <a:off x="4887360" y="3329888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Spring이 기본 생성자로 OrderForm 객체 생성</a:t>
            </a:r>
            <a:endParaRPr lang="en-US" dirty="0"/>
          </a:p>
        </p:txBody>
      </p:sp>
      <p:sp>
        <p:nvSpPr>
          <p:cNvPr id="15" name="Exp1Title"/>
          <p:cNvSpPr/>
          <p:nvPr/>
        </p:nvSpPr>
        <p:spPr>
          <a:xfrm>
            <a:off x="4887360" y="3569888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setter 주입</a:t>
            </a:r>
            <a:endParaRPr lang="en-US" dirty="0"/>
          </a:p>
        </p:txBody>
      </p:sp>
      <p:sp>
        <p:nvSpPr>
          <p:cNvPr id="16" name="Exp1Desc"/>
          <p:cNvSpPr/>
          <p:nvPr/>
        </p:nvSpPr>
        <p:spPr>
          <a:xfrm>
            <a:off x="4887360" y="3809888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name과 같은 이름의 setter 메서드 호출</a:t>
            </a:r>
            <a:endParaRPr lang="en-US" dirty="0"/>
          </a:p>
        </p:txBody>
      </p:sp>
      <p:sp>
        <p:nvSpPr>
          <p:cNvPr id="17" name="Exp2Title"/>
          <p:cNvSpPr/>
          <p:nvPr/>
        </p:nvSpPr>
        <p:spPr>
          <a:xfrm>
            <a:off x="4887360" y="4049888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타입 변환</a:t>
            </a:r>
            <a:endParaRPr lang="en-US" dirty="0"/>
          </a:p>
        </p:txBody>
      </p:sp>
      <p:sp>
        <p:nvSpPr>
          <p:cNvPr id="18" name="Exp2Desc"/>
          <p:cNvSpPr/>
          <p:nvPr/>
        </p:nvSpPr>
        <p:spPr>
          <a:xfrm>
            <a:off x="4887360" y="4289888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int 자동 변환 (quantity 등)</a:t>
            </a:r>
            <a:endParaRPr lang="en-US" dirty="0"/>
          </a:p>
        </p:txBody>
      </p:sp>
      <p:sp>
        <p:nvSpPr>
          <p:cNvPr id="19" name="Exp3Title"/>
          <p:cNvSpPr/>
          <p:nvPr/>
        </p:nvSpPr>
        <p:spPr>
          <a:xfrm>
            <a:off x="4887360" y="4529888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등록</a:t>
            </a:r>
            <a:endParaRPr lang="en-US" dirty="0"/>
          </a:p>
        </p:txBody>
      </p:sp>
      <p:sp>
        <p:nvSpPr>
          <p:cNvPr id="20" name="Exp3Desc"/>
          <p:cNvSpPr/>
          <p:nvPr/>
        </p:nvSpPr>
        <p:spPr>
          <a:xfrm>
            <a:off x="4887360" y="4769888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@ModelAttribute는 Model에 자동 추가됨</a:t>
            </a:r>
            <a:endParaRPr lang="en-US" dirty="0"/>
          </a:p>
        </p:txBody>
      </p:sp>
      <p:sp>
        <p:nvSpPr>
          <p:cNvPr id="21" name="FtrBg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FtrTxt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DTO에 기본 생성자가 없으면 500 오류 | setter 이름이 필드명과 달라도 바인딩 실패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 구조와 데이터 바인딩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속성 = DTO 필드명  |  method=post → 요청 본문 전송</a:t>
            </a:r>
            <a:endParaRPr lang="en-US" dirty="0"/>
          </a:p>
        </p:txBody>
      </p:sp>
      <p:sp>
        <p:nvSpPr>
          <p:cNvPr id="6" name="CodeBg"/>
          <p:cNvSpPr/>
          <p:nvPr/>
        </p:nvSpPr>
        <p:spPr>
          <a:xfrm>
            <a:off x="247680" y="1170432"/>
            <a:ext cx="420624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odeTxt"/>
          <p:cNvSpPr/>
          <p:nvPr/>
        </p:nvSpPr>
        <p:spPr>
          <a:xfrm>
            <a:off x="339120" y="1261872"/>
            <a:ext cx="402336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action="/spring-mvc-form/orders" method="post"&gt;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&lt;!-- name 속성이 DTO 필드명과 일치해야 함 --&gt;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&lt;label&gt;고객 이름:&lt;/label&gt;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&lt;input type="text" name="customerName"&gt;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&lt;label&gt;메뉴 선택:&lt;/label&gt;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&lt;select name="menuName"&gt;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&lt;option value="불고기버거"&gt;불고기버거&lt;/option&gt;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&lt;option value="치킨버거"&gt;치킨버거&lt;/option&gt;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&lt;/select&gt;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&lt;label&gt;수량:&lt;/label&gt;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&lt;input type="number" name="quantity" value="1"&gt;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&lt;button type="submit"&gt;주문하기&lt;/button&gt;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dirty="0"/>
          </a:p>
        </p:txBody>
      </p:sp>
      <p:sp>
        <p:nvSpPr>
          <p:cNvPr id="8" name="Pt0Bg"/>
          <p:cNvSpPr/>
          <p:nvPr/>
        </p:nvSpPr>
        <p:spPr>
          <a:xfrm>
            <a:off x="4795920" y="1261872"/>
            <a:ext cx="400896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Pt0Bar"/>
          <p:cNvSpPr/>
          <p:nvPr/>
        </p:nvSpPr>
        <p:spPr>
          <a:xfrm>
            <a:off x="4795920" y="1261872"/>
            <a:ext cx="91440" cy="8000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0" name="Pt0Key"/>
          <p:cNvSpPr/>
          <p:nvPr/>
        </p:nvSpPr>
        <p:spPr>
          <a:xfrm>
            <a:off x="4954480" y="1315432"/>
            <a:ext cx="379184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속성 일치</a:t>
            </a:r>
            <a:endParaRPr lang="en-US" dirty="0"/>
          </a:p>
        </p:txBody>
      </p:sp>
      <p:sp>
        <p:nvSpPr>
          <p:cNvPr id="11" name="Pt0D1"/>
          <p:cNvSpPr/>
          <p:nvPr/>
        </p:nvSpPr>
        <p:spPr>
          <a:xfrm>
            <a:off x="4954480" y="1560432"/>
            <a:ext cx="37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input의 name과 DTO setter 이름이 같아야 자동 바인딩</a:t>
            </a:r>
            <a:endParaRPr lang="en-US" dirty="0"/>
          </a:p>
        </p:txBody>
      </p:sp>
      <p:sp>
        <p:nvSpPr>
          <p:cNvPr id="12" name="Pt0D2"/>
          <p:cNvSpPr/>
          <p:nvPr/>
        </p:nvSpPr>
        <p:spPr>
          <a:xfrm>
            <a:off x="4954480" y="1770432"/>
            <a:ext cx="37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name="customerName" ↔ setCustomerName()</a:t>
            </a:r>
            <a:endParaRPr lang="en-US" dirty="0"/>
          </a:p>
        </p:txBody>
      </p:sp>
      <p:sp>
        <p:nvSpPr>
          <p:cNvPr id="13" name="Pt1Bg"/>
          <p:cNvSpPr/>
          <p:nvPr/>
        </p:nvSpPr>
        <p:spPr>
          <a:xfrm>
            <a:off x="4795920" y="2186872"/>
            <a:ext cx="400896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Pt1Bar"/>
          <p:cNvSpPr/>
          <p:nvPr/>
        </p:nvSpPr>
        <p:spPr>
          <a:xfrm>
            <a:off x="4795920" y="2186872"/>
            <a:ext cx="91440" cy="800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Pt1Key"/>
          <p:cNvSpPr/>
          <p:nvPr/>
        </p:nvSpPr>
        <p:spPr>
          <a:xfrm>
            <a:off x="4954480" y="2240432"/>
            <a:ext cx="379184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method="post"</a:t>
            </a:r>
            <a:endParaRPr lang="en-US" dirty="0"/>
          </a:p>
        </p:txBody>
      </p:sp>
      <p:sp>
        <p:nvSpPr>
          <p:cNvPr id="16" name="Pt1D1"/>
          <p:cNvSpPr/>
          <p:nvPr/>
        </p:nvSpPr>
        <p:spPr>
          <a:xfrm>
            <a:off x="4954480" y="2485432"/>
            <a:ext cx="37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요청 본문(body)에 담아 전송</a:t>
            </a:r>
            <a:endParaRPr lang="en-US" dirty="0"/>
          </a:p>
        </p:txBody>
      </p:sp>
      <p:sp>
        <p:nvSpPr>
          <p:cNvPr id="17" name="Pt1D2"/>
          <p:cNvSpPr/>
          <p:nvPr/>
        </p:nvSpPr>
        <p:spPr>
          <a:xfrm>
            <a:off x="4954480" y="2695432"/>
            <a:ext cx="37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GET은 URL 노출, POST는 body — 민감한 데이터는 POST</a:t>
            </a:r>
            <a:endParaRPr lang="en-US" dirty="0"/>
          </a:p>
        </p:txBody>
      </p:sp>
      <p:sp>
        <p:nvSpPr>
          <p:cNvPr id="18" name="Pt2Bg"/>
          <p:cNvSpPr/>
          <p:nvPr/>
        </p:nvSpPr>
        <p:spPr>
          <a:xfrm>
            <a:off x="4795920" y="3111872"/>
            <a:ext cx="400896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Pt2Bar"/>
          <p:cNvSpPr/>
          <p:nvPr/>
        </p:nvSpPr>
        <p:spPr>
          <a:xfrm>
            <a:off x="4795920" y="3111872"/>
            <a:ext cx="91440" cy="8000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Pt2Key"/>
          <p:cNvSpPr/>
          <p:nvPr/>
        </p:nvSpPr>
        <p:spPr>
          <a:xfrm>
            <a:off x="4954480" y="3165432"/>
            <a:ext cx="379184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파일 위치</a:t>
            </a:r>
            <a:endParaRPr lang="en-US" dirty="0"/>
          </a:p>
        </p:txBody>
      </p:sp>
      <p:sp>
        <p:nvSpPr>
          <p:cNvPr id="21" name="Pt2D1"/>
          <p:cNvSpPr/>
          <p:nvPr/>
        </p:nvSpPr>
        <p:spPr>
          <a:xfrm>
            <a:off x="4954480" y="3410432"/>
            <a:ext cx="37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/WEB-INF/views/ 아래에 두어 직접 URL 접근 차단</a:t>
            </a:r>
            <a:endParaRPr lang="en-US" dirty="0"/>
          </a:p>
        </p:txBody>
      </p:sp>
      <p:sp>
        <p:nvSpPr>
          <p:cNvPr id="22" name="Pt2D2"/>
          <p:cNvSpPr/>
          <p:nvPr/>
        </p:nvSpPr>
        <p:spPr>
          <a:xfrm>
            <a:off x="4954480" y="3620432"/>
            <a:ext cx="37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컨트롤러를 거쳐야만 JSP에 접근 가능</a:t>
            </a:r>
            <a:endParaRPr lang="en-US" dirty="0"/>
          </a:p>
        </p:txBody>
      </p:sp>
      <p:sp>
        <p:nvSpPr>
          <p:cNvPr id="23" name="Pt3Bg"/>
          <p:cNvSpPr/>
          <p:nvPr/>
        </p:nvSpPr>
        <p:spPr>
          <a:xfrm>
            <a:off x="4795920" y="4036872"/>
            <a:ext cx="400896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Pt3Bar"/>
          <p:cNvSpPr/>
          <p:nvPr/>
        </p:nvSpPr>
        <p:spPr>
          <a:xfrm>
            <a:off x="4795920" y="4036872"/>
            <a:ext cx="91440" cy="8000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5" name="Pt3Key"/>
          <p:cNvSpPr/>
          <p:nvPr/>
        </p:nvSpPr>
        <p:spPr>
          <a:xfrm>
            <a:off x="4954480" y="4090432"/>
            <a:ext cx="379184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경로</a:t>
            </a:r>
            <a:endParaRPr lang="en-US" dirty="0"/>
          </a:p>
        </p:txBody>
      </p:sp>
      <p:sp>
        <p:nvSpPr>
          <p:cNvPr id="26" name="Pt3D1"/>
          <p:cNvSpPr/>
          <p:nvPr/>
        </p:nvSpPr>
        <p:spPr>
          <a:xfrm>
            <a:off x="4954480" y="4335432"/>
            <a:ext cx="37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경로 포함 — /앱이름/경로</a:t>
            </a:r>
            <a:endParaRPr lang="en-US" dirty="0"/>
          </a:p>
        </p:txBody>
      </p:sp>
      <p:sp>
        <p:nvSpPr>
          <p:cNvPr id="27" name="Pt3D2"/>
          <p:cNvSpPr/>
          <p:nvPr/>
        </p:nvSpPr>
        <p:spPr>
          <a:xfrm>
            <a:off x="4954480" y="4545432"/>
            <a:ext cx="379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JSTL &lt;c:url value="/orders"/&gt; 사용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깨짐과 CharacterEncodingFilter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요청의 한글 데이터 깨짐 — 필터로 한 번에 해결한다</a:t>
            </a:r>
            <a:endParaRPr lang="en-US" dirty="0"/>
          </a:p>
        </p:txBody>
      </p:sp>
      <p:sp>
        <p:nvSpPr>
          <p:cNvPr id="6" name="BeforeHdr"/>
          <p:cNvSpPr/>
          <p:nvPr/>
        </p:nvSpPr>
        <p:spPr>
          <a:xfrm>
            <a:off x="247680" y="1170432"/>
            <a:ext cx="4206240" cy="1460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BeforeHdrTxt"/>
          <p:cNvSpPr/>
          <p:nvPr/>
        </p:nvSpPr>
        <p:spPr>
          <a:xfrm>
            <a:off x="339120" y="1207008"/>
            <a:ext cx="40233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없을 때 — 한글 깨짐 발생</a:t>
            </a:r>
            <a:endParaRPr lang="en-US" dirty="0"/>
          </a:p>
        </p:txBody>
      </p:sp>
      <p:sp>
        <p:nvSpPr>
          <p:cNvPr id="8" name="CodeBg"/>
          <p:cNvSpPr/>
          <p:nvPr/>
        </p:nvSpPr>
        <p:spPr>
          <a:xfrm>
            <a:off x="247680" y="1316432"/>
            <a:ext cx="4206240" cy="10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CodeTxt"/>
          <p:cNvSpPr/>
          <p:nvPr/>
        </p:nvSpPr>
        <p:spPr>
          <a:xfrm>
            <a:off x="339120" y="1407872"/>
            <a:ext cx="4023360" cy="8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/orders 요청 후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customerName = ???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(깨진 문자열)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원인: Tomcat 기본 인코딩 ISO-8859-1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한글이 깨져서 들어옴</a:t>
            </a:r>
            <a:endParaRPr lang="en-US" dirty="0"/>
          </a:p>
        </p:txBody>
      </p:sp>
      <p:sp>
        <p:nvSpPr>
          <p:cNvPr id="10" name="AfterHdr"/>
          <p:cNvSpPr/>
          <p:nvPr/>
        </p:nvSpPr>
        <p:spPr>
          <a:xfrm>
            <a:off x="247680" y="2370432"/>
            <a:ext cx="4206240" cy="1460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AfterHdrTxt"/>
          <p:cNvSpPr/>
          <p:nvPr/>
        </p:nvSpPr>
        <p:spPr>
          <a:xfrm>
            <a:off x="339120" y="2407008"/>
            <a:ext cx="40233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CharacterEncodingFilter 설정 후 — 해결</a:t>
            </a:r>
            <a:endParaRPr lang="en-US" dirty="0"/>
          </a:p>
        </p:txBody>
      </p:sp>
      <p:sp>
        <p:nvSpPr>
          <p:cNvPr id="12" name="CodeBg"/>
          <p:cNvSpPr/>
          <p:nvPr/>
        </p:nvSpPr>
        <p:spPr>
          <a:xfrm>
            <a:off x="247680" y="2570432"/>
            <a:ext cx="4206240" cy="23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CodeTxt"/>
          <p:cNvSpPr/>
          <p:nvPr/>
        </p:nvSpPr>
        <p:spPr>
          <a:xfrm>
            <a:off x="339120" y="2661872"/>
            <a:ext cx="4023360" cy="21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web.xml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&lt;filter&gt;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&lt;filter-name&gt;encodingFilter&lt;/filter-name&gt;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&lt;filter-class&gt;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org.springframework.web.filter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.CharacterEncodingFilter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&lt;/filter-class&gt;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&lt;init-param&gt;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&lt;param-name&gt;encoding&lt;/param-name&gt;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&lt;param-value&gt;UTF-8&lt;/param-value&gt;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&lt;/init-param&gt;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&lt;init-param&gt;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&lt;param-name&gt;forceEncoding&lt;/param-name&gt;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&lt;param-value&gt;true&lt;/param-value&gt;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&lt;/init-param&gt;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&lt;/filter&gt;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&lt;filter-mapping&gt;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&lt;filter-name&gt;encodingFilter&lt;/filter-name&gt;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&lt;url-pattern&gt;/*&lt;/url-pattern&gt;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&lt;/filter-mapping&gt;</a:t>
            </a:r>
            <a:endParaRPr lang="en-US" dirty="0"/>
          </a:p>
        </p:txBody>
      </p:sp>
      <p:sp>
        <p:nvSpPr>
          <p:cNvPr id="14" name="RPanel"/>
          <p:cNvSpPr/>
          <p:nvPr/>
        </p:nvSpPr>
        <p:spPr>
          <a:xfrm>
            <a:off x="4704480" y="1170432"/>
            <a:ext cx="419184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RPanelHdr"/>
          <p:cNvSpPr/>
          <p:nvPr/>
        </p:nvSpPr>
        <p:spPr>
          <a:xfrm>
            <a:off x="4704480" y="1170432"/>
            <a:ext cx="4191840" cy="14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RPanelHdrTxt"/>
          <p:cNvSpPr/>
          <p:nvPr/>
        </p:nvSpPr>
        <p:spPr>
          <a:xfrm>
            <a:off x="4795920" y="1207008"/>
            <a:ext cx="40089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dirty="0"/>
          </a:p>
        </p:txBody>
      </p:sp>
      <p:sp>
        <p:nvSpPr>
          <p:cNvPr id="17" name="Tip0Bg"/>
          <p:cNvSpPr/>
          <p:nvPr/>
        </p:nvSpPr>
        <p:spPr>
          <a:xfrm>
            <a:off x="4795920" y="1353312"/>
            <a:ext cx="4008960" cy="7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ip0Key"/>
          <p:cNvSpPr/>
          <p:nvPr/>
        </p:nvSpPr>
        <p:spPr>
          <a:xfrm>
            <a:off x="4887360" y="140817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 = UTF-8</a:t>
            </a:r>
            <a:endParaRPr lang="en-US" dirty="0"/>
          </a:p>
        </p:txBody>
      </p:sp>
      <p:sp>
        <p:nvSpPr>
          <p:cNvPr id="19" name="Tip0D1"/>
          <p:cNvSpPr/>
          <p:nvPr/>
        </p:nvSpPr>
        <p:spPr>
          <a:xfrm>
            <a:off x="4887360" y="165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body를 UTF-8로 읽도록 설정</a:t>
            </a:r>
            <a:endParaRPr lang="en-US" dirty="0"/>
          </a:p>
        </p:txBody>
      </p:sp>
      <p:sp>
        <p:nvSpPr>
          <p:cNvPr id="20" name="Tip0D2"/>
          <p:cNvSpPr/>
          <p:nvPr/>
        </p:nvSpPr>
        <p:spPr>
          <a:xfrm>
            <a:off x="4887360" y="186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한글, 특수문자 정상 처리</a:t>
            </a:r>
            <a:endParaRPr lang="en-US" dirty="0"/>
          </a:p>
        </p:txBody>
      </p:sp>
      <p:sp>
        <p:nvSpPr>
          <p:cNvPr id="21" name="Tip1Bg"/>
          <p:cNvSpPr/>
          <p:nvPr/>
        </p:nvSpPr>
        <p:spPr>
          <a:xfrm>
            <a:off x="4795920" y="2193312"/>
            <a:ext cx="4008960" cy="7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2" name="Tip1Key"/>
          <p:cNvSpPr/>
          <p:nvPr/>
        </p:nvSpPr>
        <p:spPr>
          <a:xfrm>
            <a:off x="4887360" y="224817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forceEncoding = true</a:t>
            </a:r>
            <a:endParaRPr lang="en-US" dirty="0"/>
          </a:p>
        </p:txBody>
      </p:sp>
      <p:sp>
        <p:nvSpPr>
          <p:cNvPr id="23" name="Tip1D1"/>
          <p:cNvSpPr/>
          <p:nvPr/>
        </p:nvSpPr>
        <p:spPr>
          <a:xfrm>
            <a:off x="4887360" y="249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설정된 인코딩도 강제 재적용</a:t>
            </a:r>
            <a:endParaRPr lang="en-US" dirty="0"/>
          </a:p>
        </p:txBody>
      </p:sp>
      <p:sp>
        <p:nvSpPr>
          <p:cNvPr id="24" name="Tip1D2"/>
          <p:cNvSpPr/>
          <p:nvPr/>
        </p:nvSpPr>
        <p:spPr>
          <a:xfrm>
            <a:off x="4887360" y="270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 헤더 무시하고 항상 UTF-8</a:t>
            </a:r>
            <a:endParaRPr lang="en-US" dirty="0"/>
          </a:p>
        </p:txBody>
      </p:sp>
      <p:sp>
        <p:nvSpPr>
          <p:cNvPr id="25" name="Tip2Bg"/>
          <p:cNvSpPr/>
          <p:nvPr/>
        </p:nvSpPr>
        <p:spPr>
          <a:xfrm>
            <a:off x="4795920" y="3033312"/>
            <a:ext cx="4008960" cy="7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ip2Key"/>
          <p:cNvSpPr/>
          <p:nvPr/>
        </p:nvSpPr>
        <p:spPr>
          <a:xfrm>
            <a:off x="4887360" y="308817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url-pattern = /*</a:t>
            </a:r>
            <a:endParaRPr lang="en-US" dirty="0"/>
          </a:p>
        </p:txBody>
      </p:sp>
      <p:sp>
        <p:nvSpPr>
          <p:cNvPr id="27" name="Tip2D1"/>
          <p:cNvSpPr/>
          <p:nvPr/>
        </p:nvSpPr>
        <p:spPr>
          <a:xfrm>
            <a:off x="4887360" y="333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요청 URL에 필터 적용</a:t>
            </a:r>
            <a:endParaRPr lang="en-US" dirty="0"/>
          </a:p>
        </p:txBody>
      </p:sp>
      <p:sp>
        <p:nvSpPr>
          <p:cNvPr id="28" name="Tip2D2"/>
          <p:cNvSpPr/>
          <p:nvPr/>
        </p:nvSpPr>
        <p:spPr>
          <a:xfrm>
            <a:off x="4887360" y="354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하나의 설정으로 전체 해결</a:t>
            </a:r>
            <a:endParaRPr lang="en-US" dirty="0"/>
          </a:p>
        </p:txBody>
      </p:sp>
      <p:sp>
        <p:nvSpPr>
          <p:cNvPr id="29" name="Tip3Bg"/>
          <p:cNvSpPr/>
          <p:nvPr/>
        </p:nvSpPr>
        <p:spPr>
          <a:xfrm>
            <a:off x="4795920" y="3873312"/>
            <a:ext cx="4008960" cy="7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ip3Key"/>
          <p:cNvSpPr/>
          <p:nvPr/>
        </p:nvSpPr>
        <p:spPr>
          <a:xfrm>
            <a:off x="4887360" y="3928176"/>
            <a:ext cx="382608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강사 TIP</a:t>
            </a:r>
            <a:endParaRPr lang="en-US" dirty="0"/>
          </a:p>
        </p:txBody>
      </p:sp>
      <p:sp>
        <p:nvSpPr>
          <p:cNvPr id="31" name="Tip3D1"/>
          <p:cNvSpPr/>
          <p:nvPr/>
        </p:nvSpPr>
        <p:spPr>
          <a:xfrm>
            <a:off x="4887360" y="417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제거 후 한글 POST → 깨짐 직접 시연</a:t>
            </a:r>
            <a:endParaRPr lang="en-US" dirty="0"/>
          </a:p>
        </p:txBody>
      </p:sp>
      <p:sp>
        <p:nvSpPr>
          <p:cNvPr id="32" name="Tip3D2"/>
          <p:cNvSpPr/>
          <p:nvPr/>
        </p:nvSpPr>
        <p:spPr>
          <a:xfrm>
            <a:off x="4887360" y="4383312"/>
            <a:ext cx="38260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눈으로 보면 기억에 오래 남는다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 패턴 — Post-Redirect-Get</a:t>
            </a:r>
            <a:endParaRPr lang="en-US" dirty="0"/>
          </a:p>
        </p:txBody>
      </p:sp>
      <p:sp>
        <p:nvSpPr>
          <p:cNvPr id="4" name="Sub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후 새로고침 시 중복 요청 문제를 redirect로 방지한다</a:t>
            </a:r>
            <a:endParaRPr lang="en-US" dirty="0"/>
          </a:p>
        </p:txBody>
      </p:sp>
      <p:sp>
        <p:nvSpPr>
          <p:cNvPr id="5" name="Divider"/>
          <p:cNvSpPr/>
          <p:nvPr/>
        </p:nvSpPr>
        <p:spPr>
          <a:xfrm>
            <a:off x="457200" y="840000"/>
            <a:ext cx="8229600" cy="3657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6" name="ProbHdr"/>
          <p:cNvSpPr/>
          <p:nvPr/>
        </p:nvSpPr>
        <p:spPr>
          <a:xfrm>
            <a:off x="247680" y="950000"/>
            <a:ext cx="3931920" cy="1280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ProbHdrTxt"/>
          <p:cNvSpPr/>
          <p:nvPr/>
        </p:nvSpPr>
        <p:spPr>
          <a:xfrm>
            <a:off x="247680" y="950000"/>
            <a:ext cx="3931920" cy="1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POST 후 새로고침</a:t>
            </a:r>
            <a:endParaRPr lang="en-US" dirty="0"/>
          </a:p>
        </p:txBody>
      </p:sp>
      <p:sp>
        <p:nvSpPr>
          <p:cNvPr id="8" name="PS0Bg"/>
          <p:cNvSpPr/>
          <p:nvPr/>
        </p:nvSpPr>
        <p:spPr>
          <a:xfrm>
            <a:off x="247680" y="1115000"/>
            <a:ext cx="3931920" cy="730000"/>
          </a:xfrm>
          <a:prstGeom prst="rect">
            <a:avLst/>
          </a:prstGeom>
          <a:solidFill>
            <a:srgbClr val="1A2E4A"/>
          </a:solidFill>
          <a:ln w="9525">
            <a:solidFill>
              <a:srgbClr val="E53935"/>
            </a:solidFill>
            <a:prstDash val="solid"/>
          </a:ln>
        </p:spPr>
      </p:sp>
      <p:sp>
        <p:nvSpPr>
          <p:cNvPr id="9" name="PS0Step"/>
          <p:cNvSpPr/>
          <p:nvPr/>
        </p:nvSpPr>
        <p:spPr>
          <a:xfrm>
            <a:off x="350000" y="121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/orders</a:t>
            </a:r>
            <a:endParaRPr lang="en-US" dirty="0"/>
          </a:p>
        </p:txBody>
      </p:sp>
      <p:sp>
        <p:nvSpPr>
          <p:cNvPr id="10" name="PS0Desc"/>
          <p:cNvSpPr/>
          <p:nvPr/>
        </p:nvSpPr>
        <p:spPr>
          <a:xfrm>
            <a:off x="350000" y="151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처리 요청</a:t>
            </a:r>
            <a:endParaRPr lang="en-US" dirty="0"/>
          </a:p>
        </p:txBody>
      </p:sp>
      <p:sp>
        <p:nvSpPr>
          <p:cNvPr id="11" name="PS0Arrow"/>
          <p:cNvSpPr/>
          <p:nvPr/>
        </p:nvSpPr>
        <p:spPr>
          <a:xfrm>
            <a:off x="1900000" y="1875000"/>
            <a:ext cx="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12" name="PS1Bg"/>
          <p:cNvSpPr/>
          <p:nvPr/>
        </p:nvSpPr>
        <p:spPr>
          <a:xfrm>
            <a:off x="247680" y="1895000"/>
            <a:ext cx="3931920" cy="730000"/>
          </a:xfrm>
          <a:prstGeom prst="rect">
            <a:avLst/>
          </a:prstGeom>
          <a:solidFill>
            <a:srgbClr val="1A2E4A"/>
          </a:solidFill>
          <a:ln w="9525">
            <a:solidFill>
              <a:srgbClr val="E53935"/>
            </a:solidFill>
            <a:prstDash val="solid"/>
          </a:ln>
        </p:spPr>
      </p:sp>
      <p:sp>
        <p:nvSpPr>
          <p:cNvPr id="13" name="PS1Step"/>
          <p:cNvSpPr/>
          <p:nvPr/>
        </p:nvSpPr>
        <p:spPr>
          <a:xfrm>
            <a:off x="350000" y="199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→ 결과 JSP</a:t>
            </a:r>
            <a:endParaRPr lang="en-US" dirty="0"/>
          </a:p>
        </p:txBody>
      </p:sp>
      <p:sp>
        <p:nvSpPr>
          <p:cNvPr id="14" name="PS1Desc"/>
          <p:cNvSpPr/>
          <p:nvPr/>
        </p:nvSpPr>
        <p:spPr>
          <a:xfrm>
            <a:off x="350000" y="229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내부에서 뷰 렌더링</a:t>
            </a:r>
            <a:endParaRPr lang="en-US" dirty="0"/>
          </a:p>
        </p:txBody>
      </p:sp>
      <p:sp>
        <p:nvSpPr>
          <p:cNvPr id="15" name="PS1Arrow"/>
          <p:cNvSpPr/>
          <p:nvPr/>
        </p:nvSpPr>
        <p:spPr>
          <a:xfrm>
            <a:off x="1900000" y="2655000"/>
            <a:ext cx="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16" name="PS2Bg"/>
          <p:cNvSpPr/>
          <p:nvPr/>
        </p:nvSpPr>
        <p:spPr>
          <a:xfrm>
            <a:off x="247680" y="2675000"/>
            <a:ext cx="3931920" cy="730000"/>
          </a:xfrm>
          <a:prstGeom prst="rect">
            <a:avLst/>
          </a:prstGeom>
          <a:solidFill>
            <a:srgbClr val="1A2E4A"/>
          </a:solidFill>
          <a:ln w="9525">
            <a:solidFill>
              <a:srgbClr val="E53935"/>
            </a:solidFill>
            <a:prstDash val="solid"/>
          </a:ln>
        </p:spPr>
      </p:sp>
      <p:sp>
        <p:nvSpPr>
          <p:cNvPr id="17" name="PS2Step"/>
          <p:cNvSpPr/>
          <p:nvPr/>
        </p:nvSpPr>
        <p:spPr>
          <a:xfrm>
            <a:off x="350000" y="277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브라우저 새로고침 F5</a:t>
            </a:r>
            <a:endParaRPr lang="en-US" dirty="0"/>
          </a:p>
        </p:txBody>
      </p:sp>
      <p:sp>
        <p:nvSpPr>
          <p:cNvPr id="18" name="PS2Desc"/>
          <p:cNvSpPr/>
          <p:nvPr/>
        </p:nvSpPr>
        <p:spPr>
          <a:xfrm>
            <a:off x="350000" y="307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POST 요청 재전송!</a:t>
            </a:r>
            <a:endParaRPr lang="en-US" dirty="0"/>
          </a:p>
        </p:txBody>
      </p:sp>
      <p:sp>
        <p:nvSpPr>
          <p:cNvPr id="19" name="PS2Arrow"/>
          <p:cNvSpPr/>
          <p:nvPr/>
        </p:nvSpPr>
        <p:spPr>
          <a:xfrm>
            <a:off x="1900000" y="3435000"/>
            <a:ext cx="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20" name="PS3Bg"/>
          <p:cNvSpPr/>
          <p:nvPr/>
        </p:nvSpPr>
        <p:spPr>
          <a:xfrm>
            <a:off x="247680" y="3455000"/>
            <a:ext cx="3931920" cy="730000"/>
          </a:xfrm>
          <a:prstGeom prst="rect">
            <a:avLst/>
          </a:prstGeom>
          <a:solidFill>
            <a:srgbClr val="1A2E4A"/>
          </a:solidFill>
          <a:ln w="9525">
            <a:solidFill>
              <a:srgbClr val="E53935"/>
            </a:solidFill>
            <a:prstDash val="solid"/>
          </a:ln>
        </p:spPr>
      </p:sp>
      <p:sp>
        <p:nvSpPr>
          <p:cNvPr id="21" name="PS3Step"/>
          <p:cNvSpPr/>
          <p:nvPr/>
        </p:nvSpPr>
        <p:spPr>
          <a:xfrm>
            <a:off x="350000" y="355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중복 주문 발생</a:t>
            </a:r>
            <a:endParaRPr lang="en-US" dirty="0"/>
          </a:p>
        </p:txBody>
      </p:sp>
      <p:sp>
        <p:nvSpPr>
          <p:cNvPr id="22" name="PS3Desc"/>
          <p:cNvSpPr/>
          <p:nvPr/>
        </p:nvSpPr>
        <p:spPr>
          <a:xfrm>
            <a:off x="350000" y="385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데이터베이스에 중복 저장</a:t>
            </a:r>
            <a:endParaRPr lang="en-US" dirty="0"/>
          </a:p>
        </p:txBody>
      </p:sp>
      <p:sp>
        <p:nvSpPr>
          <p:cNvPr id="24" name="SolHdr"/>
          <p:cNvSpPr/>
          <p:nvPr/>
        </p:nvSpPr>
        <p:spPr>
          <a:xfrm>
            <a:off x="4964400" y="950000"/>
            <a:ext cx="3931920" cy="1280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SolHdrTxt"/>
          <p:cNvSpPr/>
          <p:nvPr/>
        </p:nvSpPr>
        <p:spPr>
          <a:xfrm>
            <a:off x="4964400" y="950000"/>
            <a:ext cx="3931920" cy="1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PRG 패턴 적용</a:t>
            </a:r>
            <a:endParaRPr lang="en-US" dirty="0"/>
          </a:p>
        </p:txBody>
      </p:sp>
      <p:sp>
        <p:nvSpPr>
          <p:cNvPr id="26" name="SS0Bg"/>
          <p:cNvSpPr/>
          <p:nvPr/>
        </p:nvSpPr>
        <p:spPr>
          <a:xfrm>
            <a:off x="4964400" y="1115000"/>
            <a:ext cx="3931920" cy="730000"/>
          </a:xfrm>
          <a:prstGeom prst="rect">
            <a:avLst/>
          </a:prstGeom>
          <a:solidFill>
            <a:srgbClr val="1A2E4A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27" name="SS0Step"/>
          <p:cNvSpPr/>
          <p:nvPr/>
        </p:nvSpPr>
        <p:spPr>
          <a:xfrm>
            <a:off x="5066000" y="121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/orders</a:t>
            </a:r>
            <a:endParaRPr lang="en-US" dirty="0"/>
          </a:p>
        </p:txBody>
      </p:sp>
      <p:sp>
        <p:nvSpPr>
          <p:cNvPr id="28" name="SS0Desc"/>
          <p:cNvSpPr/>
          <p:nvPr/>
        </p:nvSpPr>
        <p:spPr>
          <a:xfrm>
            <a:off x="5066000" y="151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처리</a:t>
            </a:r>
            <a:endParaRPr lang="en-US" dirty="0"/>
          </a:p>
        </p:txBody>
      </p:sp>
      <p:sp>
        <p:nvSpPr>
          <p:cNvPr id="29" name="SS0Arrow"/>
          <p:cNvSpPr/>
          <p:nvPr/>
        </p:nvSpPr>
        <p:spPr>
          <a:xfrm>
            <a:off x="6600000" y="1875000"/>
            <a:ext cx="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30" name="SS1Bg"/>
          <p:cNvSpPr/>
          <p:nvPr/>
        </p:nvSpPr>
        <p:spPr>
          <a:xfrm>
            <a:off x="4964400" y="1895000"/>
            <a:ext cx="3931920" cy="730000"/>
          </a:xfrm>
          <a:prstGeom prst="rect">
            <a:avLst/>
          </a:prstGeom>
          <a:solidFill>
            <a:srgbClr val="1A2E4A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31" name="SS1Step"/>
          <p:cNvSpPr/>
          <p:nvPr/>
        </p:nvSpPr>
        <p:spPr>
          <a:xfrm>
            <a:off x="5066000" y="199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redirect:/orders/1</a:t>
            </a:r>
            <a:endParaRPr lang="en-US" dirty="0"/>
          </a:p>
        </p:txBody>
      </p:sp>
      <p:sp>
        <p:nvSpPr>
          <p:cNvPr id="32" name="SS1Desc"/>
          <p:cNvSpPr/>
          <p:nvPr/>
        </p:nvSpPr>
        <p:spPr>
          <a:xfrm>
            <a:off x="5066000" y="229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후 GET 으로 리다이렉트</a:t>
            </a:r>
            <a:endParaRPr lang="en-US" dirty="0"/>
          </a:p>
        </p:txBody>
      </p:sp>
      <p:sp>
        <p:nvSpPr>
          <p:cNvPr id="33" name="SS1Arrow"/>
          <p:cNvSpPr/>
          <p:nvPr/>
        </p:nvSpPr>
        <p:spPr>
          <a:xfrm>
            <a:off x="6600000" y="2655000"/>
            <a:ext cx="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34" name="SS2Bg"/>
          <p:cNvSpPr/>
          <p:nvPr/>
        </p:nvSpPr>
        <p:spPr>
          <a:xfrm>
            <a:off x="4964400" y="2675000"/>
            <a:ext cx="3931920" cy="730000"/>
          </a:xfrm>
          <a:prstGeom prst="rect">
            <a:avLst/>
          </a:prstGeom>
          <a:solidFill>
            <a:srgbClr val="1A2E4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5" name="SS2Step"/>
          <p:cNvSpPr/>
          <p:nvPr/>
        </p:nvSpPr>
        <p:spPr>
          <a:xfrm>
            <a:off x="5066000" y="277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/orders/1</a:t>
            </a:r>
            <a:endParaRPr lang="en-US" dirty="0"/>
          </a:p>
        </p:txBody>
      </p:sp>
      <p:sp>
        <p:nvSpPr>
          <p:cNvPr id="36" name="SS2Desc"/>
          <p:cNvSpPr/>
          <p:nvPr/>
        </p:nvSpPr>
        <p:spPr>
          <a:xfrm>
            <a:off x="5066000" y="307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화면 조회 (새 요청)</a:t>
            </a:r>
            <a:endParaRPr lang="en-US" dirty="0"/>
          </a:p>
        </p:txBody>
      </p:sp>
      <p:sp>
        <p:nvSpPr>
          <p:cNvPr id="37" name="SS2Arrow"/>
          <p:cNvSpPr/>
          <p:nvPr/>
        </p:nvSpPr>
        <p:spPr>
          <a:xfrm>
            <a:off x="6600000" y="3435000"/>
            <a:ext cx="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38" name="SS3Bg"/>
          <p:cNvSpPr/>
          <p:nvPr/>
        </p:nvSpPr>
        <p:spPr>
          <a:xfrm>
            <a:off x="4964400" y="3455000"/>
            <a:ext cx="3931920" cy="730000"/>
          </a:xfrm>
          <a:prstGeom prst="rect">
            <a:avLst/>
          </a:prstGeom>
          <a:solidFill>
            <a:srgbClr val="1A2E4A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39" name="SS3Step"/>
          <p:cNvSpPr/>
          <p:nvPr/>
        </p:nvSpPr>
        <p:spPr>
          <a:xfrm>
            <a:off x="5066000" y="355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 — 결과 표시</a:t>
            </a:r>
            <a:endParaRPr lang="en-US" dirty="0"/>
          </a:p>
        </p:txBody>
      </p:sp>
      <p:sp>
        <p:nvSpPr>
          <p:cNvPr id="40" name="SS3Desc"/>
          <p:cNvSpPr/>
          <p:nvPr/>
        </p:nvSpPr>
        <p:spPr>
          <a:xfrm>
            <a:off x="5066000" y="3855000"/>
            <a:ext cx="375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새로고침해도 GET만 재전송</a:t>
            </a:r>
            <a:endParaRPr lang="en-US" dirty="0"/>
          </a:p>
        </p:txBody>
      </p:sp>
      <p:sp>
        <p:nvSpPr>
          <p:cNvPr id="42" name="NoteBg"/>
          <p:cNvSpPr/>
          <p:nvPr/>
        </p:nvSpPr>
        <p:spPr>
          <a:xfrm>
            <a:off x="247680" y="5001768"/>
            <a:ext cx="8649600" cy="128016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3" name="NoteTxt"/>
          <p:cNvSpPr/>
          <p:nvPr/>
        </p:nvSpPr>
        <p:spPr>
          <a:xfrm>
            <a:off x="247680" y="5001768"/>
            <a:ext cx="864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실습은 forward 방식으로 처리 — redirect 패턴은 게시판 CRUD에서 다시 적용한다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/ JSTL 데이터 출력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6 + Tomcat 10 환경 → Jakarta 기반 JSTL 사용  |  URI: jakarta.tags.core</a:t>
            </a:r>
            <a:endParaRPr lang="en-US" dirty="0"/>
          </a:p>
        </p:txBody>
      </p:sp>
      <p:sp>
        <p:nvSpPr>
          <p:cNvPr id="6" name="CodeBg"/>
          <p:cNvSpPr/>
          <p:nvPr/>
        </p:nvSpPr>
        <p:spPr>
          <a:xfrm>
            <a:off x="247680" y="1170432"/>
            <a:ext cx="420624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odeTxt"/>
          <p:cNvSpPr/>
          <p:nvPr/>
        </p:nvSpPr>
        <p:spPr>
          <a:xfrm>
            <a:off x="339120" y="1261872"/>
            <a:ext cx="402336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&lt;%@ taglib prefix="c"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uri="jakarta.tags.core" %&gt;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&lt;tr&gt;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&lt;th&gt;ID&lt;/th&gt;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&lt;th&gt;메뉴명&lt;/th&gt;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&lt;th&gt;가격&lt;/th&gt;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&lt;/tr&gt;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&lt;c:forEach var="menu" items="${menus}"&gt;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&lt;tr&gt;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&lt;td&gt;${menu.id}&lt;/td&gt;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&lt;td&gt;${menu.name}&lt;/td&gt;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&lt;td&gt;${menu.price}&lt;/td&gt;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&lt;/tr&gt;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&lt;/c:forEach&gt;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dirty="0"/>
          </a:p>
        </p:txBody>
      </p:sp>
      <p:sp>
        <p:nvSpPr>
          <p:cNvPr id="8" name="CodeBg"/>
          <p:cNvSpPr/>
          <p:nvPr/>
        </p:nvSpPr>
        <p:spPr>
          <a:xfrm>
            <a:off x="4704480" y="1170432"/>
            <a:ext cx="4191840" cy="14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CodeTxt"/>
          <p:cNvSpPr/>
          <p:nvPr/>
        </p:nvSpPr>
        <p:spPr>
          <a:xfrm>
            <a:off x="4795920" y="1261872"/>
            <a:ext cx="4008960" cy="12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&lt;c:choose&gt;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&lt;c:when test="${empty menus}"&gt;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&lt;p&gt;검색 결과가 없습니다.&lt;/p&gt;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&lt;/c:when&gt;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&lt;c:otherwise&gt;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&lt;p&gt;총 ${menus.size()}개&lt;/p&gt;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&lt;/c:otherwise&gt;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&lt;/c:choose&gt;</a:t>
            </a:r>
            <a:endParaRPr lang="en-US" dirty="0"/>
          </a:p>
        </p:txBody>
      </p:sp>
      <p:sp>
        <p:nvSpPr>
          <p:cNvPr id="10" name="TipsPanel"/>
          <p:cNvSpPr/>
          <p:nvPr/>
        </p:nvSpPr>
        <p:spPr>
          <a:xfrm>
            <a:off x="4704480" y="2607008"/>
            <a:ext cx="4191840" cy="22634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ipsPanelHdr"/>
          <p:cNvSpPr/>
          <p:nvPr/>
        </p:nvSpPr>
        <p:spPr>
          <a:xfrm>
            <a:off x="4704480" y="2607008"/>
            <a:ext cx="4191840" cy="14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2" name="TipsPanelHdrTxt"/>
          <p:cNvSpPr/>
          <p:nvPr/>
        </p:nvSpPr>
        <p:spPr>
          <a:xfrm>
            <a:off x="4795920" y="2643584"/>
            <a:ext cx="40089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JSTL 주요 태그 &amp; 핵심 규칙</a:t>
            </a:r>
            <a:endParaRPr lang="en-US" dirty="0"/>
          </a:p>
        </p:txBody>
      </p:sp>
      <p:sp>
        <p:nvSpPr>
          <p:cNvPr id="13" name="JTag0"/>
          <p:cNvSpPr/>
          <p:nvPr/>
        </p:nvSpPr>
        <p:spPr>
          <a:xfrm>
            <a:off x="4887360" y="2789888"/>
            <a:ext cx="1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c:forEach</a:t>
            </a:r>
            <a:endParaRPr lang="en-US" dirty="0"/>
          </a:p>
        </p:txBody>
      </p:sp>
      <p:sp>
        <p:nvSpPr>
          <p:cNvPr id="14" name="JDesc0"/>
          <p:cNvSpPr/>
          <p:nvPr/>
        </p:nvSpPr>
        <p:spPr>
          <a:xfrm>
            <a:off x="6254480" y="2789888"/>
            <a:ext cx="246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배열 반복 출력 — var/items 필수</a:t>
            </a:r>
            <a:endParaRPr lang="en-US" dirty="0"/>
          </a:p>
        </p:txBody>
      </p:sp>
      <p:sp>
        <p:nvSpPr>
          <p:cNvPr id="15" name="JTag1"/>
          <p:cNvSpPr/>
          <p:nvPr/>
        </p:nvSpPr>
        <p:spPr>
          <a:xfrm>
            <a:off x="4887360" y="3229888"/>
            <a:ext cx="1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c:if</a:t>
            </a:r>
            <a:endParaRPr lang="en-US" dirty="0"/>
          </a:p>
        </p:txBody>
      </p:sp>
      <p:sp>
        <p:nvSpPr>
          <p:cNvPr id="16" name="JDesc1"/>
          <p:cNvSpPr/>
          <p:nvPr/>
        </p:nvSpPr>
        <p:spPr>
          <a:xfrm>
            <a:off x="6254480" y="3229888"/>
            <a:ext cx="246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조건 — test 속성에 EL 표현식</a:t>
            </a:r>
            <a:endParaRPr lang="en-US" dirty="0"/>
          </a:p>
        </p:txBody>
      </p:sp>
      <p:sp>
        <p:nvSpPr>
          <p:cNvPr id="17" name="JTag2"/>
          <p:cNvSpPr/>
          <p:nvPr/>
        </p:nvSpPr>
        <p:spPr>
          <a:xfrm>
            <a:off x="4887360" y="3669888"/>
            <a:ext cx="1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c:choose/when</a:t>
            </a:r>
            <a:endParaRPr lang="en-US" dirty="0"/>
          </a:p>
        </p:txBody>
      </p:sp>
      <p:sp>
        <p:nvSpPr>
          <p:cNvPr id="18" name="JDesc2"/>
          <p:cNvSpPr/>
          <p:nvPr/>
        </p:nvSpPr>
        <p:spPr>
          <a:xfrm>
            <a:off x="6254480" y="3669888"/>
            <a:ext cx="246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분기 — otherwise로 기본값</a:t>
            </a:r>
            <a:endParaRPr lang="en-US" dirty="0"/>
          </a:p>
        </p:txBody>
      </p:sp>
      <p:sp>
        <p:nvSpPr>
          <p:cNvPr id="19" name="JTag3"/>
          <p:cNvSpPr/>
          <p:nvPr/>
        </p:nvSpPr>
        <p:spPr>
          <a:xfrm>
            <a:off x="4887360" y="4109888"/>
            <a:ext cx="1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일치 규칙</a:t>
            </a:r>
            <a:endParaRPr lang="en-US" dirty="0"/>
          </a:p>
        </p:txBody>
      </p:sp>
      <p:sp>
        <p:nvSpPr>
          <p:cNvPr id="20" name="JDesc3"/>
          <p:cNvSpPr/>
          <p:nvPr/>
        </p:nvSpPr>
        <p:spPr>
          <a:xfrm>
            <a:off x="6254480" y="4109888"/>
            <a:ext cx="246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model.addAttribute("menus", list) → ${menus}</a:t>
            </a:r>
            <a:endParaRPr lang="en-US" dirty="0"/>
          </a:p>
        </p:txBody>
      </p:sp>
      <p:sp>
        <p:nvSpPr>
          <p:cNvPr id="21" name="JTag4"/>
          <p:cNvSpPr/>
          <p:nvPr/>
        </p:nvSpPr>
        <p:spPr>
          <a:xfrm>
            <a:off x="4887360" y="4549888"/>
            <a:ext cx="13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Jakarta URI</a:t>
            </a:r>
            <a:endParaRPr lang="en-US" dirty="0"/>
          </a:p>
        </p:txBody>
      </p:sp>
      <p:sp>
        <p:nvSpPr>
          <p:cNvPr id="22" name="JDesc4"/>
          <p:cNvSpPr/>
          <p:nvPr/>
        </p:nvSpPr>
        <p:spPr>
          <a:xfrm>
            <a:off x="6254480" y="4549888"/>
            <a:ext cx="246184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6: jakarta.tags.core (javax.* 아님)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MenuController — 세 어노테이션 종합 예시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@RequestParam · @PathVariable · @ModelAttribute 실전 사용</a:t>
            </a:r>
            <a:endParaRPr lang="en-US" dirty="0"/>
          </a:p>
        </p:txBody>
      </p:sp>
      <p:sp>
        <p:nvSpPr>
          <p:cNvPr id="6" name="CodeBg"/>
          <p:cNvSpPr/>
          <p:nvPr/>
        </p:nvSpPr>
        <p:spPr>
          <a:xfrm>
            <a:off x="247680" y="1170432"/>
            <a:ext cx="530496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CodeTxt"/>
          <p:cNvSpPr/>
          <p:nvPr/>
        </p:nvSpPr>
        <p:spPr>
          <a:xfrm>
            <a:off x="339120" y="1261872"/>
            <a:ext cx="512208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@RequestMapping("/menus")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MenuController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① 목록 — 매핑 없으면 클래스 경로 그대로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@GetMapping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String list(Model model)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model.addAttribute("menus", menuList);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"menu/list";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② 상세 — @PathVariable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@GetMapping("/{menuId}")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String detail(@PathVariable Long menuId, Model model)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model.addAttribute("menu", findMenu(menuId));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"menu/detail";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③ 검색 — @RequestParam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@GetMapping("/search")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String search(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@RequestParam(defaultValue="") String keyword,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Model model)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model.addAttribute("menus", searchMenus(keyword));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"menu/list";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8" name="CodeBg"/>
          <p:cNvSpPr/>
          <p:nvPr/>
        </p:nvSpPr>
        <p:spPr>
          <a:xfrm>
            <a:off x="5644080" y="1170432"/>
            <a:ext cx="3252240" cy="3700000"/>
          </a:xfrm>
          <a:prstGeom prst="rect">
            <a:avLst/>
          </a:prstGeom>
          <a:solidFill>
            <a:srgbClr val="0D1B2A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CodeTxt"/>
          <p:cNvSpPr/>
          <p:nvPr/>
        </p:nvSpPr>
        <p:spPr>
          <a:xfrm>
            <a:off x="5735520" y="1261872"/>
            <a:ext cx="3069360" cy="35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@RequestMapping("/orders")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OrderController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GET — 폼 표시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@GetMapping("/new")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String orderForm()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"order/form";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POST — 폼 처리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@PostMapping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public String order(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@ModelAttribute OrderForm form,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Model model) {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model.addAttribute("order", form);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"order/result";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10" name="FtrBg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FtrTxt"/>
          <p:cNvSpPr/>
          <p:nvPr/>
        </p:nvSpPr>
        <p:spPr>
          <a:xfrm>
            <a:off x="347472" y="5001768"/>
            <a:ext cx="8449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/menus/new (폼) + POST /menus (처리) 분리 원칙 — 같은 경로, 다른 메서드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HdrLine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" name="HdrTitle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오류 &amp; 해결</a:t>
            </a:r>
            <a:endParaRPr lang="en-US" dirty="0"/>
          </a:p>
        </p:txBody>
      </p:sp>
      <p:sp>
        <p:nvSpPr>
          <p:cNvPr id="5" name="HdrSub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수강생이 자주 겪는 오류 — 원인을 알면 디버깅 시간이 절반으로 줄어든다</a:t>
            </a:r>
            <a:endParaRPr lang="en-US" dirty="0"/>
          </a:p>
        </p:txBody>
      </p:sp>
      <p:sp>
        <p:nvSpPr>
          <p:cNvPr id="6" name="Err0Bg"/>
          <p:cNvSpPr/>
          <p:nvPr/>
        </p:nvSpPr>
        <p:spPr>
          <a:xfrm>
            <a:off x="247680" y="1170432"/>
            <a:ext cx="864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Err0Bar"/>
          <p:cNvSpPr/>
          <p:nvPr/>
        </p:nvSpPr>
        <p:spPr>
          <a:xfrm>
            <a:off x="247680" y="1170432"/>
            <a:ext cx="91440" cy="7300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8" name="Err0Code"/>
          <p:cNvSpPr/>
          <p:nvPr/>
        </p:nvSpPr>
        <p:spPr>
          <a:xfrm>
            <a:off x="400000" y="1261872"/>
            <a:ext cx="1825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</a:t>
            </a:r>
            <a:endParaRPr lang="en-US" dirty="0"/>
          </a:p>
        </p:txBody>
      </p:sp>
      <p:sp>
        <p:nvSpPr>
          <p:cNvPr id="9" name="Err0Cause"/>
          <p:cNvSpPr/>
          <p:nvPr/>
        </p:nvSpPr>
        <p:spPr>
          <a:xfrm>
            <a:off x="2300000" y="1261872"/>
            <a:ext cx="3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컨트롤러 매핑 주소와 URL 불일치</a:t>
            </a:r>
            <a:endParaRPr lang="en-US" dirty="0"/>
          </a:p>
        </p:txBody>
      </p:sp>
      <p:sp>
        <p:nvSpPr>
          <p:cNvPr id="10" name="Err0Fix"/>
          <p:cNvSpPr/>
          <p:nvPr/>
        </p:nvSpPr>
        <p:spPr>
          <a:xfrm>
            <a:off x="400000" y="1530432"/>
            <a:ext cx="8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클래스 @RequestMapping + 메서드 @GetMapping 조합 확인</a:t>
            </a:r>
            <a:endParaRPr lang="en-US" dirty="0"/>
          </a:p>
        </p:txBody>
      </p:sp>
      <p:sp>
        <p:nvSpPr>
          <p:cNvPr id="11" name="Err1Bg"/>
          <p:cNvSpPr/>
          <p:nvPr/>
        </p:nvSpPr>
        <p:spPr>
          <a:xfrm>
            <a:off x="247680" y="1927648"/>
            <a:ext cx="864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Err1Bar"/>
          <p:cNvSpPr/>
          <p:nvPr/>
        </p:nvSpPr>
        <p:spPr>
          <a:xfrm>
            <a:off x="247680" y="1927648"/>
            <a:ext cx="91440" cy="7300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Err1Code"/>
          <p:cNvSpPr/>
          <p:nvPr/>
        </p:nvSpPr>
        <p:spPr>
          <a:xfrm>
            <a:off x="400000" y="2019088"/>
            <a:ext cx="1825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</a:t>
            </a:r>
            <a:endParaRPr lang="en-US" dirty="0"/>
          </a:p>
        </p:txBody>
      </p:sp>
      <p:sp>
        <p:nvSpPr>
          <p:cNvPr id="14" name="Err1Cause"/>
          <p:cNvSpPr/>
          <p:nvPr/>
        </p:nvSpPr>
        <p:spPr>
          <a:xfrm>
            <a:off x="2300000" y="2019088"/>
            <a:ext cx="3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필수 @RequestParam 누락 또는 숫자 변환 실패</a:t>
            </a:r>
            <a:endParaRPr lang="en-US" dirty="0"/>
          </a:p>
        </p:txBody>
      </p:sp>
      <p:sp>
        <p:nvSpPr>
          <p:cNvPr id="15" name="Err1Fix"/>
          <p:cNvSpPr/>
          <p:nvPr/>
        </p:nvSpPr>
        <p:spPr>
          <a:xfrm>
            <a:off x="400000" y="2287648"/>
            <a:ext cx="8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required=false 또는 defaultValue 지정 — 타입 불일치 주의</a:t>
            </a:r>
            <a:endParaRPr lang="en-US" dirty="0"/>
          </a:p>
        </p:txBody>
      </p:sp>
      <p:sp>
        <p:nvSpPr>
          <p:cNvPr id="16" name="Err2Bg"/>
          <p:cNvSpPr/>
          <p:nvPr/>
        </p:nvSpPr>
        <p:spPr>
          <a:xfrm>
            <a:off x="247680" y="2684864"/>
            <a:ext cx="864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Err2Bar"/>
          <p:cNvSpPr/>
          <p:nvPr/>
        </p:nvSpPr>
        <p:spPr>
          <a:xfrm>
            <a:off x="247680" y="2684864"/>
            <a:ext cx="91440" cy="730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Err2Code"/>
          <p:cNvSpPr/>
          <p:nvPr/>
        </p:nvSpPr>
        <p:spPr>
          <a:xfrm>
            <a:off x="400000" y="2776304"/>
            <a:ext cx="1825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값이 비어 있음</a:t>
            </a:r>
            <a:endParaRPr lang="en-US" dirty="0"/>
          </a:p>
        </p:txBody>
      </p:sp>
      <p:sp>
        <p:nvSpPr>
          <p:cNvPr id="19" name="Err2Cause"/>
          <p:cNvSpPr/>
          <p:nvPr/>
        </p:nvSpPr>
        <p:spPr>
          <a:xfrm>
            <a:off x="2300000" y="2776304"/>
            <a:ext cx="3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Model attribute 이름과 JSP EL 이름 불일치</a:t>
            </a:r>
            <a:endParaRPr lang="en-US" dirty="0"/>
          </a:p>
        </p:txBody>
      </p:sp>
      <p:sp>
        <p:nvSpPr>
          <p:cNvPr id="20" name="Err2Fix"/>
          <p:cNvSpPr/>
          <p:nvPr/>
        </p:nvSpPr>
        <p:spPr>
          <a:xfrm>
            <a:off x="400000" y="3044864"/>
            <a:ext cx="8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addAttribute("menus", ...) → ${menus} 정확히 일치하는지 확인</a:t>
            </a:r>
            <a:endParaRPr lang="en-US" dirty="0"/>
          </a:p>
        </p:txBody>
      </p:sp>
      <p:sp>
        <p:nvSpPr>
          <p:cNvPr id="21" name="Err3Bg"/>
          <p:cNvSpPr/>
          <p:nvPr/>
        </p:nvSpPr>
        <p:spPr>
          <a:xfrm>
            <a:off x="247680" y="3442080"/>
            <a:ext cx="864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Err3Bar"/>
          <p:cNvSpPr/>
          <p:nvPr/>
        </p:nvSpPr>
        <p:spPr>
          <a:xfrm>
            <a:off x="247680" y="3442080"/>
            <a:ext cx="91440" cy="7300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Err3Code"/>
          <p:cNvSpPr/>
          <p:nvPr/>
        </p:nvSpPr>
        <p:spPr>
          <a:xfrm>
            <a:off x="400000" y="3533520"/>
            <a:ext cx="1825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깨짐</a:t>
            </a:r>
            <a:endParaRPr lang="en-US" dirty="0"/>
          </a:p>
        </p:txBody>
      </p:sp>
      <p:sp>
        <p:nvSpPr>
          <p:cNvPr id="24" name="Err3Cause"/>
          <p:cNvSpPr/>
          <p:nvPr/>
        </p:nvSpPr>
        <p:spPr>
          <a:xfrm>
            <a:off x="2300000" y="3533520"/>
            <a:ext cx="3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POST 요청 인코딩 미적용</a:t>
            </a:r>
            <a:endParaRPr lang="en-US" dirty="0"/>
          </a:p>
        </p:txBody>
      </p:sp>
      <p:sp>
        <p:nvSpPr>
          <p:cNvPr id="25" name="Err3Fix"/>
          <p:cNvSpPr/>
          <p:nvPr/>
        </p:nvSpPr>
        <p:spPr>
          <a:xfrm>
            <a:off x="400000" y="3802080"/>
            <a:ext cx="8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web.xml에 CharacterEncodingFilter + encoding=UTF-8 확인</a:t>
            </a:r>
            <a:endParaRPr lang="en-US" dirty="0"/>
          </a:p>
        </p:txBody>
      </p:sp>
      <p:sp>
        <p:nvSpPr>
          <p:cNvPr id="26" name="Err4Bg"/>
          <p:cNvSpPr/>
          <p:nvPr/>
        </p:nvSpPr>
        <p:spPr>
          <a:xfrm>
            <a:off x="247680" y="4199296"/>
            <a:ext cx="8649600" cy="7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Err4Bar"/>
          <p:cNvSpPr/>
          <p:nvPr/>
        </p:nvSpPr>
        <p:spPr>
          <a:xfrm>
            <a:off x="247680" y="4199296"/>
            <a:ext cx="91440" cy="730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Err4Code"/>
          <p:cNvSpPr/>
          <p:nvPr/>
        </p:nvSpPr>
        <p:spPr>
          <a:xfrm>
            <a:off x="400000" y="4290736"/>
            <a:ext cx="182592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JSTL 태그 오류</a:t>
            </a:r>
            <a:endParaRPr lang="en-US" dirty="0"/>
          </a:p>
        </p:txBody>
      </p:sp>
      <p:sp>
        <p:nvSpPr>
          <p:cNvPr id="29" name="Err4Cause"/>
          <p:cNvSpPr/>
          <p:nvPr/>
        </p:nvSpPr>
        <p:spPr>
          <a:xfrm>
            <a:off x="2300000" y="4290736"/>
            <a:ext cx="3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Jakarta JSTL 의존성 누락 또는 taglib URI 오류</a:t>
            </a:r>
            <a:endParaRPr lang="en-US" dirty="0"/>
          </a:p>
        </p:txBody>
      </p:sp>
      <p:sp>
        <p:nvSpPr>
          <p:cNvPr id="30" name="Err4Fix"/>
          <p:cNvSpPr/>
          <p:nvPr/>
        </p:nvSpPr>
        <p:spPr>
          <a:xfrm>
            <a:off x="400000" y="4559296"/>
            <a:ext cx="8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pom.xml에 jakarta.servlet.jsp.jstl 추가 / uri=jakarta.tags.core 확인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7일차 핵심 정리</a:t>
            </a:r>
            <a:endParaRPr lang="en-US" dirty="0"/>
          </a:p>
        </p:txBody>
      </p:sp>
      <p:sp>
        <p:nvSpPr>
          <p:cNvPr id="4" name="TitleLine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5" name="Row01Bg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Row01Bar"/>
          <p:cNvSpPr/>
          <p:nvPr/>
        </p:nvSpPr>
        <p:spPr>
          <a:xfrm>
            <a:off x="365760" y="914400"/>
            <a:ext cx="91440" cy="7132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7" name="Row01Num"/>
          <p:cNvSpPr/>
          <p:nvPr/>
        </p:nvSpPr>
        <p:spPr>
          <a:xfrm>
            <a:off x="566928" y="9509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8" name="Row01Title"/>
          <p:cNvSpPr/>
          <p:nvPr/>
        </p:nvSpPr>
        <p:spPr>
          <a:xfrm>
            <a:off x="1188720" y="950976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@GetMapping / @PostMapping</a:t>
            </a:r>
            <a:endParaRPr lang="en-US" dirty="0"/>
          </a:p>
        </p:txBody>
      </p:sp>
      <p:sp>
        <p:nvSpPr>
          <p:cNvPr id="9" name="Row01Desc"/>
          <p:cNvSpPr/>
          <p:nvPr/>
        </p:nvSpPr>
        <p:spPr>
          <a:xfrm>
            <a:off x="1188720" y="1225296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메서드별 요청 분리 — 같은 URL이라도 GET/POST로 역할 구분</a:t>
            </a:r>
            <a:endParaRPr lang="en-US" dirty="0"/>
          </a:p>
        </p:txBody>
      </p:sp>
      <p:sp>
        <p:nvSpPr>
          <p:cNvPr id="15" name="Row02Bg"/>
          <p:cNvSpPr/>
          <p:nvPr/>
        </p:nvSpPr>
        <p:spPr>
          <a:xfrm>
            <a:off x="365760" y="1719216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Row02Bar"/>
          <p:cNvSpPr/>
          <p:nvPr/>
        </p:nvSpPr>
        <p:spPr>
          <a:xfrm>
            <a:off x="365760" y="1719216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Row02Num"/>
          <p:cNvSpPr/>
          <p:nvPr/>
        </p:nvSpPr>
        <p:spPr>
          <a:xfrm>
            <a:off x="566928" y="1755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8" name="Row02Title"/>
          <p:cNvSpPr/>
          <p:nvPr/>
        </p:nvSpPr>
        <p:spPr>
          <a:xfrm>
            <a:off x="1188720" y="1755792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@RequestParam / @PathVariable / @ModelAttribute</a:t>
            </a:r>
            <a:endParaRPr lang="en-US" dirty="0"/>
          </a:p>
        </p:txBody>
      </p:sp>
      <p:sp>
        <p:nvSpPr>
          <p:cNvPr id="19" name="Row02Desc"/>
          <p:cNvSpPr/>
          <p:nvPr/>
        </p:nvSpPr>
        <p:spPr>
          <a:xfrm>
            <a:off x="1188720" y="2030112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위치에 따른 바인딩 선택 — 검색조건/식별자/폼전체</a:t>
            </a:r>
            <a:endParaRPr lang="en-US" dirty="0"/>
          </a:p>
        </p:txBody>
      </p:sp>
      <p:sp>
        <p:nvSpPr>
          <p:cNvPr id="25" name="Row03Bg"/>
          <p:cNvSpPr/>
          <p:nvPr/>
        </p:nvSpPr>
        <p:spPr>
          <a:xfrm>
            <a:off x="365760" y="2524032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Row03Bar"/>
          <p:cNvSpPr/>
          <p:nvPr/>
        </p:nvSpPr>
        <p:spPr>
          <a:xfrm>
            <a:off x="365760" y="2524032"/>
            <a:ext cx="91440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7" name="Row03Num"/>
          <p:cNvSpPr/>
          <p:nvPr/>
        </p:nvSpPr>
        <p:spPr>
          <a:xfrm>
            <a:off x="566928" y="2560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28" name="Row03Title"/>
          <p:cNvSpPr/>
          <p:nvPr/>
        </p:nvSpPr>
        <p:spPr>
          <a:xfrm>
            <a:off x="1188720" y="2560608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 → DTO 바인딩</a:t>
            </a:r>
            <a:endParaRPr lang="en-US" dirty="0"/>
          </a:p>
        </p:txBody>
      </p:sp>
      <p:sp>
        <p:nvSpPr>
          <p:cNvPr id="29" name="Row03Desc"/>
          <p:cNvSpPr/>
          <p:nvPr/>
        </p:nvSpPr>
        <p:spPr>
          <a:xfrm>
            <a:off x="1188720" y="2834928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속성 = DTO 필드명 일치  |  기본 생성자 + setter 필수</a:t>
            </a:r>
            <a:endParaRPr lang="en-US" dirty="0"/>
          </a:p>
        </p:txBody>
      </p:sp>
      <p:sp>
        <p:nvSpPr>
          <p:cNvPr id="35" name="Row04Bg"/>
          <p:cNvSpPr/>
          <p:nvPr/>
        </p:nvSpPr>
        <p:spPr>
          <a:xfrm>
            <a:off x="365760" y="3328848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Row04Bar"/>
          <p:cNvSpPr/>
          <p:nvPr/>
        </p:nvSpPr>
        <p:spPr>
          <a:xfrm>
            <a:off x="365760" y="3328848"/>
            <a:ext cx="91440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7" name="Row04Num"/>
          <p:cNvSpPr/>
          <p:nvPr/>
        </p:nvSpPr>
        <p:spPr>
          <a:xfrm>
            <a:off x="566928" y="3365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/>
          </a:p>
        </p:txBody>
      </p:sp>
      <p:sp>
        <p:nvSpPr>
          <p:cNvPr id="38" name="Row04Title"/>
          <p:cNvSpPr/>
          <p:nvPr/>
        </p:nvSpPr>
        <p:spPr>
          <a:xfrm>
            <a:off x="1188720" y="3365424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CharacterEncodingFilter</a:t>
            </a:r>
            <a:endParaRPr lang="en-US" dirty="0"/>
          </a:p>
        </p:txBody>
      </p:sp>
      <p:sp>
        <p:nvSpPr>
          <p:cNvPr id="39" name="Row04Desc"/>
          <p:cNvSpPr/>
          <p:nvPr/>
        </p:nvSpPr>
        <p:spPr>
          <a:xfrm>
            <a:off x="1188720" y="3639744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한글 깨짐 방지 — web.xml에 UTF-8 필터 등록, /* 적용</a:t>
            </a:r>
            <a:endParaRPr lang="en-US" dirty="0"/>
          </a:p>
        </p:txBody>
      </p:sp>
      <p:sp>
        <p:nvSpPr>
          <p:cNvPr id="45" name="Row05Bg"/>
          <p:cNvSpPr/>
          <p:nvPr/>
        </p:nvSpPr>
        <p:spPr>
          <a:xfrm>
            <a:off x="365760" y="4133664"/>
            <a:ext cx="841248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Row05Bar"/>
          <p:cNvSpPr/>
          <p:nvPr/>
        </p:nvSpPr>
        <p:spPr>
          <a:xfrm>
            <a:off x="365760" y="4133664"/>
            <a:ext cx="91440" cy="7132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7" name="Row05Num"/>
          <p:cNvSpPr/>
          <p:nvPr/>
        </p:nvSpPr>
        <p:spPr>
          <a:xfrm>
            <a:off x="566928" y="417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dirty="0"/>
          </a:p>
        </p:txBody>
      </p:sp>
      <p:sp>
        <p:nvSpPr>
          <p:cNvPr id="48" name="Row05Title"/>
          <p:cNvSpPr/>
          <p:nvPr/>
        </p:nvSpPr>
        <p:spPr>
          <a:xfrm>
            <a:off x="1188720" y="4170240"/>
            <a:ext cx="7296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JSTL c:forEach / c:choose</a:t>
            </a:r>
            <a:endParaRPr lang="en-US" dirty="0"/>
          </a:p>
        </p:txBody>
      </p:sp>
      <p:sp>
        <p:nvSpPr>
          <p:cNvPr id="49" name="Row05Desc"/>
          <p:cNvSpPr/>
          <p:nvPr/>
        </p:nvSpPr>
        <p:spPr>
          <a:xfrm>
            <a:off x="1188720" y="4444560"/>
            <a:ext cx="7296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기반 URI(jakarta.tags.core)  |  EL과 Model attribute 이름 일치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다음 수업 예고</a:t>
            </a:r>
            <a:endParaRPr lang="en-US" dirty="0"/>
          </a:p>
        </p:txBody>
      </p:sp>
      <p:sp>
        <p:nvSpPr>
          <p:cNvPr id="4" name="TitleSub"/>
          <p:cNvSpPr/>
          <p:nvPr/>
        </p:nvSpPr>
        <p:spPr>
          <a:xfrm>
            <a:off x="457200" y="640080"/>
            <a:ext cx="50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 ②</a:t>
            </a:r>
            <a:endParaRPr lang="en-US" dirty="0"/>
          </a:p>
        </p:txBody>
      </p:sp>
      <p:sp>
        <p:nvSpPr>
          <p:cNvPr id="5" name="QPanel"/>
          <p:cNvSpPr/>
          <p:nvPr/>
        </p:nvSpPr>
        <p:spPr>
          <a:xfrm>
            <a:off x="247680" y="1000000"/>
            <a:ext cx="4206240" cy="4100000"/>
          </a:xfrm>
          <a:prstGeom prst="rect">
            <a:avLst/>
          </a:prstGeom>
          <a:solidFill>
            <a:srgbClr val="1A2E4A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QPanelHdr"/>
          <p:cNvSpPr/>
          <p:nvPr/>
        </p:nvSpPr>
        <p:spPr>
          <a:xfrm>
            <a:off x="247680" y="1000000"/>
            <a:ext cx="4206240" cy="146000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7" name="QPanelHdrTxt"/>
          <p:cNvSpPr/>
          <p:nvPr/>
        </p:nvSpPr>
        <p:spPr>
          <a:xfrm>
            <a:off x="339120" y="1036576"/>
            <a:ext cx="40233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확인 질문</a:t>
            </a:r>
            <a:endParaRPr lang="en-US" dirty="0"/>
          </a:p>
        </p:txBody>
      </p:sp>
      <p:sp>
        <p:nvSpPr>
          <p:cNvPr id="8" name="Q0Bg"/>
          <p:cNvSpPr/>
          <p:nvPr/>
        </p:nvSpPr>
        <p:spPr>
          <a:xfrm>
            <a:off x="339120" y="1182880"/>
            <a:ext cx="4023360" cy="690000"/>
          </a:xfrm>
          <a:prstGeom prst="rect">
            <a:avLst/>
          </a:prstGeom>
          <a:solidFill>
            <a:srgbClr val="0D1B2A"/>
          </a:solidFill>
          <a:ln w="9525">
            <a:solidFill>
              <a:srgbClr val="8B9BB4"/>
            </a:solidFill>
            <a:prstDash val="solid"/>
          </a:ln>
        </p:spPr>
      </p:sp>
      <p:sp>
        <p:nvSpPr>
          <p:cNvPr id="9" name="Q0Txt"/>
          <p:cNvSpPr/>
          <p:nvPr/>
        </p:nvSpPr>
        <p:spPr>
          <a:xfrm>
            <a:off x="430560" y="1274320"/>
            <a:ext cx="3840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@RequestParam vs @PathVariable 사용 시점은?</a:t>
            </a:r>
            <a:endParaRPr lang="en-US" dirty="0"/>
          </a:p>
        </p:txBody>
      </p:sp>
      <p:sp>
        <p:nvSpPr>
          <p:cNvPr id="10" name="Q1Bg"/>
          <p:cNvSpPr/>
          <p:nvPr/>
        </p:nvSpPr>
        <p:spPr>
          <a:xfrm>
            <a:off x="339120" y="1912880"/>
            <a:ext cx="4023360" cy="690000"/>
          </a:xfrm>
          <a:prstGeom prst="rect">
            <a:avLst/>
          </a:prstGeom>
          <a:solidFill>
            <a:srgbClr val="0D1B2A"/>
          </a:solidFill>
          <a:ln w="9525">
            <a:solidFill>
              <a:srgbClr val="8B9BB4"/>
            </a:solidFill>
            <a:prstDash val="solid"/>
          </a:ln>
        </p:spPr>
      </p:sp>
      <p:sp>
        <p:nvSpPr>
          <p:cNvPr id="11" name="Q1Txt"/>
          <p:cNvSpPr/>
          <p:nvPr/>
        </p:nvSpPr>
        <p:spPr>
          <a:xfrm>
            <a:off x="430560" y="2004320"/>
            <a:ext cx="3840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HTML form name 속성과 DTO 필드명이 달라지면?</a:t>
            </a:r>
            <a:endParaRPr lang="en-US" dirty="0"/>
          </a:p>
        </p:txBody>
      </p:sp>
      <p:sp>
        <p:nvSpPr>
          <p:cNvPr id="12" name="Q2Bg"/>
          <p:cNvSpPr/>
          <p:nvPr/>
        </p:nvSpPr>
        <p:spPr>
          <a:xfrm>
            <a:off x="339120" y="2642880"/>
            <a:ext cx="4023360" cy="690000"/>
          </a:xfrm>
          <a:prstGeom prst="rect">
            <a:avLst/>
          </a:prstGeom>
          <a:solidFill>
            <a:srgbClr val="0D1B2A"/>
          </a:solidFill>
          <a:ln w="9525">
            <a:solidFill>
              <a:srgbClr val="8B9BB4"/>
            </a:solidFill>
            <a:prstDash val="solid"/>
          </a:ln>
        </p:spPr>
      </p:sp>
      <p:sp>
        <p:nvSpPr>
          <p:cNvPr id="13" name="Q2Txt"/>
          <p:cNvSpPr/>
          <p:nvPr/>
        </p:nvSpPr>
        <p:spPr>
          <a:xfrm>
            <a:off x="430560" y="2734320"/>
            <a:ext cx="3840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GET /orders/new와 POST /orders 분리 이유는?</a:t>
            </a:r>
            <a:endParaRPr lang="en-US" dirty="0"/>
          </a:p>
        </p:txBody>
      </p:sp>
      <p:sp>
        <p:nvSpPr>
          <p:cNvPr id="14" name="Q3Bg"/>
          <p:cNvSpPr/>
          <p:nvPr/>
        </p:nvSpPr>
        <p:spPr>
          <a:xfrm>
            <a:off x="339120" y="3372880"/>
            <a:ext cx="4023360" cy="690000"/>
          </a:xfrm>
          <a:prstGeom prst="rect">
            <a:avLst/>
          </a:prstGeom>
          <a:solidFill>
            <a:srgbClr val="0D1B2A"/>
          </a:solidFill>
          <a:ln w="9525">
            <a:solidFill>
              <a:srgbClr val="8B9BB4"/>
            </a:solidFill>
            <a:prstDash val="solid"/>
          </a:ln>
        </p:spPr>
      </p:sp>
      <p:sp>
        <p:nvSpPr>
          <p:cNvPr id="15" name="Q3Txt"/>
          <p:cNvSpPr/>
          <p:nvPr/>
        </p:nvSpPr>
        <p:spPr>
          <a:xfrm>
            <a:off x="430560" y="3464320"/>
            <a:ext cx="3840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POST 한글 깨짐을 막기 위한 설정은?</a:t>
            </a:r>
            <a:endParaRPr lang="en-US" dirty="0"/>
          </a:p>
        </p:txBody>
      </p:sp>
      <p:sp>
        <p:nvSpPr>
          <p:cNvPr id="16" name="Q4Bg"/>
          <p:cNvSpPr/>
          <p:nvPr/>
        </p:nvSpPr>
        <p:spPr>
          <a:xfrm>
            <a:off x="339120" y="4102880"/>
            <a:ext cx="4023360" cy="690000"/>
          </a:xfrm>
          <a:prstGeom prst="rect">
            <a:avLst/>
          </a:prstGeom>
          <a:solidFill>
            <a:srgbClr val="0D1B2A"/>
          </a:solidFill>
          <a:ln w="9525">
            <a:solidFill>
              <a:srgbClr val="8B9BB4"/>
            </a:solidFill>
            <a:prstDash val="solid"/>
          </a:ln>
        </p:spPr>
      </p:sp>
      <p:sp>
        <p:nvSpPr>
          <p:cNvPr id="17" name="Q4Txt"/>
          <p:cNvSpPr/>
          <p:nvPr/>
        </p:nvSpPr>
        <p:spPr>
          <a:xfrm>
            <a:off x="430560" y="4194320"/>
            <a:ext cx="3840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List 데이터 반복 출력에 쓰는 JSTL 태그는?</a:t>
            </a:r>
            <a:endParaRPr lang="en-US" dirty="0"/>
          </a:p>
        </p:txBody>
      </p:sp>
      <p:sp>
        <p:nvSpPr>
          <p:cNvPr id="18" name="NextPanel"/>
          <p:cNvSpPr/>
          <p:nvPr/>
        </p:nvSpPr>
        <p:spPr>
          <a:xfrm>
            <a:off x="4704480" y="1000000"/>
            <a:ext cx="4191840" cy="4100000"/>
          </a:xfrm>
          <a:prstGeom prst="rect">
            <a:avLst/>
          </a:prstGeom>
          <a:solidFill>
            <a:srgbClr val="1A2E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NextPanelHdr"/>
          <p:cNvSpPr/>
          <p:nvPr/>
        </p:nvSpPr>
        <p:spPr>
          <a:xfrm>
            <a:off x="4704480" y="1000000"/>
            <a:ext cx="4191840" cy="14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NextPanelHdrTxt"/>
          <p:cNvSpPr/>
          <p:nvPr/>
        </p:nvSpPr>
        <p:spPr>
          <a:xfrm>
            <a:off x="4795920" y="1036576"/>
            <a:ext cx="400896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08 예고 — 게시판 CRUD</a:t>
            </a:r>
            <a:endParaRPr lang="en-US" dirty="0"/>
          </a:p>
        </p:txBody>
      </p:sp>
      <p:sp>
        <p:nvSpPr>
          <p:cNvPr id="21" name="Next0Bg"/>
          <p:cNvSpPr/>
          <p:nvPr/>
        </p:nvSpPr>
        <p:spPr>
          <a:xfrm>
            <a:off x="4795920" y="1182880"/>
            <a:ext cx="4008960" cy="700000"/>
          </a:xfrm>
          <a:prstGeom prst="rect">
            <a:avLst/>
          </a:prstGeom>
          <a:solidFill>
            <a:srgbClr val="0D1B2A"/>
          </a:solidFill>
          <a:ln w="9525">
            <a:solidFill>
              <a:srgbClr val="F4511E"/>
            </a:solidFill>
            <a:prstDash val="solid"/>
          </a:ln>
        </p:spPr>
      </p:sp>
      <p:sp>
        <p:nvSpPr>
          <p:cNvPr id="22" name="Next0Ann"/>
          <p:cNvSpPr/>
          <p:nvPr/>
        </p:nvSpPr>
        <p:spPr>
          <a:xfrm>
            <a:off x="4887360" y="127432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1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endParaRPr lang="en-US" dirty="0"/>
          </a:p>
        </p:txBody>
      </p:sp>
      <p:sp>
        <p:nvSpPr>
          <p:cNvPr id="23" name="Next0Desc"/>
          <p:cNvSpPr/>
          <p:nvPr/>
        </p:nvSpPr>
        <p:spPr>
          <a:xfrm>
            <a:off x="4887360" y="156288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게시글 목록 페이징, 검색어 처리</a:t>
            </a:r>
            <a:endParaRPr lang="en-US" dirty="0"/>
          </a:p>
        </p:txBody>
      </p:sp>
      <p:sp>
        <p:nvSpPr>
          <p:cNvPr id="24" name="Next1Bg"/>
          <p:cNvSpPr/>
          <p:nvPr/>
        </p:nvSpPr>
        <p:spPr>
          <a:xfrm>
            <a:off x="4795920" y="1932880"/>
            <a:ext cx="4008960" cy="700000"/>
          </a:xfrm>
          <a:prstGeom prst="rect">
            <a:avLst/>
          </a:prstGeom>
          <a:solidFill>
            <a:srgbClr val="0D1B2A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25" name="Next1Ann"/>
          <p:cNvSpPr/>
          <p:nvPr/>
        </p:nvSpPr>
        <p:spPr>
          <a:xfrm>
            <a:off x="4887360" y="202432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PRG 패턴 적용</a:t>
            </a:r>
            <a:endParaRPr lang="en-US" dirty="0"/>
          </a:p>
        </p:txBody>
      </p:sp>
      <p:sp>
        <p:nvSpPr>
          <p:cNvPr id="26" name="Next1Desc"/>
          <p:cNvSpPr/>
          <p:nvPr/>
        </p:nvSpPr>
        <p:spPr>
          <a:xfrm>
            <a:off x="4887360" y="231288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등록/수정/삭제 후 redirect로 중복 방지</a:t>
            </a:r>
            <a:endParaRPr lang="en-US" dirty="0"/>
          </a:p>
        </p:txBody>
      </p:sp>
      <p:sp>
        <p:nvSpPr>
          <p:cNvPr id="27" name="Next2Bg"/>
          <p:cNvSpPr/>
          <p:nvPr/>
        </p:nvSpPr>
        <p:spPr>
          <a:xfrm>
            <a:off x="4795920" y="2682880"/>
            <a:ext cx="4008960" cy="700000"/>
          </a:xfrm>
          <a:prstGeom prst="rect">
            <a:avLst/>
          </a:prstGeom>
          <a:solidFill>
            <a:srgbClr val="0D1B2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28" name="Next2Ann"/>
          <p:cNvSpPr/>
          <p:nvPr/>
        </p:nvSpPr>
        <p:spPr>
          <a:xfrm>
            <a:off x="4887360" y="277432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endParaRPr lang="en-US" dirty="0"/>
          </a:p>
        </p:txBody>
      </p:sp>
      <p:sp>
        <p:nvSpPr>
          <p:cNvPr id="29" name="Next2Desc"/>
          <p:cNvSpPr/>
          <p:nvPr/>
        </p:nvSpPr>
        <p:spPr>
          <a:xfrm>
            <a:off x="4887360" y="306288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/boards/{boardId} 상세/수정/삭제</a:t>
            </a:r>
            <a:endParaRPr lang="en-US" dirty="0"/>
          </a:p>
        </p:txBody>
      </p:sp>
      <p:sp>
        <p:nvSpPr>
          <p:cNvPr id="30" name="Next3Bg"/>
          <p:cNvSpPr/>
          <p:nvPr/>
        </p:nvSpPr>
        <p:spPr>
          <a:xfrm>
            <a:off x="4795920" y="3432880"/>
            <a:ext cx="4008960" cy="700000"/>
          </a:xfrm>
          <a:prstGeom prst="rect">
            <a:avLst/>
          </a:prstGeom>
          <a:solidFill>
            <a:srgbClr val="0D1B2A"/>
          </a:solidFill>
          <a:ln w="9525">
            <a:solidFill>
              <a:srgbClr val="7B1FA2"/>
            </a:solidFill>
            <a:prstDash val="solid"/>
          </a:ln>
        </p:spPr>
      </p:sp>
      <p:sp>
        <p:nvSpPr>
          <p:cNvPr id="31" name="Next3Ann"/>
          <p:cNvSpPr/>
          <p:nvPr/>
        </p:nvSpPr>
        <p:spPr>
          <a:xfrm>
            <a:off x="4887360" y="352432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JSTL 실전 활용</a:t>
            </a:r>
            <a:endParaRPr lang="en-US" dirty="0"/>
          </a:p>
        </p:txBody>
      </p:sp>
      <p:sp>
        <p:nvSpPr>
          <p:cNvPr id="32" name="Next3Desc"/>
          <p:cNvSpPr/>
          <p:nvPr/>
        </p:nvSpPr>
        <p:spPr>
          <a:xfrm>
            <a:off x="4887360" y="381288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반복, 조건 분기, 페이징 UI</a:t>
            </a:r>
            <a:endParaRPr lang="en-US" dirty="0"/>
          </a:p>
        </p:txBody>
      </p:sp>
      <p:sp>
        <p:nvSpPr>
          <p:cNvPr id="33" name="Next4Bg"/>
          <p:cNvSpPr/>
          <p:nvPr/>
        </p:nvSpPr>
        <p:spPr>
          <a:xfrm>
            <a:off x="4795920" y="4182880"/>
            <a:ext cx="4008960" cy="700000"/>
          </a:xfrm>
          <a:prstGeom prst="rect">
            <a:avLst/>
          </a:prstGeom>
          <a:solidFill>
            <a:srgbClr val="0D1B2A"/>
          </a:solidFill>
          <a:ln w="9525">
            <a:solidFill>
              <a:srgbClr val="F9A825"/>
            </a:solidFill>
            <a:prstDash val="solid"/>
          </a:ln>
        </p:spPr>
      </p:sp>
      <p:sp>
        <p:nvSpPr>
          <p:cNvPr id="34" name="Next4Ann"/>
          <p:cNvSpPr/>
          <p:nvPr/>
        </p:nvSpPr>
        <p:spPr>
          <a:xfrm>
            <a:off x="4887360" y="427432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@ModelAttribute</a:t>
            </a:r>
            <a:endParaRPr lang="en-US" dirty="0"/>
          </a:p>
        </p:txBody>
      </p:sp>
      <p:sp>
        <p:nvSpPr>
          <p:cNvPr id="35" name="Next4Desc"/>
          <p:cNvSpPr/>
          <p:nvPr/>
        </p:nvSpPr>
        <p:spPr>
          <a:xfrm>
            <a:off x="4887360" y="4562880"/>
            <a:ext cx="3826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게시글 등록/수정 폼 DTO 바인딩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6일차 - Spring MVC ①</dc:title>
  <dc:subject>PptxGenJS Presentation</dc:subject>
  <dc:creator>PptxGenJS</dc:creator>
  <cp:lastModifiedBy>PptxGenJS</cp:lastModifiedBy>
  <cp:revision>1</cp:revision>
  <dcterms:created xsi:type="dcterms:W3CDTF">2026-05-25T16:52:25Z</dcterms:created>
  <dcterms:modified xsi:type="dcterms:W3CDTF">2026-05-25T16:52:25Z</dcterms:modified>
</cp:coreProperties>
</file>