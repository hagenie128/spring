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74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RightPanel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RightAccent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LabelBg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6" name="Course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dirty="0"/>
          </a:p>
        </p:txBody>
      </p:sp>
      <p:sp>
        <p:nvSpPr>
          <p:cNvPr id="7" name="Title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③</a:t>
            </a:r>
            <a:endParaRPr lang="en-US" dirty="0"/>
          </a:p>
        </p:txBody>
      </p:sp>
      <p:sp>
        <p:nvSpPr>
          <p:cNvPr id="8" name="Sub"/>
          <p:cNvSpPr/>
          <p:nvPr/>
        </p:nvSpPr>
        <p:spPr>
          <a:xfrm>
            <a:off x="457200" y="1847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· 파일 업로드 · Interceptor · CRUD</a:t>
            </a:r>
            <a:endParaRPr lang="en-US" dirty="0"/>
          </a:p>
        </p:txBody>
      </p:sp>
      <p:sp>
        <p:nvSpPr>
          <p:cNvPr id="9" name="DayBadge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DayNum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08</a:t>
            </a:r>
            <a:endParaRPr lang="en-US" dirty="0"/>
          </a:p>
        </p:txBody>
      </p:sp>
      <p:sp>
        <p:nvSpPr>
          <p:cNvPr id="11" name="Prereq"/>
          <p:cNvSpPr/>
          <p:nvPr/>
        </p:nvSpPr>
        <p:spPr>
          <a:xfrm>
            <a:off x="1691640" y="23957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6~7일차 완료</a:t>
            </a:r>
            <a:endParaRPr lang="en-US" dirty="0"/>
          </a:p>
        </p:txBody>
      </p:sp>
      <p:sp>
        <p:nvSpPr>
          <p:cNvPr id="12" name="SLabel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dirty="0"/>
          </a:p>
        </p:txBody>
      </p:sp>
      <p:sp>
        <p:nvSpPr>
          <p:cNvPr id="13" name="STime0"/>
          <p:cNvSpPr/>
          <p:nvPr/>
        </p:nvSpPr>
        <p:spPr>
          <a:xfrm>
            <a:off x="6080760" y="1224400"/>
            <a:ext cx="29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09:00~11:00</a:t>
            </a:r>
            <a:endParaRPr lang="en-US" dirty="0"/>
          </a:p>
        </p:txBody>
      </p:sp>
      <p:sp>
        <p:nvSpPr>
          <p:cNvPr id="14" name="SDesc0"/>
          <p:cNvSpPr/>
          <p:nvPr/>
        </p:nvSpPr>
        <p:spPr>
          <a:xfrm>
            <a:off x="6080760" y="1474400"/>
            <a:ext cx="2926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+ JSON API</a:t>
            </a:r>
            <a:endParaRPr lang="en-US" dirty="0"/>
          </a:p>
        </p:txBody>
      </p:sp>
      <p:sp>
        <p:nvSpPr>
          <p:cNvPr id="15" name="SLabel1"/>
          <p:cNvSpPr/>
          <p:nvPr/>
        </p:nvSpPr>
        <p:spPr>
          <a:xfrm>
            <a:off x="6080760" y="196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dirty="0"/>
          </a:p>
        </p:txBody>
      </p:sp>
      <p:sp>
        <p:nvSpPr>
          <p:cNvPr id="16" name="STime1"/>
          <p:cNvSpPr/>
          <p:nvPr/>
        </p:nvSpPr>
        <p:spPr>
          <a:xfrm>
            <a:off x="6080760" y="2274400"/>
            <a:ext cx="29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11:00~13:00</a:t>
            </a:r>
            <a:endParaRPr lang="en-US" dirty="0"/>
          </a:p>
        </p:txBody>
      </p:sp>
      <p:sp>
        <p:nvSpPr>
          <p:cNvPr id="17" name="SDesc1"/>
          <p:cNvSpPr/>
          <p:nvPr/>
        </p:nvSpPr>
        <p:spPr>
          <a:xfrm>
            <a:off x="6080760" y="2524400"/>
            <a:ext cx="2926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(MultipartFile)</a:t>
            </a:r>
            <a:endParaRPr lang="en-US" dirty="0"/>
          </a:p>
        </p:txBody>
      </p:sp>
      <p:sp>
        <p:nvSpPr>
          <p:cNvPr id="18" name="SLabel2"/>
          <p:cNvSpPr/>
          <p:nvPr/>
        </p:nvSpPr>
        <p:spPr>
          <a:xfrm>
            <a:off x="6080760" y="30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</a:t>
            </a:r>
            <a:endParaRPr lang="en-US" dirty="0"/>
          </a:p>
        </p:txBody>
      </p:sp>
      <p:sp>
        <p:nvSpPr>
          <p:cNvPr id="19" name="STime2"/>
          <p:cNvSpPr/>
          <p:nvPr/>
        </p:nvSpPr>
        <p:spPr>
          <a:xfrm>
            <a:off x="6080760" y="3324400"/>
            <a:ext cx="29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14:00~16:00</a:t>
            </a:r>
            <a:endParaRPr lang="en-US" dirty="0"/>
          </a:p>
        </p:txBody>
      </p:sp>
      <p:sp>
        <p:nvSpPr>
          <p:cNvPr id="20" name="SDesc2"/>
          <p:cNvSpPr/>
          <p:nvPr/>
        </p:nvSpPr>
        <p:spPr>
          <a:xfrm>
            <a:off x="6080760" y="3574400"/>
            <a:ext cx="2926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 로그인 체크</a:t>
            </a:r>
            <a:endParaRPr lang="en-US" dirty="0"/>
          </a:p>
        </p:txBody>
      </p:sp>
      <p:sp>
        <p:nvSpPr>
          <p:cNvPr id="21" name="SLabel3"/>
          <p:cNvSpPr/>
          <p:nvPr/>
        </p:nvSpPr>
        <p:spPr>
          <a:xfrm>
            <a:off x="6080760" y="406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4</a:t>
            </a:r>
            <a:endParaRPr lang="en-US" dirty="0"/>
          </a:p>
        </p:txBody>
      </p:sp>
      <p:sp>
        <p:nvSpPr>
          <p:cNvPr id="22" name="STime3"/>
          <p:cNvSpPr/>
          <p:nvPr/>
        </p:nvSpPr>
        <p:spPr>
          <a:xfrm>
            <a:off x="6080760" y="4374400"/>
            <a:ext cx="29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16:00~18:00</a:t>
            </a:r>
            <a:endParaRPr lang="en-US" dirty="0"/>
          </a:p>
        </p:txBody>
      </p:sp>
      <p:sp>
        <p:nvSpPr>
          <p:cNvPr id="23" name="SDesc3"/>
          <p:cNvSpPr/>
          <p:nvPr/>
        </p:nvSpPr>
        <p:spPr>
          <a:xfrm>
            <a:off x="6080760" y="4624400"/>
            <a:ext cx="29260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구현</a:t>
            </a:r>
            <a:endParaRPr lang="en-US" dirty="0"/>
          </a:p>
        </p:txBody>
      </p:sp>
      <p:sp>
        <p:nvSpPr>
          <p:cNvPr id="24" name="Ftr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5" name="FtrTxt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Jakarta EE  ·  Tomcat 10.1+  ·  Jackson 2.17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dirty="0"/>
          </a:p>
        </p:txBody>
      </p:sp>
      <p:sp>
        <p:nvSpPr>
          <p:cNvPr id="6" name="CardBg01"/>
          <p:cNvSpPr/>
          <p:nvPr/>
        </p:nvSpPr>
        <p:spPr>
          <a:xfrm>
            <a:off x="247680" y="118872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CardHdr01"/>
          <p:cNvSpPr/>
          <p:nvPr/>
        </p:nvSpPr>
        <p:spPr>
          <a:xfrm>
            <a:off x="247680" y="1188720"/>
            <a:ext cx="4206240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CardNum01"/>
          <p:cNvSpPr/>
          <p:nvPr/>
        </p:nvSpPr>
        <p:spPr>
          <a:xfrm>
            <a:off x="3391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9" name="CardTxt01"/>
          <p:cNvSpPr/>
          <p:nvPr/>
        </p:nvSpPr>
        <p:spPr>
          <a:xfrm>
            <a:off x="339120" y="166464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+ JSON 응답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Jackson을 통해 객체를 JSON으로 직렬화하는 REST API 작성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vs @Controller 처리 흐름 차이 설명 가능</a:t>
            </a:r>
            <a:endParaRPr lang="en-US" dirty="0"/>
          </a:p>
        </p:txBody>
      </p:sp>
      <p:sp>
        <p:nvSpPr>
          <p:cNvPr id="10" name="CardBg02"/>
          <p:cNvSpPr/>
          <p:nvPr/>
        </p:nvSpPr>
        <p:spPr>
          <a:xfrm>
            <a:off x="4704480" y="118872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CardHdr02"/>
          <p:cNvSpPr/>
          <p:nvPr/>
        </p:nvSpPr>
        <p:spPr>
          <a:xfrm>
            <a:off x="4704480" y="1188720"/>
            <a:ext cx="4206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CardNum02"/>
          <p:cNvSpPr/>
          <p:nvPr/>
        </p:nvSpPr>
        <p:spPr>
          <a:xfrm>
            <a:off x="4795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3" name="CardTxt02"/>
          <p:cNvSpPr/>
          <p:nvPr/>
        </p:nvSpPr>
        <p:spPr>
          <a:xfrm>
            <a:off x="4795920" y="166464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MultipartFile 파일 업로드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StandardServletMultipartResolver로 파일 업로드 3단계 구현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파일명, 크기, MIME 타입 확인 및 transferTo() 저장 이해</a:t>
            </a:r>
            <a:endParaRPr lang="en-US" dirty="0"/>
          </a:p>
        </p:txBody>
      </p:sp>
      <p:sp>
        <p:nvSpPr>
          <p:cNvPr id="14" name="CardBg03"/>
          <p:cNvSpPr/>
          <p:nvPr/>
        </p:nvSpPr>
        <p:spPr>
          <a:xfrm>
            <a:off x="247680" y="292608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CardHdr03"/>
          <p:cNvSpPr/>
          <p:nvPr/>
        </p:nvSpPr>
        <p:spPr>
          <a:xfrm>
            <a:off x="247680" y="2926080"/>
            <a:ext cx="420624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CardNum03"/>
          <p:cNvSpPr/>
          <p:nvPr/>
        </p:nvSpPr>
        <p:spPr>
          <a:xfrm>
            <a:off x="3391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17" name="CardTxt03"/>
          <p:cNvSpPr/>
          <p:nvPr/>
        </p:nvSpPr>
        <p:spPr>
          <a:xfrm>
            <a:off x="339120" y="340200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 로그인 체크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preHandle/postHandle/afterCompletion 역할 설명 가능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LoginCheckInterceptor 작성 + dispatcher-context.xml 등록</a:t>
            </a:r>
            <a:endParaRPr lang="en-US" dirty="0"/>
          </a:p>
        </p:txBody>
      </p:sp>
      <p:sp>
        <p:nvSpPr>
          <p:cNvPr id="18" name="CardBg04"/>
          <p:cNvSpPr/>
          <p:nvPr/>
        </p:nvSpPr>
        <p:spPr>
          <a:xfrm>
            <a:off x="4704480" y="292608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CardHdr04"/>
          <p:cNvSpPr/>
          <p:nvPr/>
        </p:nvSpPr>
        <p:spPr>
          <a:xfrm>
            <a:off x="4704480" y="2926080"/>
            <a:ext cx="4206240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CardNum04"/>
          <p:cNvSpPr/>
          <p:nvPr/>
        </p:nvSpPr>
        <p:spPr>
          <a:xfrm>
            <a:off x="47959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21" name="CardTxt04"/>
          <p:cNvSpPr/>
          <p:nvPr/>
        </p:nvSpPr>
        <p:spPr>
          <a:xfrm>
            <a:off x="4795920" y="340200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(in-memory)</a:t>
            </a:r>
            <a:endParaRPr lang="en-US" dirty="0"/>
          </a:p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목록/등록/상세/삭제 기능을 Spring MVC + PRG 패턴으로 구현</a:t>
            </a:r>
            <a:endParaRPr lang="en-US" dirty="0"/>
          </a:p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AtomicLong 자동 ID 생성, 방어적 복사 이해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vs @RestController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  —  뷰가 아닌 데이터를 반환한다</a:t>
            </a:r>
            <a:endParaRPr lang="en-US" dirty="0"/>
          </a:p>
        </p:txBody>
      </p:sp>
      <p:sp>
        <p:nvSpPr>
          <p:cNvPr id="6" name="L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LHdr"/>
          <p:cNvSpPr/>
          <p:nvPr/>
        </p:nvSpPr>
        <p:spPr>
          <a:xfrm>
            <a:off x="247680" y="1170432"/>
            <a:ext cx="42062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LHdrTxt"/>
          <p:cNvSpPr/>
          <p:nvPr/>
        </p:nvSpPr>
        <p:spPr>
          <a:xfrm>
            <a:off x="339120" y="1207008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— 뷰 반환</a:t>
            </a:r>
            <a:endParaRPr lang="en-US" dirty="0"/>
          </a:p>
        </p:txBody>
      </p:sp>
      <p:sp>
        <p:nvSpPr>
          <p:cNvPr id="9" name="LF0Bg"/>
          <p:cNvSpPr/>
          <p:nvPr/>
        </p:nvSpPr>
        <p:spPr>
          <a:xfrm>
            <a:off x="339120" y="1353312"/>
            <a:ext cx="40233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LF0Step"/>
          <p:cNvSpPr/>
          <p:nvPr/>
        </p:nvSpPr>
        <p:spPr>
          <a:xfrm>
            <a:off x="430560" y="1408176"/>
            <a:ext cx="3840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</a:t>
            </a:r>
            <a:endParaRPr lang="en-US" dirty="0"/>
          </a:p>
        </p:txBody>
      </p:sp>
      <p:sp>
        <p:nvSpPr>
          <p:cNvPr id="11" name="LF0Desc"/>
          <p:cNvSpPr/>
          <p:nvPr/>
        </p:nvSpPr>
        <p:spPr>
          <a:xfrm>
            <a:off x="430560" y="1683312"/>
            <a:ext cx="38404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/board/list</a:t>
            </a:r>
            <a:endParaRPr lang="en-US" dirty="0"/>
          </a:p>
        </p:txBody>
      </p:sp>
      <p:sp>
        <p:nvSpPr>
          <p:cNvPr id="12" name="LArr0"/>
          <p:cNvSpPr/>
          <p:nvPr/>
        </p:nvSpPr>
        <p:spPr>
          <a:xfrm>
            <a:off x="2250800" y="199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13" name="LF1Bg"/>
          <p:cNvSpPr/>
          <p:nvPr/>
        </p:nvSpPr>
        <p:spPr>
          <a:xfrm>
            <a:off x="339120" y="2033312"/>
            <a:ext cx="40233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4" name="LF1Step"/>
          <p:cNvSpPr/>
          <p:nvPr/>
        </p:nvSpPr>
        <p:spPr>
          <a:xfrm>
            <a:off x="430560" y="2088176"/>
            <a:ext cx="3840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</a:t>
            </a:r>
            <a:endParaRPr lang="en-US" dirty="0"/>
          </a:p>
        </p:txBody>
      </p:sp>
      <p:sp>
        <p:nvSpPr>
          <p:cNvPr id="15" name="LF1Desc"/>
          <p:cNvSpPr/>
          <p:nvPr/>
        </p:nvSpPr>
        <p:spPr>
          <a:xfrm>
            <a:off x="430560" y="2363312"/>
            <a:ext cx="38404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 Controller</a:t>
            </a:r>
            <a:endParaRPr lang="en-US" dirty="0"/>
          </a:p>
        </p:txBody>
      </p:sp>
      <p:sp>
        <p:nvSpPr>
          <p:cNvPr id="16" name="LArr1"/>
          <p:cNvSpPr/>
          <p:nvPr/>
        </p:nvSpPr>
        <p:spPr>
          <a:xfrm>
            <a:off x="2250800" y="267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17" name="LF2Bg"/>
          <p:cNvSpPr/>
          <p:nvPr/>
        </p:nvSpPr>
        <p:spPr>
          <a:xfrm>
            <a:off x="339120" y="2713312"/>
            <a:ext cx="40233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8" name="LF2Step"/>
          <p:cNvSpPr/>
          <p:nvPr/>
        </p:nvSpPr>
        <p:spPr>
          <a:xfrm>
            <a:off x="430560" y="2768176"/>
            <a:ext cx="3840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HandlerAdapter → Controller</a:t>
            </a:r>
            <a:endParaRPr lang="en-US" dirty="0"/>
          </a:p>
        </p:txBody>
      </p:sp>
      <p:sp>
        <p:nvSpPr>
          <p:cNvPr id="19" name="LF2Desc"/>
          <p:cNvSpPr/>
          <p:nvPr/>
        </p:nvSpPr>
        <p:spPr>
          <a:xfrm>
            <a:off x="430560" y="3043312"/>
            <a:ext cx="38404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"board/list";</a:t>
            </a:r>
            <a:endParaRPr lang="en-US" dirty="0"/>
          </a:p>
        </p:txBody>
      </p:sp>
      <p:sp>
        <p:nvSpPr>
          <p:cNvPr id="20" name="LArr2"/>
          <p:cNvSpPr/>
          <p:nvPr/>
        </p:nvSpPr>
        <p:spPr>
          <a:xfrm>
            <a:off x="2250800" y="335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21" name="LF3Bg"/>
          <p:cNvSpPr/>
          <p:nvPr/>
        </p:nvSpPr>
        <p:spPr>
          <a:xfrm>
            <a:off x="339120" y="3393312"/>
            <a:ext cx="40233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2" name="LF3Step"/>
          <p:cNvSpPr/>
          <p:nvPr/>
        </p:nvSpPr>
        <p:spPr>
          <a:xfrm>
            <a:off x="430560" y="3448176"/>
            <a:ext cx="3840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ViewResolver</a:t>
            </a:r>
            <a:endParaRPr lang="en-US" dirty="0"/>
          </a:p>
        </p:txBody>
      </p:sp>
      <p:sp>
        <p:nvSpPr>
          <p:cNvPr id="23" name="LF3Desc"/>
          <p:cNvSpPr/>
          <p:nvPr/>
        </p:nvSpPr>
        <p:spPr>
          <a:xfrm>
            <a:off x="430560" y="3723312"/>
            <a:ext cx="38404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뷰 이름 → /WEB-INF/views/board/list.jsp</a:t>
            </a:r>
            <a:endParaRPr lang="en-US" dirty="0"/>
          </a:p>
        </p:txBody>
      </p:sp>
      <p:sp>
        <p:nvSpPr>
          <p:cNvPr id="24" name="LArr3"/>
          <p:cNvSpPr/>
          <p:nvPr/>
        </p:nvSpPr>
        <p:spPr>
          <a:xfrm>
            <a:off x="2250800" y="403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25" name="LF4Bg"/>
          <p:cNvSpPr/>
          <p:nvPr/>
        </p:nvSpPr>
        <p:spPr>
          <a:xfrm>
            <a:off x="339120" y="4073312"/>
            <a:ext cx="40233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26" name="LF4Step"/>
          <p:cNvSpPr/>
          <p:nvPr/>
        </p:nvSpPr>
        <p:spPr>
          <a:xfrm>
            <a:off x="430560" y="4128176"/>
            <a:ext cx="3840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렌더링 → HTML 응답</a:t>
            </a:r>
            <a:endParaRPr lang="en-US" dirty="0"/>
          </a:p>
        </p:txBody>
      </p:sp>
      <p:sp>
        <p:nvSpPr>
          <p:cNvPr id="27" name="LF4Desc"/>
          <p:cNvSpPr/>
          <p:nvPr/>
        </p:nvSpPr>
        <p:spPr>
          <a:xfrm>
            <a:off x="430560" y="4403312"/>
            <a:ext cx="38404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브라우저가 HTML을 받음</a:t>
            </a:r>
            <a:endParaRPr lang="en-US" dirty="0"/>
          </a:p>
        </p:txBody>
      </p:sp>
      <p:sp>
        <p:nvSpPr>
          <p:cNvPr id="29" name="RBg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RHdr"/>
          <p:cNvSpPr/>
          <p:nvPr/>
        </p:nvSpPr>
        <p:spPr>
          <a:xfrm>
            <a:off x="4704480" y="1170432"/>
            <a:ext cx="4191840" cy="14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RHdrTxt"/>
          <p:cNvSpPr/>
          <p:nvPr/>
        </p:nvSpPr>
        <p:spPr>
          <a:xfrm>
            <a:off x="4795920" y="120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— 데이터 반환</a:t>
            </a:r>
            <a:endParaRPr lang="en-US" dirty="0"/>
          </a:p>
        </p:txBody>
      </p:sp>
      <p:sp>
        <p:nvSpPr>
          <p:cNvPr id="32" name="RF0Bg"/>
          <p:cNvSpPr/>
          <p:nvPr/>
        </p:nvSpPr>
        <p:spPr>
          <a:xfrm>
            <a:off x="4795920" y="1353312"/>
            <a:ext cx="40089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RF0Step"/>
          <p:cNvSpPr/>
          <p:nvPr/>
        </p:nvSpPr>
        <p:spPr>
          <a:xfrm>
            <a:off x="4887360" y="1408176"/>
            <a:ext cx="38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</a:t>
            </a:r>
            <a:endParaRPr lang="en-US" dirty="0"/>
          </a:p>
        </p:txBody>
      </p:sp>
      <p:sp>
        <p:nvSpPr>
          <p:cNvPr id="34" name="RF0Desc"/>
          <p:cNvSpPr/>
          <p:nvPr/>
        </p:nvSpPr>
        <p:spPr>
          <a:xfrm>
            <a:off x="4887360" y="1683312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</a:t>
            </a:r>
            <a:endParaRPr lang="en-US" dirty="0"/>
          </a:p>
        </p:txBody>
      </p:sp>
      <p:sp>
        <p:nvSpPr>
          <p:cNvPr id="35" name="RArr0"/>
          <p:cNvSpPr/>
          <p:nvPr/>
        </p:nvSpPr>
        <p:spPr>
          <a:xfrm>
            <a:off x="6700400" y="199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6" name="RF1Bg"/>
          <p:cNvSpPr/>
          <p:nvPr/>
        </p:nvSpPr>
        <p:spPr>
          <a:xfrm>
            <a:off x="4795920" y="2033312"/>
            <a:ext cx="40089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37" name="RF1Step"/>
          <p:cNvSpPr/>
          <p:nvPr/>
        </p:nvSpPr>
        <p:spPr>
          <a:xfrm>
            <a:off x="4887360" y="2088176"/>
            <a:ext cx="38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</a:t>
            </a:r>
            <a:endParaRPr lang="en-US" dirty="0"/>
          </a:p>
        </p:txBody>
      </p:sp>
      <p:sp>
        <p:nvSpPr>
          <p:cNvPr id="38" name="RF1Desc"/>
          <p:cNvSpPr/>
          <p:nvPr/>
        </p:nvSpPr>
        <p:spPr>
          <a:xfrm>
            <a:off x="4887360" y="2363312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 Controller</a:t>
            </a:r>
            <a:endParaRPr lang="en-US" dirty="0"/>
          </a:p>
        </p:txBody>
      </p:sp>
      <p:sp>
        <p:nvSpPr>
          <p:cNvPr id="39" name="RArr1"/>
          <p:cNvSpPr/>
          <p:nvPr/>
        </p:nvSpPr>
        <p:spPr>
          <a:xfrm>
            <a:off x="6700400" y="267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0" name="RF2Bg"/>
          <p:cNvSpPr/>
          <p:nvPr/>
        </p:nvSpPr>
        <p:spPr>
          <a:xfrm>
            <a:off x="4795920" y="2713312"/>
            <a:ext cx="40089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1" name="RF2Step"/>
          <p:cNvSpPr/>
          <p:nvPr/>
        </p:nvSpPr>
        <p:spPr>
          <a:xfrm>
            <a:off x="4887360" y="2768176"/>
            <a:ext cx="38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HandlerAdapter → @RestController</a:t>
            </a:r>
            <a:endParaRPr lang="en-US" dirty="0"/>
          </a:p>
        </p:txBody>
      </p:sp>
      <p:sp>
        <p:nvSpPr>
          <p:cNvPr id="42" name="RF2Desc"/>
          <p:cNvSpPr/>
          <p:nvPr/>
        </p:nvSpPr>
        <p:spPr>
          <a:xfrm>
            <a:off x="4887360" y="3043312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products; (List&lt;ProductDto&gt;)</a:t>
            </a:r>
            <a:endParaRPr lang="en-US" dirty="0"/>
          </a:p>
        </p:txBody>
      </p:sp>
      <p:sp>
        <p:nvSpPr>
          <p:cNvPr id="43" name="RArr2"/>
          <p:cNvSpPr/>
          <p:nvPr/>
        </p:nvSpPr>
        <p:spPr>
          <a:xfrm>
            <a:off x="6700400" y="335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4" name="RF3Bg"/>
          <p:cNvSpPr/>
          <p:nvPr/>
        </p:nvSpPr>
        <p:spPr>
          <a:xfrm>
            <a:off x="4795920" y="3393312"/>
            <a:ext cx="40089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45" name="RF3Step"/>
          <p:cNvSpPr/>
          <p:nvPr/>
        </p:nvSpPr>
        <p:spPr>
          <a:xfrm>
            <a:off x="4887360" y="3448176"/>
            <a:ext cx="38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HttpMessageConverter</a:t>
            </a:r>
            <a:endParaRPr lang="en-US" dirty="0"/>
          </a:p>
        </p:txBody>
      </p:sp>
      <p:sp>
        <p:nvSpPr>
          <p:cNvPr id="46" name="RF3Desc"/>
          <p:cNvSpPr/>
          <p:nvPr/>
        </p:nvSpPr>
        <p:spPr>
          <a:xfrm>
            <a:off x="4887360" y="3723312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MappingJackson2HttpMessageConverter 선택</a:t>
            </a:r>
            <a:endParaRPr lang="en-US" dirty="0"/>
          </a:p>
        </p:txBody>
      </p:sp>
      <p:sp>
        <p:nvSpPr>
          <p:cNvPr id="47" name="RArr3"/>
          <p:cNvSpPr/>
          <p:nvPr/>
        </p:nvSpPr>
        <p:spPr>
          <a:xfrm>
            <a:off x="6700400" y="4033312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8" name="RF4Bg"/>
          <p:cNvSpPr/>
          <p:nvPr/>
        </p:nvSpPr>
        <p:spPr>
          <a:xfrm>
            <a:off x="4795920" y="4073312"/>
            <a:ext cx="4008960" cy="630000"/>
          </a:xfrm>
          <a:prstGeom prst="rect">
            <a:avLst/>
          </a:prstGeom>
          <a:solidFill>
            <a:srgbClr val="F8FAFC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49" name="RF4Step"/>
          <p:cNvSpPr/>
          <p:nvPr/>
        </p:nvSpPr>
        <p:spPr>
          <a:xfrm>
            <a:off x="4887360" y="4128176"/>
            <a:ext cx="38260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직렬화 → {"id":1,...} 응답</a:t>
            </a:r>
            <a:endParaRPr lang="en-US" dirty="0"/>
          </a:p>
        </p:txBody>
      </p:sp>
      <p:sp>
        <p:nvSpPr>
          <p:cNvPr id="50" name="RF4Desc"/>
          <p:cNvSpPr/>
          <p:nvPr/>
        </p:nvSpPr>
        <p:spPr>
          <a:xfrm>
            <a:off x="4887360" y="4403312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ViewResolver 없음 — 뷰 렌더링 생략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설정 &amp;amp; @RestController 코드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pom.xml에 jackson-databind 하나 — @RestController가 자동으로 JSON 반환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155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136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 --&gt;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&lt;groupId&gt;com.fasterxml.jackson.core&lt;/groupId&gt;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&lt;artifactId&gt;jackson-databind&lt;/artifactId&gt;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&lt;version&gt;2.17.2&lt;/version&gt;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dispatcher-context.xml --&gt;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이 한 줄로 Jackson이 자동 등록됨 --&gt;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&lt;mvc:annotation-driven/&gt;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247680" y="2760432"/>
            <a:ext cx="4206240" cy="211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339120" y="2851872"/>
            <a:ext cx="4023360" cy="19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ProductDto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id;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price;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category;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ProductDto() {} // 기본 생성자 필수!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getter/setter 필수! (Jackson이 사용)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0" name="CodeBg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CodeTxt"/>
          <p:cNvSpPr/>
          <p:nvPr/>
        </p:nvSpPr>
        <p:spPr>
          <a:xfrm>
            <a:off x="4795920" y="1261872"/>
            <a:ext cx="40089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@RequestMapping("/api/products")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ProductRestController {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List&lt;ProductDto&gt; list()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products;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@GetMapping("/{id}")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ProductDto detail(@PathVariable Long id)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findById(id);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ProductDto create(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@RequestBody ProductDto dto)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dto.setId(nextId++);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products.add(dto);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dto;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2" name="FtrBg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FtrTxt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DTO에 기본 생성자 + getter 없으면 InvalidDefinitionException 발생  |  @RequestBody = JSON → 객체 역직렬화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— 3단계 설정 &amp;amp; MultipartFile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enctype=multipart/form-data 필수  |  StandardServletMultipartResolver (Spring 6.x 권장)</a:t>
            </a:r>
            <a:endParaRPr lang="en-US" dirty="0"/>
          </a:p>
        </p:txBody>
      </p:sp>
      <p:sp>
        <p:nvSpPr>
          <p:cNvPr id="6" name="Step0Bg"/>
          <p:cNvSpPr/>
          <p:nvPr/>
        </p:nvSpPr>
        <p:spPr>
          <a:xfrm>
            <a:off x="247680" y="1170432"/>
            <a:ext cx="4206240" cy="106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tep0Bar"/>
          <p:cNvSpPr/>
          <p:nvPr/>
        </p:nvSpPr>
        <p:spPr>
          <a:xfrm>
            <a:off x="247680" y="1170432"/>
            <a:ext cx="91440" cy="106342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Step0Label"/>
          <p:cNvSpPr/>
          <p:nvPr/>
        </p:nvSpPr>
        <p:spPr>
          <a:xfrm>
            <a:off x="430560" y="1261872"/>
            <a:ext cx="392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web.xml</a:t>
            </a:r>
            <a:endParaRPr lang="en-US" dirty="0"/>
          </a:p>
        </p:txBody>
      </p:sp>
      <p:sp>
        <p:nvSpPr>
          <p:cNvPr id="9" name="Step0Code"/>
          <p:cNvSpPr/>
          <p:nvPr/>
        </p:nvSpPr>
        <p:spPr>
          <a:xfrm>
            <a:off x="430560" y="1500432"/>
            <a:ext cx="3926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&lt;multipart-config&gt;</a:t>
            </a:r>
            <a:endParaRPr lang="en-US" dirty="0"/>
          </a:p>
        </p:txBody>
      </p:sp>
      <p:sp>
        <p:nvSpPr>
          <p:cNvPr id="10" name="Step0Desc"/>
          <p:cNvSpPr/>
          <p:nvPr/>
        </p:nvSpPr>
        <p:spPr>
          <a:xfrm>
            <a:off x="430560" y="1750432"/>
            <a:ext cx="3926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Tomcat(서블릿 컨테이너)이 multipart 요청을 파싱 가능하도록 설정</a:t>
            </a:r>
            <a:endParaRPr lang="en-US" dirty="0"/>
          </a:p>
        </p:txBody>
      </p:sp>
      <p:sp>
        <p:nvSpPr>
          <p:cNvPr id="11" name="Step1Bg"/>
          <p:cNvSpPr/>
          <p:nvPr/>
        </p:nvSpPr>
        <p:spPr>
          <a:xfrm>
            <a:off x="247680" y="2270432"/>
            <a:ext cx="4206240" cy="106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tep1Bar"/>
          <p:cNvSpPr/>
          <p:nvPr/>
        </p:nvSpPr>
        <p:spPr>
          <a:xfrm>
            <a:off x="247680" y="2270432"/>
            <a:ext cx="91440" cy="10634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tep1Label"/>
          <p:cNvSpPr/>
          <p:nvPr/>
        </p:nvSpPr>
        <p:spPr>
          <a:xfrm>
            <a:off x="430560" y="2361872"/>
            <a:ext cx="392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dispatcher-context.xml</a:t>
            </a:r>
            <a:endParaRPr lang="en-US" dirty="0"/>
          </a:p>
        </p:txBody>
      </p:sp>
      <p:sp>
        <p:nvSpPr>
          <p:cNvPr id="14" name="Step1Code"/>
          <p:cNvSpPr/>
          <p:nvPr/>
        </p:nvSpPr>
        <p:spPr>
          <a:xfrm>
            <a:off x="430560" y="2600432"/>
            <a:ext cx="3926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StandardServletMultipartResolver Bean</a:t>
            </a:r>
            <a:endParaRPr lang="en-US" dirty="0"/>
          </a:p>
        </p:txBody>
      </p:sp>
      <p:sp>
        <p:nvSpPr>
          <p:cNvPr id="15" name="Step1Desc"/>
          <p:cNvSpPr/>
          <p:nvPr/>
        </p:nvSpPr>
        <p:spPr>
          <a:xfrm>
            <a:off x="430560" y="2850432"/>
            <a:ext cx="3926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Spring이 MultipartFile 파라미터를 바인딩할 수 있도록 설정</a:t>
            </a:r>
            <a:endParaRPr lang="en-US" dirty="0"/>
          </a:p>
        </p:txBody>
      </p:sp>
      <p:sp>
        <p:nvSpPr>
          <p:cNvPr id="16" name="Step2Bg"/>
          <p:cNvSpPr/>
          <p:nvPr/>
        </p:nvSpPr>
        <p:spPr>
          <a:xfrm>
            <a:off x="247680" y="3370432"/>
            <a:ext cx="4206240" cy="106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tep2Bar"/>
          <p:cNvSpPr/>
          <p:nvPr/>
        </p:nvSpPr>
        <p:spPr>
          <a:xfrm>
            <a:off x="247680" y="3370432"/>
            <a:ext cx="91440" cy="106342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Step2Label"/>
          <p:cNvSpPr/>
          <p:nvPr/>
        </p:nvSpPr>
        <p:spPr>
          <a:xfrm>
            <a:off x="430560" y="3461872"/>
            <a:ext cx="392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Controller</a:t>
            </a:r>
            <a:endParaRPr lang="en-US" dirty="0"/>
          </a:p>
        </p:txBody>
      </p:sp>
      <p:sp>
        <p:nvSpPr>
          <p:cNvPr id="19" name="Step2Code"/>
          <p:cNvSpPr/>
          <p:nvPr/>
        </p:nvSpPr>
        <p:spPr>
          <a:xfrm>
            <a:off x="430560" y="3700432"/>
            <a:ext cx="3926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 MultipartFile file</a:t>
            </a:r>
            <a:endParaRPr lang="en-US" dirty="0"/>
          </a:p>
        </p:txBody>
      </p:sp>
      <p:sp>
        <p:nvSpPr>
          <p:cNvPr id="20" name="Step2Desc"/>
          <p:cNvSpPr/>
          <p:nvPr/>
        </p:nvSpPr>
        <p:spPr>
          <a:xfrm>
            <a:off x="430560" y="3950432"/>
            <a:ext cx="3926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바인딩된 파일 객체로 파일명, 크기, 저장 처리</a:t>
            </a:r>
            <a:endParaRPr lang="en-US" dirty="0"/>
          </a:p>
        </p:txBody>
      </p:sp>
      <p:sp>
        <p:nvSpPr>
          <p:cNvPr id="21" name="CodeBg"/>
          <p:cNvSpPr/>
          <p:nvPr/>
        </p:nvSpPr>
        <p:spPr>
          <a:xfrm>
            <a:off x="4704480" y="1170432"/>
            <a:ext cx="4191840" cy="10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CodeTxt"/>
          <p:cNvSpPr/>
          <p:nvPr/>
        </p:nvSpPr>
        <p:spPr>
          <a:xfrm>
            <a:off x="4795920" y="1261872"/>
            <a:ext cx="4008960" cy="8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action="process"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enctype="multipart/form-data“&gt;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type="file" name="file“&gt;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</a:t>
            </a:r>
            <a:r>
              <a:rPr lang="en-US" sz="900" dirty="0" err="1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업로드</a:t>
            </a: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dirty="0"/>
          </a:p>
        </p:txBody>
      </p:sp>
      <p:sp>
        <p:nvSpPr>
          <p:cNvPr id="23" name="CodeBg"/>
          <p:cNvSpPr/>
          <p:nvPr/>
        </p:nvSpPr>
        <p:spPr>
          <a:xfrm>
            <a:off x="4704480" y="2210432"/>
            <a:ext cx="4191840" cy="266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odeTxt"/>
          <p:cNvSpPr/>
          <p:nvPr/>
        </p:nvSpPr>
        <p:spPr>
          <a:xfrm>
            <a:off x="4795920" y="2301872"/>
            <a:ext cx="4008960" cy="247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MultipartFile file = ...;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파일 정보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file.getOriginalFilename()  // "photo.jpg"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file.getSize()              // 102400 (bytes)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file.getContentType()       // "image/jpeg"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file.isEmpty()              // 파일 없으면 true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file.getBytes()             // byte[] (DB 저장)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file.transferTo(path)       // 디스크에 저장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 처리 흐름</a:t>
            </a:r>
            <a:endParaRPr lang="en-US" dirty="0"/>
          </a:p>
        </p:txBody>
      </p:sp>
      <p:sp>
        <p:nvSpPr>
          <p:cNvPr id="4" name="Sub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preHandle → Controller → postHandle → View → afterCompletion</a:t>
            </a:r>
            <a:endParaRPr lang="en-US" dirty="0"/>
          </a:p>
        </p:txBody>
      </p:sp>
      <p:sp>
        <p:nvSpPr>
          <p:cNvPr id="5" name="Divider"/>
          <p:cNvSpPr/>
          <p:nvPr/>
        </p:nvSpPr>
        <p:spPr>
          <a:xfrm>
            <a:off x="457200" y="840000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6" name="St0Bg"/>
          <p:cNvSpPr/>
          <p:nvPr/>
        </p:nvSpPr>
        <p:spPr>
          <a:xfrm>
            <a:off x="247680" y="95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7" name="St0Name"/>
          <p:cNvSpPr/>
          <p:nvPr/>
        </p:nvSpPr>
        <p:spPr>
          <a:xfrm>
            <a:off x="350000" y="100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요청</a:t>
            </a:r>
            <a:endParaRPr lang="en-US" dirty="0"/>
          </a:p>
        </p:txBody>
      </p:sp>
      <p:sp>
        <p:nvSpPr>
          <p:cNvPr id="9" name="St0Arr"/>
          <p:cNvSpPr/>
          <p:nvPr/>
        </p:nvSpPr>
        <p:spPr>
          <a:xfrm>
            <a:off x="4300000" y="100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t0Down"/>
          <p:cNvSpPr/>
          <p:nvPr/>
        </p:nvSpPr>
        <p:spPr>
          <a:xfrm>
            <a:off x="4500000" y="146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8" name="St1Bg"/>
          <p:cNvSpPr/>
          <p:nvPr/>
        </p:nvSpPr>
        <p:spPr>
          <a:xfrm>
            <a:off x="247680" y="148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1" name="St1Name"/>
          <p:cNvSpPr/>
          <p:nvPr/>
        </p:nvSpPr>
        <p:spPr>
          <a:xfrm>
            <a:off x="350000" y="153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</a:t>
            </a:r>
            <a:endParaRPr lang="en-US" dirty="0"/>
          </a:p>
        </p:txBody>
      </p:sp>
      <p:sp>
        <p:nvSpPr>
          <p:cNvPr id="12" name="St1Note"/>
          <p:cNvSpPr/>
          <p:nvPr/>
        </p:nvSpPr>
        <p:spPr>
          <a:xfrm>
            <a:off x="350000" y="178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</a:t>
            </a:r>
            <a:endParaRPr lang="en-US" dirty="0"/>
          </a:p>
        </p:txBody>
      </p:sp>
      <p:sp>
        <p:nvSpPr>
          <p:cNvPr id="13" name="St1Arr"/>
          <p:cNvSpPr/>
          <p:nvPr/>
        </p:nvSpPr>
        <p:spPr>
          <a:xfrm>
            <a:off x="4300000" y="153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t1Down"/>
          <p:cNvSpPr/>
          <p:nvPr/>
        </p:nvSpPr>
        <p:spPr>
          <a:xfrm>
            <a:off x="4500000" y="199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6" name="St2Bg"/>
          <p:cNvSpPr/>
          <p:nvPr/>
        </p:nvSpPr>
        <p:spPr>
          <a:xfrm>
            <a:off x="247680" y="2010000"/>
            <a:ext cx="8649600" cy="511712"/>
          </a:xfrm>
          <a:prstGeom prst="rect">
            <a:avLst/>
          </a:prstGeom>
          <a:solidFill>
            <a:srgbClr val="1A2E4A"/>
          </a:solidFill>
          <a:ln w="19050">
            <a:solidFill>
              <a:srgbClr val="F4511E"/>
            </a:solidFill>
            <a:prstDash val="solid"/>
          </a:ln>
        </p:spPr>
      </p:sp>
      <p:sp>
        <p:nvSpPr>
          <p:cNvPr id="15" name="St2Name"/>
          <p:cNvSpPr/>
          <p:nvPr/>
        </p:nvSpPr>
        <p:spPr>
          <a:xfrm>
            <a:off x="350000" y="206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Interceptor.preHandle()</a:t>
            </a:r>
            <a:endParaRPr lang="en-US" dirty="0"/>
          </a:p>
        </p:txBody>
      </p:sp>
      <p:sp>
        <p:nvSpPr>
          <p:cNvPr id="16" name="St2Note"/>
          <p:cNvSpPr/>
          <p:nvPr/>
        </p:nvSpPr>
        <p:spPr>
          <a:xfrm>
            <a:off x="350000" y="231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→ 요청 차단, Controller 미실행  |  return true → 계속</a:t>
            </a:r>
            <a:endParaRPr lang="en-US" dirty="0"/>
          </a:p>
        </p:txBody>
      </p:sp>
      <p:sp>
        <p:nvSpPr>
          <p:cNvPr id="17" name="St2Key"/>
          <p:cNvSpPr/>
          <p:nvPr/>
        </p:nvSpPr>
        <p:spPr>
          <a:xfrm>
            <a:off x="4200000" y="2060000"/>
            <a:ext cx="4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핵심 포인트</a:t>
            </a:r>
            <a:endParaRPr lang="en-US" dirty="0"/>
          </a:p>
        </p:txBody>
      </p:sp>
      <p:sp>
        <p:nvSpPr>
          <p:cNvPr id="18" name="St2Down"/>
          <p:cNvSpPr/>
          <p:nvPr/>
        </p:nvSpPr>
        <p:spPr>
          <a:xfrm>
            <a:off x="4500000" y="252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8" name="St3Bg"/>
          <p:cNvSpPr/>
          <p:nvPr/>
        </p:nvSpPr>
        <p:spPr>
          <a:xfrm>
            <a:off x="247680" y="254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9" name="St3Name"/>
          <p:cNvSpPr/>
          <p:nvPr/>
        </p:nvSpPr>
        <p:spPr>
          <a:xfrm>
            <a:off x="350000" y="259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HandlerAdapter → Controller</a:t>
            </a:r>
            <a:endParaRPr lang="en-US" dirty="0"/>
          </a:p>
        </p:txBody>
      </p:sp>
      <p:sp>
        <p:nvSpPr>
          <p:cNvPr id="20" name="St3Note"/>
          <p:cNvSpPr/>
          <p:nvPr/>
        </p:nvSpPr>
        <p:spPr>
          <a:xfrm>
            <a:off x="350000" y="284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실행</a:t>
            </a:r>
            <a:endParaRPr lang="en-US" dirty="0"/>
          </a:p>
        </p:txBody>
      </p:sp>
      <p:sp>
        <p:nvSpPr>
          <p:cNvPr id="21" name="St3Arr"/>
          <p:cNvSpPr/>
          <p:nvPr/>
        </p:nvSpPr>
        <p:spPr>
          <a:xfrm>
            <a:off x="4300000" y="259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t3Down"/>
          <p:cNvSpPr/>
          <p:nvPr/>
        </p:nvSpPr>
        <p:spPr>
          <a:xfrm>
            <a:off x="4500000" y="305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9" name="St4Bg"/>
          <p:cNvSpPr/>
          <p:nvPr/>
        </p:nvSpPr>
        <p:spPr>
          <a:xfrm>
            <a:off x="247680" y="307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3" name="St4Name"/>
          <p:cNvSpPr/>
          <p:nvPr/>
        </p:nvSpPr>
        <p:spPr>
          <a:xfrm>
            <a:off x="350000" y="312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Interceptor.postHandle()</a:t>
            </a:r>
            <a:endParaRPr lang="en-US" dirty="0"/>
          </a:p>
        </p:txBody>
      </p:sp>
      <p:sp>
        <p:nvSpPr>
          <p:cNvPr id="24" name="St4Note"/>
          <p:cNvSpPr/>
          <p:nvPr/>
        </p:nvSpPr>
        <p:spPr>
          <a:xfrm>
            <a:off x="350000" y="337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실행 완료, View 렌더링 전  |  Model 수정 가능</a:t>
            </a:r>
            <a:endParaRPr lang="en-US" dirty="0"/>
          </a:p>
        </p:txBody>
      </p:sp>
      <p:sp>
        <p:nvSpPr>
          <p:cNvPr id="25" name="St4Arr"/>
          <p:cNvSpPr/>
          <p:nvPr/>
        </p:nvSpPr>
        <p:spPr>
          <a:xfrm>
            <a:off x="4300000" y="312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t4Down"/>
          <p:cNvSpPr/>
          <p:nvPr/>
        </p:nvSpPr>
        <p:spPr>
          <a:xfrm>
            <a:off x="4500000" y="358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0" name="St5Bg"/>
          <p:cNvSpPr/>
          <p:nvPr/>
        </p:nvSpPr>
        <p:spPr>
          <a:xfrm>
            <a:off x="247680" y="360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27" name="St5Name"/>
          <p:cNvSpPr/>
          <p:nvPr/>
        </p:nvSpPr>
        <p:spPr>
          <a:xfrm>
            <a:off x="350000" y="365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ViewResolver → JSP 렌더링</a:t>
            </a:r>
            <a:endParaRPr lang="en-US" dirty="0"/>
          </a:p>
        </p:txBody>
      </p:sp>
      <p:sp>
        <p:nvSpPr>
          <p:cNvPr id="28" name="St5Note"/>
          <p:cNvSpPr/>
          <p:nvPr/>
        </p:nvSpPr>
        <p:spPr>
          <a:xfrm>
            <a:off x="350000" y="390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HTML 생성</a:t>
            </a:r>
            <a:endParaRPr lang="en-US" dirty="0"/>
          </a:p>
        </p:txBody>
      </p:sp>
      <p:sp>
        <p:nvSpPr>
          <p:cNvPr id="29" name="St5Arr"/>
          <p:cNvSpPr/>
          <p:nvPr/>
        </p:nvSpPr>
        <p:spPr>
          <a:xfrm>
            <a:off x="4300000" y="365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t5Down"/>
          <p:cNvSpPr/>
          <p:nvPr/>
        </p:nvSpPr>
        <p:spPr>
          <a:xfrm>
            <a:off x="4500000" y="411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1" name="St6Bg"/>
          <p:cNvSpPr/>
          <p:nvPr/>
        </p:nvSpPr>
        <p:spPr>
          <a:xfrm>
            <a:off x="247680" y="413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F9A825"/>
            </a:solidFill>
            <a:prstDash val="solid"/>
          </a:ln>
        </p:spPr>
      </p:sp>
      <p:sp>
        <p:nvSpPr>
          <p:cNvPr id="31" name="St6Name"/>
          <p:cNvSpPr/>
          <p:nvPr/>
        </p:nvSpPr>
        <p:spPr>
          <a:xfrm>
            <a:off x="350000" y="418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Interceptor.afterCompletion()</a:t>
            </a:r>
            <a:endParaRPr lang="en-US" dirty="0"/>
          </a:p>
        </p:txBody>
      </p:sp>
      <p:sp>
        <p:nvSpPr>
          <p:cNvPr id="32" name="St6Note"/>
          <p:cNvSpPr/>
          <p:nvPr/>
        </p:nvSpPr>
        <p:spPr>
          <a:xfrm>
            <a:off x="350000" y="4430000"/>
            <a:ext cx="8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처리 완료 후  |  예외 발생 여부 무관, 리소스 해제/로깅에 활용</a:t>
            </a:r>
            <a:endParaRPr lang="en-US" dirty="0"/>
          </a:p>
        </p:txBody>
      </p:sp>
      <p:sp>
        <p:nvSpPr>
          <p:cNvPr id="33" name="St6Arr"/>
          <p:cNvSpPr/>
          <p:nvPr/>
        </p:nvSpPr>
        <p:spPr>
          <a:xfrm>
            <a:off x="4300000" y="418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t6Down"/>
          <p:cNvSpPr/>
          <p:nvPr/>
        </p:nvSpPr>
        <p:spPr>
          <a:xfrm>
            <a:off x="4500000" y="4641712"/>
            <a:ext cx="2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42" name="St7Bg"/>
          <p:cNvSpPr/>
          <p:nvPr/>
        </p:nvSpPr>
        <p:spPr>
          <a:xfrm>
            <a:off x="247680" y="4660000"/>
            <a:ext cx="8649600" cy="511712"/>
          </a:xfrm>
          <a:prstGeom prst="rect">
            <a:avLst/>
          </a:prstGeom>
          <a:solidFill>
            <a:srgbClr val="1A2E4A"/>
          </a:solidFill>
          <a:ln w="9525">
            <a:solidFill>
              <a:srgbClr val="3A4A5E"/>
            </a:solidFill>
            <a:prstDash val="solid"/>
          </a:ln>
        </p:spPr>
      </p:sp>
      <p:sp>
        <p:nvSpPr>
          <p:cNvPr id="35" name="St7Name"/>
          <p:cNvSpPr/>
          <p:nvPr/>
        </p:nvSpPr>
        <p:spPr>
          <a:xfrm>
            <a:off x="350000" y="4710000"/>
            <a:ext cx="3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응답</a:t>
            </a:r>
            <a:endParaRPr lang="en-US" dirty="0"/>
          </a:p>
        </p:txBody>
      </p:sp>
      <p:sp>
        <p:nvSpPr>
          <p:cNvPr id="37" name="St7Arr"/>
          <p:cNvSpPr/>
          <p:nvPr/>
        </p:nvSpPr>
        <p:spPr>
          <a:xfrm>
            <a:off x="4300000" y="4710000"/>
            <a:ext cx="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LoginCheckInterceptor 구현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preHandle()에서 세션 확인 — return false로 요청 차단, sendRedirect()와 세트로 기억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LoginCheckInterceptor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implements HandlerInterceptor {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preHandle(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HttpServletRequest request,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HttpServletResponse response,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Object handler) throws Exception {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Object loginUser =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request.getSession()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.getAttribute("loginUser");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(loginUser == null)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비로그인: 리다이렉트 + 차단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response.sendRedirect(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request.getContextPath() + "/login");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false; // ← 핵심!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 // 요청 계속 처리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4704480" y="1170432"/>
            <a:ext cx="4191840" cy="105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4795920" y="1261872"/>
            <a:ext cx="4008960" cy="86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dispatcher-context.xml --&gt;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&lt;mvc:interceptors&gt;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&lt;mvc:interceptor&gt;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&lt;mvc:mapping path="/board/**"/&gt;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&lt;bean class="...LoginCheckInterceptor"/&gt;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&lt;/mvc:interceptor&gt;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&lt;/mvc:interceptors&gt;</a:t>
            </a:r>
            <a:endParaRPr lang="en-US" dirty="0"/>
          </a:p>
        </p:txBody>
      </p:sp>
      <p:sp>
        <p:nvSpPr>
          <p:cNvPr id="10" name="RPBg"/>
          <p:cNvSpPr/>
          <p:nvPr/>
        </p:nvSpPr>
        <p:spPr>
          <a:xfrm>
            <a:off x="4704480" y="2260432"/>
            <a:ext cx="4191840" cy="26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RPHdr"/>
          <p:cNvSpPr/>
          <p:nvPr/>
        </p:nvSpPr>
        <p:spPr>
          <a:xfrm>
            <a:off x="4704480" y="2260432"/>
            <a:ext cx="41918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RPHdrTxt"/>
          <p:cNvSpPr/>
          <p:nvPr/>
        </p:nvSpPr>
        <p:spPr>
          <a:xfrm>
            <a:off x="4795920" y="229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 &amp;amp; Filter vs Interceptor</a:t>
            </a:r>
            <a:endParaRPr lang="en-US" dirty="0"/>
          </a:p>
        </p:txBody>
      </p:sp>
      <p:sp>
        <p:nvSpPr>
          <p:cNvPr id="13" name="KP0Bg"/>
          <p:cNvSpPr/>
          <p:nvPr/>
        </p:nvSpPr>
        <p:spPr>
          <a:xfrm>
            <a:off x="4795920" y="2443312"/>
            <a:ext cx="4008960" cy="7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4" name="KP0Key"/>
          <p:cNvSpPr/>
          <p:nvPr/>
        </p:nvSpPr>
        <p:spPr>
          <a:xfrm>
            <a:off x="4887360" y="2498176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필수</a:t>
            </a:r>
            <a:endParaRPr lang="en-US" dirty="0"/>
          </a:p>
        </p:txBody>
      </p:sp>
      <p:sp>
        <p:nvSpPr>
          <p:cNvPr id="15" name="KP0Desc"/>
          <p:cNvSpPr/>
          <p:nvPr/>
        </p:nvSpPr>
        <p:spPr>
          <a:xfrm>
            <a:off x="4887360" y="2743312"/>
            <a:ext cx="3826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sendRedirect() 후 return false — 빠뜨리면 Controller도 실행됨</a:t>
            </a:r>
            <a:endParaRPr lang="en-US" dirty="0"/>
          </a:p>
        </p:txBody>
      </p:sp>
      <p:sp>
        <p:nvSpPr>
          <p:cNvPr id="16" name="KP1Bg"/>
          <p:cNvSpPr/>
          <p:nvPr/>
        </p:nvSpPr>
        <p:spPr>
          <a:xfrm>
            <a:off x="4795920" y="3203312"/>
            <a:ext cx="4008960" cy="7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7" name="KP1Key"/>
          <p:cNvSpPr/>
          <p:nvPr/>
        </p:nvSpPr>
        <p:spPr>
          <a:xfrm>
            <a:off x="4887360" y="3258176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URL 패턴</a:t>
            </a:r>
            <a:endParaRPr lang="en-US" dirty="0"/>
          </a:p>
        </p:txBody>
      </p:sp>
      <p:sp>
        <p:nvSpPr>
          <p:cNvPr id="18" name="KP1Desc"/>
          <p:cNvSpPr/>
          <p:nvPr/>
        </p:nvSpPr>
        <p:spPr>
          <a:xfrm>
            <a:off x="4887360" y="3503312"/>
            <a:ext cx="3826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/board/** — /board/로 시작 모두  |  /** — 전체(정적자원 주의)</a:t>
            </a:r>
            <a:endParaRPr lang="en-US" dirty="0"/>
          </a:p>
        </p:txBody>
      </p:sp>
      <p:sp>
        <p:nvSpPr>
          <p:cNvPr id="19" name="KP2Bg"/>
          <p:cNvSpPr/>
          <p:nvPr/>
        </p:nvSpPr>
        <p:spPr>
          <a:xfrm>
            <a:off x="4795920" y="3963312"/>
            <a:ext cx="4008960" cy="7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0" name="KP2Key"/>
          <p:cNvSpPr/>
          <p:nvPr/>
        </p:nvSpPr>
        <p:spPr>
          <a:xfrm>
            <a:off x="4887360" y="4018176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vs Interceptor</a:t>
            </a:r>
            <a:endParaRPr lang="en-US" dirty="0"/>
          </a:p>
        </p:txBody>
      </p:sp>
      <p:sp>
        <p:nvSpPr>
          <p:cNvPr id="21" name="KP2Desc"/>
          <p:cNvSpPr/>
          <p:nvPr/>
        </p:nvSpPr>
        <p:spPr>
          <a:xfrm>
            <a:off x="4887360" y="4263312"/>
            <a:ext cx="3826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= Servlet Container 레벨 (Spring 밖)  |  Interceptor = Spring MVC 레벨 → Bean 주입 가능</a:t>
            </a:r>
            <a:endParaRPr lang="en-US" dirty="0"/>
          </a:p>
        </p:txBody>
      </p:sp>
      <p:sp>
        <p:nvSpPr>
          <p:cNvPr id="22" name="KP3Bg"/>
          <p:cNvSpPr/>
          <p:nvPr/>
        </p:nvSpPr>
        <p:spPr>
          <a:xfrm>
            <a:off x="4795920" y="4723312"/>
            <a:ext cx="4008960" cy="7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23" name="KP3Key"/>
          <p:cNvSpPr/>
          <p:nvPr/>
        </p:nvSpPr>
        <p:spPr>
          <a:xfrm>
            <a:off x="4887360" y="4778176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afterCompletion</a:t>
            </a:r>
            <a:endParaRPr lang="en-US" dirty="0"/>
          </a:p>
        </p:txBody>
      </p:sp>
      <p:sp>
        <p:nvSpPr>
          <p:cNvPr id="24" name="KP3Desc"/>
          <p:cNvSpPr/>
          <p:nvPr/>
        </p:nvSpPr>
        <p:spPr>
          <a:xfrm>
            <a:off x="4887360" y="5023312"/>
            <a:ext cx="3826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시간 측정, 예외 로깅, 리소스 해제에 활용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URL 설계 &amp;amp; in-memory 저장소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 패턴 적용  |  AtomicLong 자동 ID  |  방어적 복사</a:t>
            </a:r>
            <a:endParaRPr lang="en-US" dirty="0"/>
          </a:p>
        </p:txBody>
      </p:sp>
      <p:sp>
        <p:nvSpPr>
          <p:cNvPr id="6" name="L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LHdr"/>
          <p:cNvSpPr/>
          <p:nvPr/>
        </p:nvSpPr>
        <p:spPr>
          <a:xfrm>
            <a:off x="247680" y="1170432"/>
            <a:ext cx="42062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LHdrTxt"/>
          <p:cNvSpPr/>
          <p:nvPr/>
        </p:nvSpPr>
        <p:spPr>
          <a:xfrm>
            <a:off x="339120" y="1207008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URL 패턴 (PRG 적용)</a:t>
            </a:r>
            <a:endParaRPr lang="en-US" dirty="0"/>
          </a:p>
        </p:txBody>
      </p:sp>
      <p:sp>
        <p:nvSpPr>
          <p:cNvPr id="9" name="URL0Bg"/>
          <p:cNvSpPr/>
          <p:nvPr/>
        </p:nvSpPr>
        <p:spPr>
          <a:xfrm>
            <a:off x="339120" y="1353312"/>
            <a:ext cx="4023360" cy="633424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0" name="URL0Method"/>
          <p:cNvSpPr/>
          <p:nvPr/>
        </p:nvSpPr>
        <p:spPr>
          <a:xfrm>
            <a:off x="430560" y="1408176"/>
            <a:ext cx="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dirty="0"/>
          </a:p>
        </p:txBody>
      </p:sp>
      <p:sp>
        <p:nvSpPr>
          <p:cNvPr id="11" name="URL0Path"/>
          <p:cNvSpPr/>
          <p:nvPr/>
        </p:nvSpPr>
        <p:spPr>
          <a:xfrm>
            <a:off x="1067680" y="1408176"/>
            <a:ext cx="320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/board/list</a:t>
            </a:r>
            <a:endParaRPr lang="en-US" dirty="0"/>
          </a:p>
        </p:txBody>
      </p:sp>
      <p:sp>
        <p:nvSpPr>
          <p:cNvPr id="12" name="URL0Desc"/>
          <p:cNvSpPr/>
          <p:nvPr/>
        </p:nvSpPr>
        <p:spPr>
          <a:xfrm>
            <a:off x="430560" y="1683312"/>
            <a:ext cx="3840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조회</a:t>
            </a:r>
            <a:endParaRPr lang="en-US" dirty="0"/>
          </a:p>
        </p:txBody>
      </p:sp>
      <p:sp>
        <p:nvSpPr>
          <p:cNvPr id="13" name="URL1Bg"/>
          <p:cNvSpPr/>
          <p:nvPr/>
        </p:nvSpPr>
        <p:spPr>
          <a:xfrm>
            <a:off x="339120" y="2023312"/>
            <a:ext cx="4023360" cy="633424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4" name="URL1Method"/>
          <p:cNvSpPr/>
          <p:nvPr/>
        </p:nvSpPr>
        <p:spPr>
          <a:xfrm>
            <a:off x="430560" y="2078176"/>
            <a:ext cx="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dirty="0"/>
          </a:p>
        </p:txBody>
      </p:sp>
      <p:sp>
        <p:nvSpPr>
          <p:cNvPr id="15" name="URL1Path"/>
          <p:cNvSpPr/>
          <p:nvPr/>
        </p:nvSpPr>
        <p:spPr>
          <a:xfrm>
            <a:off x="1067680" y="2078176"/>
            <a:ext cx="320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/board/write</a:t>
            </a:r>
            <a:endParaRPr lang="en-US" dirty="0"/>
          </a:p>
        </p:txBody>
      </p:sp>
      <p:sp>
        <p:nvSpPr>
          <p:cNvPr id="16" name="URL1Desc"/>
          <p:cNvSpPr/>
          <p:nvPr/>
        </p:nvSpPr>
        <p:spPr>
          <a:xfrm>
            <a:off x="430560" y="2353312"/>
            <a:ext cx="3840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글쓰기 폼 표시</a:t>
            </a:r>
            <a:endParaRPr lang="en-US" dirty="0"/>
          </a:p>
        </p:txBody>
      </p:sp>
      <p:sp>
        <p:nvSpPr>
          <p:cNvPr id="17" name="URL2Bg"/>
          <p:cNvSpPr/>
          <p:nvPr/>
        </p:nvSpPr>
        <p:spPr>
          <a:xfrm>
            <a:off x="339120" y="2693312"/>
            <a:ext cx="4023360" cy="633424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8" name="URL2Method"/>
          <p:cNvSpPr/>
          <p:nvPr/>
        </p:nvSpPr>
        <p:spPr>
          <a:xfrm>
            <a:off x="430560" y="2748176"/>
            <a:ext cx="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dirty="0"/>
          </a:p>
        </p:txBody>
      </p:sp>
      <p:sp>
        <p:nvSpPr>
          <p:cNvPr id="19" name="URL2Path"/>
          <p:cNvSpPr/>
          <p:nvPr/>
        </p:nvSpPr>
        <p:spPr>
          <a:xfrm>
            <a:off x="1067680" y="2748176"/>
            <a:ext cx="320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/board/write</a:t>
            </a:r>
            <a:endParaRPr lang="en-US" dirty="0"/>
          </a:p>
        </p:txBody>
      </p:sp>
      <p:sp>
        <p:nvSpPr>
          <p:cNvPr id="20" name="URL2Desc"/>
          <p:cNvSpPr/>
          <p:nvPr/>
        </p:nvSpPr>
        <p:spPr>
          <a:xfrm>
            <a:off x="430560" y="3023312"/>
            <a:ext cx="3840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글쓰기 처리 → redirect:/board/list</a:t>
            </a:r>
            <a:endParaRPr lang="en-US" dirty="0"/>
          </a:p>
        </p:txBody>
      </p:sp>
      <p:sp>
        <p:nvSpPr>
          <p:cNvPr id="21" name="URL3Bg"/>
          <p:cNvSpPr/>
          <p:nvPr/>
        </p:nvSpPr>
        <p:spPr>
          <a:xfrm>
            <a:off x="339120" y="3363312"/>
            <a:ext cx="4023360" cy="633424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22" name="URL3Method"/>
          <p:cNvSpPr/>
          <p:nvPr/>
        </p:nvSpPr>
        <p:spPr>
          <a:xfrm>
            <a:off x="430560" y="3418176"/>
            <a:ext cx="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dirty="0"/>
          </a:p>
        </p:txBody>
      </p:sp>
      <p:sp>
        <p:nvSpPr>
          <p:cNvPr id="23" name="URL3Path"/>
          <p:cNvSpPr/>
          <p:nvPr/>
        </p:nvSpPr>
        <p:spPr>
          <a:xfrm>
            <a:off x="1067680" y="3418176"/>
            <a:ext cx="320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/board/detail?id=N</a:t>
            </a:r>
            <a:endParaRPr lang="en-US" dirty="0"/>
          </a:p>
        </p:txBody>
      </p:sp>
      <p:sp>
        <p:nvSpPr>
          <p:cNvPr id="24" name="URL3Desc"/>
          <p:cNvSpPr/>
          <p:nvPr/>
        </p:nvSpPr>
        <p:spPr>
          <a:xfrm>
            <a:off x="430560" y="3693312"/>
            <a:ext cx="3840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게시글 상세</a:t>
            </a:r>
            <a:endParaRPr lang="en-US" dirty="0"/>
          </a:p>
        </p:txBody>
      </p:sp>
      <p:sp>
        <p:nvSpPr>
          <p:cNvPr id="25" name="URL4Bg"/>
          <p:cNvSpPr/>
          <p:nvPr/>
        </p:nvSpPr>
        <p:spPr>
          <a:xfrm>
            <a:off x="339120" y="4033312"/>
            <a:ext cx="4023360" cy="633424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26" name="URL4Method"/>
          <p:cNvSpPr/>
          <p:nvPr/>
        </p:nvSpPr>
        <p:spPr>
          <a:xfrm>
            <a:off x="430560" y="4088176"/>
            <a:ext cx="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dirty="0"/>
          </a:p>
        </p:txBody>
      </p:sp>
      <p:sp>
        <p:nvSpPr>
          <p:cNvPr id="27" name="URL4Path"/>
          <p:cNvSpPr/>
          <p:nvPr/>
        </p:nvSpPr>
        <p:spPr>
          <a:xfrm>
            <a:off x="1067680" y="4088176"/>
            <a:ext cx="3206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/board/delete?id=N</a:t>
            </a:r>
            <a:endParaRPr lang="en-US" dirty="0"/>
          </a:p>
        </p:txBody>
      </p:sp>
      <p:sp>
        <p:nvSpPr>
          <p:cNvPr id="28" name="URL4Desc"/>
          <p:cNvSpPr/>
          <p:nvPr/>
        </p:nvSpPr>
        <p:spPr>
          <a:xfrm>
            <a:off x="430560" y="4363312"/>
            <a:ext cx="3840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 삭제 → redirect:/board/list</a:t>
            </a:r>
            <a:endParaRPr lang="en-US" dirty="0"/>
          </a:p>
        </p:txBody>
      </p:sp>
      <p:sp>
        <p:nvSpPr>
          <p:cNvPr id="29" name="CodeBg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CodeTxt"/>
          <p:cNvSpPr/>
          <p:nvPr/>
        </p:nvSpPr>
        <p:spPr>
          <a:xfrm>
            <a:off x="4795920" y="1261872"/>
            <a:ext cx="40089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BoardRepository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List&lt;Board&gt; boards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 new ArrayList&lt;&gt;();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AtomicLong idGen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 new AtomicLong(1);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Board save(Board b)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b.setId(idGen.getAndIncrement());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b.setCreatedAt(LocalDateTime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.now().toString()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.substring(0, 16));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boards.add(b);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findAll: new ArrayList&lt;&gt;(boards)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방어적 복사: 외부 수정 방지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List&lt;Board&gt; findAll()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ArrayList&lt;&gt;(boards);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deleteById(Long id)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boards.removeIf(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-&gt; b.getId().equals(id));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31" name="FtrBg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FtrTxt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AtomicLong: 멀티스레드 환경에서 ID 충돌 방지  |  new ArrayList&lt;&gt;(boards): 방어적 복사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컨트롤러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GET(조회) + POST(변경) 분리  |  변경 후 redirect — PRG 패턴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530496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512208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@RequestMapping("/board")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BoardController {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@GetMapping("/list")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list(Model model)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model.addAttribute("boards", repo.findAll());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"board/list";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@GetMapping("/write")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writeForm() { return "board/write";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@PostMapping("/write")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write(@ModelAttribute Board board)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repo.save(board);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"redirect:/board/list"; // PRG!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@GetMapping("/detail")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detail(@RequestParam Long id, Model model)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model.addAttribute("board", repo.findById(id));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"board/detail";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@PostMapping("/delete")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delete(@RequestParam Long id) {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repo.deleteById(id);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"redirect:/board/list"; // PRG!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KP0Bg"/>
          <p:cNvSpPr/>
          <p:nvPr/>
        </p:nvSpPr>
        <p:spPr>
          <a:xfrm>
            <a:off x="5644080" y="1170432"/>
            <a:ext cx="325224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KP0Bar"/>
          <p:cNvSpPr/>
          <p:nvPr/>
        </p:nvSpPr>
        <p:spPr>
          <a:xfrm>
            <a:off x="5644080" y="1170432"/>
            <a:ext cx="91440" cy="850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KP0Key"/>
          <p:cNvSpPr/>
          <p:nvPr/>
        </p:nvSpPr>
        <p:spPr>
          <a:xfrm>
            <a:off x="5826960" y="1261872"/>
            <a:ext cx="297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 패턴</a:t>
            </a:r>
            <a:endParaRPr lang="en-US" dirty="0"/>
          </a:p>
        </p:txBody>
      </p:sp>
      <p:sp>
        <p:nvSpPr>
          <p:cNvPr id="11" name="KP0Desc"/>
          <p:cNvSpPr/>
          <p:nvPr/>
        </p:nvSpPr>
        <p:spPr>
          <a:xfrm>
            <a:off x="5826960" y="1530432"/>
            <a:ext cx="2972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후 redirect → 새로고침 중복 방지</a:t>
            </a:r>
            <a:endParaRPr lang="en-US" dirty="0"/>
          </a:p>
        </p:txBody>
      </p:sp>
      <p:sp>
        <p:nvSpPr>
          <p:cNvPr id="12" name="KP1Bg"/>
          <p:cNvSpPr/>
          <p:nvPr/>
        </p:nvSpPr>
        <p:spPr>
          <a:xfrm>
            <a:off x="5644080" y="2070432"/>
            <a:ext cx="325224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KP1Bar"/>
          <p:cNvSpPr/>
          <p:nvPr/>
        </p:nvSpPr>
        <p:spPr>
          <a:xfrm>
            <a:off x="5644080" y="2070432"/>
            <a:ext cx="91440" cy="850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KP1Key"/>
          <p:cNvSpPr/>
          <p:nvPr/>
        </p:nvSpPr>
        <p:spPr>
          <a:xfrm>
            <a:off x="5826960" y="2161872"/>
            <a:ext cx="297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+ 인터셉터</a:t>
            </a:r>
            <a:endParaRPr lang="en-US" dirty="0"/>
          </a:p>
        </p:txBody>
      </p:sp>
      <p:sp>
        <p:nvSpPr>
          <p:cNvPr id="15" name="KP1Desc"/>
          <p:cNvSpPr/>
          <p:nvPr/>
        </p:nvSpPr>
        <p:spPr>
          <a:xfrm>
            <a:off x="5826960" y="2430432"/>
            <a:ext cx="2972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/board/** → LoginCheckInterceptor 자동 적용</a:t>
            </a:r>
            <a:endParaRPr lang="en-US" dirty="0"/>
          </a:p>
        </p:txBody>
      </p:sp>
      <p:sp>
        <p:nvSpPr>
          <p:cNvPr id="16" name="KP2Bg"/>
          <p:cNvSpPr/>
          <p:nvPr/>
        </p:nvSpPr>
        <p:spPr>
          <a:xfrm>
            <a:off x="5644080" y="2970432"/>
            <a:ext cx="325224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KP2Bar"/>
          <p:cNvSpPr/>
          <p:nvPr/>
        </p:nvSpPr>
        <p:spPr>
          <a:xfrm>
            <a:off x="5644080" y="2970432"/>
            <a:ext cx="91440" cy="85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KP2Key"/>
          <p:cNvSpPr/>
          <p:nvPr/>
        </p:nvSpPr>
        <p:spPr>
          <a:xfrm>
            <a:off x="5826960" y="3061872"/>
            <a:ext cx="297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null 체크</a:t>
            </a:r>
            <a:endParaRPr lang="en-US" dirty="0"/>
          </a:p>
        </p:txBody>
      </p:sp>
      <p:sp>
        <p:nvSpPr>
          <p:cNvPr id="19" name="KP2Desc"/>
          <p:cNvSpPr/>
          <p:nvPr/>
        </p:nvSpPr>
        <p:spPr>
          <a:xfrm>
            <a:off x="5826960" y="3330432"/>
            <a:ext cx="2972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존재하지 않는 id → NullPointerException 주의</a:t>
            </a:r>
            <a:endParaRPr lang="en-US" dirty="0"/>
          </a:p>
        </p:txBody>
      </p:sp>
      <p:sp>
        <p:nvSpPr>
          <p:cNvPr id="20" name="KP3Bg"/>
          <p:cNvSpPr/>
          <p:nvPr/>
        </p:nvSpPr>
        <p:spPr>
          <a:xfrm>
            <a:off x="5644080" y="3870432"/>
            <a:ext cx="325224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KP3Bar"/>
          <p:cNvSpPr/>
          <p:nvPr/>
        </p:nvSpPr>
        <p:spPr>
          <a:xfrm>
            <a:off x="5644080" y="3870432"/>
            <a:ext cx="91440" cy="850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KP3Key"/>
          <p:cNvSpPr/>
          <p:nvPr/>
        </p:nvSpPr>
        <p:spPr>
          <a:xfrm>
            <a:off x="5826960" y="3961872"/>
            <a:ext cx="29722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vs long 타입</a:t>
            </a:r>
            <a:endParaRPr lang="en-US" dirty="0"/>
          </a:p>
        </p:txBody>
      </p:sp>
      <p:sp>
        <p:nvSpPr>
          <p:cNvPr id="23" name="KP3Desc"/>
          <p:cNvSpPr/>
          <p:nvPr/>
        </p:nvSpPr>
        <p:spPr>
          <a:xfrm>
            <a:off x="5826960" y="4230432"/>
            <a:ext cx="29722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removeIf(b -&gt; b.getId().equals(id)) — equals()로 비교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오류 &amp;amp; 해결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— 원인을 알면 디버깅 시간 절반 절감</a:t>
            </a:r>
            <a:endParaRPr lang="en-US" dirty="0"/>
          </a:p>
        </p:txBody>
      </p:sp>
      <p:sp>
        <p:nvSpPr>
          <p:cNvPr id="6" name="E0Bg"/>
          <p:cNvSpPr/>
          <p:nvPr/>
        </p:nvSpPr>
        <p:spPr>
          <a:xfrm>
            <a:off x="247680" y="1170432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E0Bar"/>
          <p:cNvSpPr/>
          <p:nvPr/>
        </p:nvSpPr>
        <p:spPr>
          <a:xfrm>
            <a:off x="247680" y="1170432"/>
            <a:ext cx="91440" cy="730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E0Code"/>
          <p:cNvSpPr/>
          <p:nvPr/>
        </p:nvSpPr>
        <p:spPr>
          <a:xfrm>
            <a:off x="400000" y="1261872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HttpMediaTypeNotAcceptable</a:t>
            </a:r>
            <a:endParaRPr lang="en-US" dirty="0"/>
          </a:p>
        </p:txBody>
      </p:sp>
      <p:sp>
        <p:nvSpPr>
          <p:cNvPr id="9" name="E0Cause"/>
          <p:cNvSpPr/>
          <p:nvPr/>
        </p:nvSpPr>
        <p:spPr>
          <a:xfrm>
            <a:off x="400000" y="1520432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Jackson 미포함 또는 DTO getter 누락</a:t>
            </a:r>
            <a:endParaRPr lang="en-US" dirty="0"/>
          </a:p>
        </p:txBody>
      </p:sp>
      <p:sp>
        <p:nvSpPr>
          <p:cNvPr id="10" name="E0Fix"/>
          <p:cNvSpPr/>
          <p:nvPr/>
        </p:nvSpPr>
        <p:spPr>
          <a:xfrm>
            <a:off x="400000" y="1730432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pom.xml에 jackson-databind 추가, DTO getter 추가</a:t>
            </a:r>
            <a:endParaRPr lang="en-US" dirty="0"/>
          </a:p>
        </p:txBody>
      </p:sp>
      <p:sp>
        <p:nvSpPr>
          <p:cNvPr id="11" name="E1Bg"/>
          <p:cNvSpPr/>
          <p:nvPr/>
        </p:nvSpPr>
        <p:spPr>
          <a:xfrm>
            <a:off x="247680" y="1927648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1Bar"/>
          <p:cNvSpPr/>
          <p:nvPr/>
        </p:nvSpPr>
        <p:spPr>
          <a:xfrm>
            <a:off x="247680" y="1927648"/>
            <a:ext cx="91440" cy="730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E1Code"/>
          <p:cNvSpPr/>
          <p:nvPr/>
        </p:nvSpPr>
        <p:spPr>
          <a:xfrm>
            <a:off x="400000" y="2019088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InvalidDefinitionException</a:t>
            </a:r>
            <a:endParaRPr lang="en-US" dirty="0"/>
          </a:p>
        </p:txBody>
      </p:sp>
      <p:sp>
        <p:nvSpPr>
          <p:cNvPr id="14" name="E1Cause"/>
          <p:cNvSpPr/>
          <p:nvPr/>
        </p:nvSpPr>
        <p:spPr>
          <a:xfrm>
            <a:off x="400000" y="2277648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Jackson 직렬화 시 기본 생성자 없음</a:t>
            </a:r>
            <a:endParaRPr lang="en-US" dirty="0"/>
          </a:p>
        </p:txBody>
      </p:sp>
      <p:sp>
        <p:nvSpPr>
          <p:cNvPr id="15" name="E1Fix"/>
          <p:cNvSpPr/>
          <p:nvPr/>
        </p:nvSpPr>
        <p:spPr>
          <a:xfrm>
            <a:off x="400000" y="2487648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DTO에 public ClassName() {} 기본 생성자 추가</a:t>
            </a:r>
            <a:endParaRPr lang="en-US" dirty="0"/>
          </a:p>
        </p:txBody>
      </p:sp>
      <p:sp>
        <p:nvSpPr>
          <p:cNvPr id="16" name="E2Bg"/>
          <p:cNvSpPr/>
          <p:nvPr/>
        </p:nvSpPr>
        <p:spPr>
          <a:xfrm>
            <a:off x="247680" y="2684864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E2Bar"/>
          <p:cNvSpPr/>
          <p:nvPr/>
        </p:nvSpPr>
        <p:spPr>
          <a:xfrm>
            <a:off x="247680" y="2684864"/>
            <a:ext cx="91440" cy="73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E2Code"/>
          <p:cNvSpPr/>
          <p:nvPr/>
        </p:nvSpPr>
        <p:spPr>
          <a:xfrm>
            <a:off x="400000" y="2776304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MultipartException: not a multipart</a:t>
            </a:r>
            <a:endParaRPr lang="en-US" dirty="0"/>
          </a:p>
        </p:txBody>
      </p:sp>
      <p:sp>
        <p:nvSpPr>
          <p:cNvPr id="19" name="E2Cause"/>
          <p:cNvSpPr/>
          <p:nvPr/>
        </p:nvSpPr>
        <p:spPr>
          <a:xfrm>
            <a:off x="400000" y="3034864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web.xml에 &amp;lt;multipart-config&amp;gt; 누락</a:t>
            </a:r>
            <a:endParaRPr lang="en-US" dirty="0"/>
          </a:p>
        </p:txBody>
      </p:sp>
      <p:sp>
        <p:nvSpPr>
          <p:cNvPr id="20" name="E2Fix"/>
          <p:cNvSpPr/>
          <p:nvPr/>
        </p:nvSpPr>
        <p:spPr>
          <a:xfrm>
            <a:off x="400000" y="3244864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DispatcherServlet에 &amp;lt;multipart-config&amp;gt; 태그 추가</a:t>
            </a:r>
            <a:endParaRPr lang="en-US" dirty="0"/>
          </a:p>
        </p:txBody>
      </p:sp>
      <p:sp>
        <p:nvSpPr>
          <p:cNvPr id="21" name="E3Bg"/>
          <p:cNvSpPr/>
          <p:nvPr/>
        </p:nvSpPr>
        <p:spPr>
          <a:xfrm>
            <a:off x="247680" y="3442080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E3Bar"/>
          <p:cNvSpPr/>
          <p:nvPr/>
        </p:nvSpPr>
        <p:spPr>
          <a:xfrm>
            <a:off x="247680" y="3442080"/>
            <a:ext cx="91440" cy="730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E3Code"/>
          <p:cNvSpPr/>
          <p:nvPr/>
        </p:nvSpPr>
        <p:spPr>
          <a:xfrm>
            <a:off x="400000" y="3533520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인터셉터 후 Controller도 실행됨</a:t>
            </a:r>
            <a:endParaRPr lang="en-US" dirty="0"/>
          </a:p>
        </p:txBody>
      </p:sp>
      <p:sp>
        <p:nvSpPr>
          <p:cNvPr id="24" name="E3Cause"/>
          <p:cNvSpPr/>
          <p:nvPr/>
        </p:nvSpPr>
        <p:spPr>
          <a:xfrm>
            <a:off x="400000" y="3792080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preHandle()에서 return false 누락</a:t>
            </a:r>
            <a:endParaRPr lang="en-US" dirty="0"/>
          </a:p>
        </p:txBody>
      </p:sp>
      <p:sp>
        <p:nvSpPr>
          <p:cNvPr id="25" name="E3Fix"/>
          <p:cNvSpPr/>
          <p:nvPr/>
        </p:nvSpPr>
        <p:spPr>
          <a:xfrm>
            <a:off x="400000" y="4002080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sendRedirect() 직후 반드시 return false 추가</a:t>
            </a:r>
            <a:endParaRPr lang="en-US" dirty="0"/>
          </a:p>
        </p:txBody>
      </p:sp>
      <p:sp>
        <p:nvSpPr>
          <p:cNvPr id="26" name="E4Bg"/>
          <p:cNvSpPr/>
          <p:nvPr/>
        </p:nvSpPr>
        <p:spPr>
          <a:xfrm>
            <a:off x="247680" y="4199296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E4Bar"/>
          <p:cNvSpPr/>
          <p:nvPr/>
        </p:nvSpPr>
        <p:spPr>
          <a:xfrm>
            <a:off x="247680" y="4199296"/>
            <a:ext cx="91440" cy="7300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E4Code"/>
          <p:cNvSpPr/>
          <p:nvPr/>
        </p:nvSpPr>
        <p:spPr>
          <a:xfrm>
            <a:off x="400000" y="4290736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삭제 후 목록 갱신 안 됨</a:t>
            </a:r>
            <a:endParaRPr lang="en-US" dirty="0"/>
          </a:p>
        </p:txBody>
      </p:sp>
      <p:sp>
        <p:nvSpPr>
          <p:cNvPr id="29" name="E4Cause"/>
          <p:cNvSpPr/>
          <p:nvPr/>
        </p:nvSpPr>
        <p:spPr>
          <a:xfrm>
            <a:off x="400000" y="4549296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redirect 없이 forward 처리</a:t>
            </a:r>
            <a:endParaRPr lang="en-US" dirty="0"/>
          </a:p>
        </p:txBody>
      </p:sp>
      <p:sp>
        <p:nvSpPr>
          <p:cNvPr id="30" name="E4Fix"/>
          <p:cNvSpPr/>
          <p:nvPr/>
        </p:nvSpPr>
        <p:spPr>
          <a:xfrm>
            <a:off x="400000" y="4759296"/>
            <a:ext cx="8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return "redirect:/board/list" — PRG 패턴 적용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8일차 핵심 정리</a:t>
            </a:r>
            <a:endParaRPr lang="en-US" dirty="0"/>
          </a:p>
        </p:txBody>
      </p:sp>
      <p:sp>
        <p:nvSpPr>
          <p:cNvPr id="4" name="TitleLine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RowBg0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RowBar01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RowNum01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RowTitle01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</a:t>
            </a:r>
            <a:endParaRPr lang="en-US" dirty="0"/>
          </a:p>
        </p:txBody>
      </p:sp>
      <p:sp>
        <p:nvSpPr>
          <p:cNvPr id="9" name="RowDesc01"/>
          <p:cNvSpPr/>
          <p:nvPr/>
        </p:nvSpPr>
        <p:spPr>
          <a:xfrm>
            <a:off x="1188720" y="1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Jackson이 있으면 객체를 자동으로 JSON 변환  |  DTO에 기본 생성자 + getter 필수</a:t>
            </a:r>
            <a:endParaRPr lang="en-US" dirty="0"/>
          </a:p>
        </p:txBody>
      </p:sp>
      <p:sp>
        <p:nvSpPr>
          <p:cNvPr id="15" name="RowBg02"/>
          <p:cNvSpPr/>
          <p:nvPr/>
        </p:nvSpPr>
        <p:spPr>
          <a:xfrm>
            <a:off x="365760" y="1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RowBar02"/>
          <p:cNvSpPr/>
          <p:nvPr/>
        </p:nvSpPr>
        <p:spPr>
          <a:xfrm>
            <a:off x="365760" y="191440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RowNum02"/>
          <p:cNvSpPr/>
          <p:nvPr/>
        </p:nvSpPr>
        <p:spPr>
          <a:xfrm>
            <a:off x="566928" y="1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8" name="RowTitle02"/>
          <p:cNvSpPr/>
          <p:nvPr/>
        </p:nvSpPr>
        <p:spPr>
          <a:xfrm>
            <a:off x="1188720" y="1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3단계</a:t>
            </a:r>
            <a:endParaRPr lang="en-US" dirty="0"/>
          </a:p>
        </p:txBody>
      </p:sp>
      <p:sp>
        <p:nvSpPr>
          <p:cNvPr id="19" name="RowDesc02"/>
          <p:cNvSpPr/>
          <p:nvPr/>
        </p:nvSpPr>
        <p:spPr>
          <a:xfrm>
            <a:off x="1188720" y="2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&amp;lt;multipart-config&amp;gt; → StandardServletMultipartResolver → MultipartFile</a:t>
            </a:r>
            <a:endParaRPr lang="en-US" dirty="0"/>
          </a:p>
        </p:txBody>
      </p:sp>
      <p:sp>
        <p:nvSpPr>
          <p:cNvPr id="25" name="RowBg03"/>
          <p:cNvSpPr/>
          <p:nvPr/>
        </p:nvSpPr>
        <p:spPr>
          <a:xfrm>
            <a:off x="365760" y="2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RowBar03"/>
          <p:cNvSpPr/>
          <p:nvPr/>
        </p:nvSpPr>
        <p:spPr>
          <a:xfrm>
            <a:off x="365760" y="2914400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RowNum03"/>
          <p:cNvSpPr/>
          <p:nvPr/>
        </p:nvSpPr>
        <p:spPr>
          <a:xfrm>
            <a:off x="566928" y="2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8" name="RowTitle03"/>
          <p:cNvSpPr/>
          <p:nvPr/>
        </p:nvSpPr>
        <p:spPr>
          <a:xfrm>
            <a:off x="1188720" y="2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HandlerInterceptor.preHandle()</a:t>
            </a:r>
            <a:endParaRPr lang="en-US" dirty="0"/>
          </a:p>
        </p:txBody>
      </p:sp>
      <p:sp>
        <p:nvSpPr>
          <p:cNvPr id="29" name="RowDesc03"/>
          <p:cNvSpPr/>
          <p:nvPr/>
        </p:nvSpPr>
        <p:spPr>
          <a:xfrm>
            <a:off x="1188720" y="3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= 요청 차단  |  sendRedirect() + return false 세트로 기억</a:t>
            </a:r>
            <a:endParaRPr lang="en-US" dirty="0"/>
          </a:p>
        </p:txBody>
      </p:sp>
      <p:sp>
        <p:nvSpPr>
          <p:cNvPr id="35" name="RowBg04"/>
          <p:cNvSpPr/>
          <p:nvPr/>
        </p:nvSpPr>
        <p:spPr>
          <a:xfrm>
            <a:off x="365760" y="3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RowBar04"/>
          <p:cNvSpPr/>
          <p:nvPr/>
        </p:nvSpPr>
        <p:spPr>
          <a:xfrm>
            <a:off x="365760" y="3914400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RowNum04"/>
          <p:cNvSpPr/>
          <p:nvPr/>
        </p:nvSpPr>
        <p:spPr>
          <a:xfrm>
            <a:off x="566928" y="3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8" name="RowTitle04"/>
          <p:cNvSpPr/>
          <p:nvPr/>
        </p:nvSpPr>
        <p:spPr>
          <a:xfrm>
            <a:off x="1188720" y="3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URL 패턴</a:t>
            </a:r>
            <a:endParaRPr lang="en-US" dirty="0"/>
          </a:p>
        </p:txBody>
      </p:sp>
      <p:sp>
        <p:nvSpPr>
          <p:cNvPr id="39" name="RowDesc04"/>
          <p:cNvSpPr/>
          <p:nvPr/>
        </p:nvSpPr>
        <p:spPr>
          <a:xfrm>
            <a:off x="1188720" y="4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GET(조회) + POST(변경) 분리  |  변경 후 redirect:/board/list  (PRG 패턴)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0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다음 수업 예고</a:t>
            </a:r>
            <a:endParaRPr lang="en-US" dirty="0"/>
          </a:p>
        </p:txBody>
      </p:sp>
      <p:sp>
        <p:nvSpPr>
          <p:cNvPr id="4" name="TitleSub"/>
          <p:cNvSpPr/>
          <p:nvPr/>
        </p:nvSpPr>
        <p:spPr>
          <a:xfrm>
            <a:off x="457200" y="640080"/>
            <a:ext cx="5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③</a:t>
            </a:r>
            <a:endParaRPr lang="en-US" dirty="0"/>
          </a:p>
        </p:txBody>
      </p:sp>
      <p:sp>
        <p:nvSpPr>
          <p:cNvPr id="5" name="QPanel"/>
          <p:cNvSpPr/>
          <p:nvPr/>
        </p:nvSpPr>
        <p:spPr>
          <a:xfrm>
            <a:off x="247680" y="1000000"/>
            <a:ext cx="4206240" cy="4100000"/>
          </a:xfrm>
          <a:prstGeom prst="rect">
            <a:avLst/>
          </a:prstGeom>
          <a:solidFill>
            <a:srgbClr val="1A2E4A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QPanelHdr"/>
          <p:cNvSpPr/>
          <p:nvPr/>
        </p:nvSpPr>
        <p:spPr>
          <a:xfrm>
            <a:off x="247680" y="1000000"/>
            <a:ext cx="4206240" cy="146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QPanelHdrTxt"/>
          <p:cNvSpPr/>
          <p:nvPr/>
        </p:nvSpPr>
        <p:spPr>
          <a:xfrm>
            <a:off x="339120" y="1036576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확인 질문</a:t>
            </a:r>
            <a:endParaRPr lang="en-US" dirty="0"/>
          </a:p>
        </p:txBody>
      </p:sp>
      <p:sp>
        <p:nvSpPr>
          <p:cNvPr id="8" name="Q0Bg"/>
          <p:cNvSpPr/>
          <p:nvPr/>
        </p:nvSpPr>
        <p:spPr>
          <a:xfrm>
            <a:off x="339120" y="1182880"/>
            <a:ext cx="4023360" cy="88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9" name="Q0Txt"/>
          <p:cNvSpPr/>
          <p:nvPr/>
        </p:nvSpPr>
        <p:spPr>
          <a:xfrm>
            <a:off x="430560" y="1274320"/>
            <a:ext cx="38404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@RestController와 @Controller의 처리 흐름 차이는?</a:t>
            </a:r>
            <a:endParaRPr lang="en-US" dirty="0"/>
          </a:p>
        </p:txBody>
      </p:sp>
      <p:sp>
        <p:nvSpPr>
          <p:cNvPr id="10" name="Q1Bg"/>
          <p:cNvSpPr/>
          <p:nvPr/>
        </p:nvSpPr>
        <p:spPr>
          <a:xfrm>
            <a:off x="339120" y="2132880"/>
            <a:ext cx="4023360" cy="88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1" name="Q1Txt"/>
          <p:cNvSpPr/>
          <p:nvPr/>
        </p:nvSpPr>
        <p:spPr>
          <a:xfrm>
            <a:off x="430560" y="2224320"/>
            <a:ext cx="38404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파일 업로드 HTML form에 반드시 필요한 속성은?</a:t>
            </a:r>
            <a:endParaRPr lang="en-US" dirty="0"/>
          </a:p>
        </p:txBody>
      </p:sp>
      <p:sp>
        <p:nvSpPr>
          <p:cNvPr id="12" name="Q2Bg"/>
          <p:cNvSpPr/>
          <p:nvPr/>
        </p:nvSpPr>
        <p:spPr>
          <a:xfrm>
            <a:off x="339120" y="3082880"/>
            <a:ext cx="4023360" cy="88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3" name="Q2Txt"/>
          <p:cNvSpPr/>
          <p:nvPr/>
        </p:nvSpPr>
        <p:spPr>
          <a:xfrm>
            <a:off x="430560" y="3174320"/>
            <a:ext cx="38404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preHandle()에서 return false의 의미는?</a:t>
            </a:r>
            <a:endParaRPr lang="en-US" dirty="0"/>
          </a:p>
        </p:txBody>
      </p:sp>
      <p:sp>
        <p:nvSpPr>
          <p:cNvPr id="14" name="Q3Bg"/>
          <p:cNvSpPr/>
          <p:nvPr/>
        </p:nvSpPr>
        <p:spPr>
          <a:xfrm>
            <a:off x="339120" y="4032880"/>
            <a:ext cx="4023360" cy="88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5" name="Q3Txt"/>
          <p:cNvSpPr/>
          <p:nvPr/>
        </p:nvSpPr>
        <p:spPr>
          <a:xfrm>
            <a:off x="430560" y="4124320"/>
            <a:ext cx="38404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게시글 등록 후 redirect를 사용하는 이유는?</a:t>
            </a:r>
            <a:endParaRPr lang="en-US" dirty="0"/>
          </a:p>
        </p:txBody>
      </p:sp>
      <p:sp>
        <p:nvSpPr>
          <p:cNvPr id="16" name="NextPanel"/>
          <p:cNvSpPr/>
          <p:nvPr/>
        </p:nvSpPr>
        <p:spPr>
          <a:xfrm>
            <a:off x="4704480" y="1000000"/>
            <a:ext cx="4191840" cy="4100000"/>
          </a:xfrm>
          <a:prstGeom prst="rect">
            <a:avLst/>
          </a:prstGeom>
          <a:solidFill>
            <a:srgbClr val="1A2E4A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NextHdr"/>
          <p:cNvSpPr/>
          <p:nvPr/>
        </p:nvSpPr>
        <p:spPr>
          <a:xfrm>
            <a:off x="4704480" y="1000000"/>
            <a:ext cx="4191840" cy="14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NextHdrTxt"/>
          <p:cNvSpPr/>
          <p:nvPr/>
        </p:nvSpPr>
        <p:spPr>
          <a:xfrm>
            <a:off x="4795920" y="1036576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 예고 — AOP ①</a:t>
            </a:r>
            <a:endParaRPr lang="en-US" dirty="0"/>
          </a:p>
        </p:txBody>
      </p:sp>
      <p:sp>
        <p:nvSpPr>
          <p:cNvPr id="19" name="N0Bg"/>
          <p:cNvSpPr/>
          <p:nvPr/>
        </p:nvSpPr>
        <p:spPr>
          <a:xfrm>
            <a:off x="4795920" y="11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20" name="N0Ann"/>
          <p:cNvSpPr/>
          <p:nvPr/>
        </p:nvSpPr>
        <p:spPr>
          <a:xfrm>
            <a:off x="4887360" y="12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OOP의 한계</a:t>
            </a:r>
            <a:endParaRPr lang="en-US" dirty="0"/>
          </a:p>
        </p:txBody>
      </p:sp>
      <p:sp>
        <p:nvSpPr>
          <p:cNvPr id="21" name="N0Desc"/>
          <p:cNvSpPr/>
          <p:nvPr/>
        </p:nvSpPr>
        <p:spPr>
          <a:xfrm>
            <a:off x="4887360" y="15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 관심사(로그, 권한, 트랜잭션) 반복 코드</a:t>
            </a:r>
            <a:endParaRPr lang="en-US" dirty="0"/>
          </a:p>
        </p:txBody>
      </p:sp>
      <p:sp>
        <p:nvSpPr>
          <p:cNvPr id="22" name="N1Bg"/>
          <p:cNvSpPr/>
          <p:nvPr/>
        </p:nvSpPr>
        <p:spPr>
          <a:xfrm>
            <a:off x="4795920" y="193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23" name="N1Ann"/>
          <p:cNvSpPr/>
          <p:nvPr/>
        </p:nvSpPr>
        <p:spPr>
          <a:xfrm>
            <a:off x="4887360" y="202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핵심 용어</a:t>
            </a:r>
            <a:endParaRPr lang="en-US" dirty="0"/>
          </a:p>
        </p:txBody>
      </p:sp>
      <p:sp>
        <p:nvSpPr>
          <p:cNvPr id="24" name="N1Desc"/>
          <p:cNvSpPr/>
          <p:nvPr/>
        </p:nvSpPr>
        <p:spPr>
          <a:xfrm>
            <a:off x="4887360" y="231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· Advice · JoinPoint · Pointcut · Weaving</a:t>
            </a:r>
            <a:endParaRPr lang="en-US" dirty="0"/>
          </a:p>
        </p:txBody>
      </p:sp>
      <p:sp>
        <p:nvSpPr>
          <p:cNvPr id="25" name="N2Bg"/>
          <p:cNvSpPr/>
          <p:nvPr/>
        </p:nvSpPr>
        <p:spPr>
          <a:xfrm>
            <a:off x="4795920" y="26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6" name="N2Ann"/>
          <p:cNvSpPr/>
          <p:nvPr/>
        </p:nvSpPr>
        <p:spPr>
          <a:xfrm>
            <a:off x="4887360" y="27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종류</a:t>
            </a:r>
            <a:endParaRPr lang="en-US" dirty="0"/>
          </a:p>
        </p:txBody>
      </p:sp>
      <p:sp>
        <p:nvSpPr>
          <p:cNvPr id="27" name="N2Desc"/>
          <p:cNvSpPr/>
          <p:nvPr/>
        </p:nvSpPr>
        <p:spPr>
          <a:xfrm>
            <a:off x="4887360" y="30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 · @After · @AfterReturning · @AfterThrowing · @Around</a:t>
            </a:r>
            <a:endParaRPr lang="en-US" dirty="0"/>
          </a:p>
        </p:txBody>
      </p:sp>
      <p:sp>
        <p:nvSpPr>
          <p:cNvPr id="28" name="N3Bg"/>
          <p:cNvSpPr/>
          <p:nvPr/>
        </p:nvSpPr>
        <p:spPr>
          <a:xfrm>
            <a:off x="4795920" y="343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29" name="N3Ann"/>
          <p:cNvSpPr/>
          <p:nvPr/>
        </p:nvSpPr>
        <p:spPr>
          <a:xfrm>
            <a:off x="4887360" y="352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방식 AOP</a:t>
            </a:r>
            <a:endParaRPr lang="en-US" dirty="0"/>
          </a:p>
        </p:txBody>
      </p:sp>
      <p:sp>
        <p:nvSpPr>
          <p:cNvPr id="30" name="N3Desc"/>
          <p:cNvSpPr/>
          <p:nvPr/>
        </p:nvSpPr>
        <p:spPr>
          <a:xfrm>
            <a:off x="4887360" y="381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&amp;lt;aop:config&amp;gt; + &amp;lt;aop:aspect&amp;gt; + execution 표현식</a:t>
            </a:r>
            <a:endParaRPr lang="en-US" dirty="0"/>
          </a:p>
        </p:txBody>
      </p:sp>
      <p:sp>
        <p:nvSpPr>
          <p:cNvPr id="31" name="N4Bg"/>
          <p:cNvSpPr/>
          <p:nvPr/>
        </p:nvSpPr>
        <p:spPr>
          <a:xfrm>
            <a:off x="4795920" y="41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F9A825"/>
            </a:solidFill>
            <a:prstDash val="solid"/>
          </a:ln>
        </p:spPr>
      </p:sp>
      <p:sp>
        <p:nvSpPr>
          <p:cNvPr id="32" name="N4Ann"/>
          <p:cNvSpPr/>
          <p:nvPr/>
        </p:nvSpPr>
        <p:spPr>
          <a:xfrm>
            <a:off x="4887360" y="42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AOP</a:t>
            </a:r>
            <a:endParaRPr lang="en-US" dirty="0"/>
          </a:p>
        </p:txBody>
      </p:sp>
      <p:sp>
        <p:nvSpPr>
          <p:cNvPr id="33" name="N4Desc"/>
          <p:cNvSpPr/>
          <p:nvPr/>
        </p:nvSpPr>
        <p:spPr>
          <a:xfrm>
            <a:off x="4887360" y="45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@Aspect + @Around 로 실행 시간 측정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8일차 핵심 정리</a:t>
            </a:r>
            <a:endParaRPr lang="en-US" dirty="0"/>
          </a:p>
        </p:txBody>
      </p:sp>
      <p:sp>
        <p:nvSpPr>
          <p:cNvPr id="4" name="TitleLine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RowBg0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RowBar01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RowNum01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RowTitle01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</a:t>
            </a:r>
            <a:endParaRPr lang="en-US" dirty="0"/>
          </a:p>
        </p:txBody>
      </p:sp>
      <p:sp>
        <p:nvSpPr>
          <p:cNvPr id="9" name="RowDesc01"/>
          <p:cNvSpPr/>
          <p:nvPr/>
        </p:nvSpPr>
        <p:spPr>
          <a:xfrm>
            <a:off x="1188720" y="1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Jackson이 있으면 객체를 자동으로 JSON 변환  |  DTO에 기본 생성자 + getter 필수</a:t>
            </a:r>
            <a:endParaRPr lang="en-US" dirty="0"/>
          </a:p>
        </p:txBody>
      </p:sp>
      <p:sp>
        <p:nvSpPr>
          <p:cNvPr id="15" name="RowBg02"/>
          <p:cNvSpPr/>
          <p:nvPr/>
        </p:nvSpPr>
        <p:spPr>
          <a:xfrm>
            <a:off x="365760" y="1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RowBar02"/>
          <p:cNvSpPr/>
          <p:nvPr/>
        </p:nvSpPr>
        <p:spPr>
          <a:xfrm>
            <a:off x="365760" y="191440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RowNum02"/>
          <p:cNvSpPr/>
          <p:nvPr/>
        </p:nvSpPr>
        <p:spPr>
          <a:xfrm>
            <a:off x="566928" y="1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8" name="RowTitle02"/>
          <p:cNvSpPr/>
          <p:nvPr/>
        </p:nvSpPr>
        <p:spPr>
          <a:xfrm>
            <a:off x="1188720" y="1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3단계</a:t>
            </a:r>
            <a:endParaRPr lang="en-US" dirty="0"/>
          </a:p>
        </p:txBody>
      </p:sp>
      <p:sp>
        <p:nvSpPr>
          <p:cNvPr id="19" name="RowDesc02"/>
          <p:cNvSpPr/>
          <p:nvPr/>
        </p:nvSpPr>
        <p:spPr>
          <a:xfrm>
            <a:off x="1188720" y="2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&amp;lt;multipart-config&amp;gt; → StandardServletMultipartResolver → MultipartFile</a:t>
            </a:r>
            <a:endParaRPr lang="en-US" dirty="0"/>
          </a:p>
        </p:txBody>
      </p:sp>
      <p:sp>
        <p:nvSpPr>
          <p:cNvPr id="25" name="RowBg03"/>
          <p:cNvSpPr/>
          <p:nvPr/>
        </p:nvSpPr>
        <p:spPr>
          <a:xfrm>
            <a:off x="365760" y="2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RowBar03"/>
          <p:cNvSpPr/>
          <p:nvPr/>
        </p:nvSpPr>
        <p:spPr>
          <a:xfrm>
            <a:off x="365760" y="2914400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RowNum03"/>
          <p:cNvSpPr/>
          <p:nvPr/>
        </p:nvSpPr>
        <p:spPr>
          <a:xfrm>
            <a:off x="566928" y="2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8" name="RowTitle03"/>
          <p:cNvSpPr/>
          <p:nvPr/>
        </p:nvSpPr>
        <p:spPr>
          <a:xfrm>
            <a:off x="1188720" y="2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HandlerInterceptor.preHandle()</a:t>
            </a:r>
            <a:endParaRPr lang="en-US" dirty="0"/>
          </a:p>
        </p:txBody>
      </p:sp>
      <p:sp>
        <p:nvSpPr>
          <p:cNvPr id="29" name="RowDesc03"/>
          <p:cNvSpPr/>
          <p:nvPr/>
        </p:nvSpPr>
        <p:spPr>
          <a:xfrm>
            <a:off x="1188720" y="3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= 요청 차단  |  sendRedirect() + return false 세트로 기억</a:t>
            </a:r>
            <a:endParaRPr lang="en-US" dirty="0"/>
          </a:p>
        </p:txBody>
      </p:sp>
      <p:sp>
        <p:nvSpPr>
          <p:cNvPr id="35" name="RowBg04"/>
          <p:cNvSpPr/>
          <p:nvPr/>
        </p:nvSpPr>
        <p:spPr>
          <a:xfrm>
            <a:off x="365760" y="3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RowBar04"/>
          <p:cNvSpPr/>
          <p:nvPr/>
        </p:nvSpPr>
        <p:spPr>
          <a:xfrm>
            <a:off x="365760" y="3914400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RowNum04"/>
          <p:cNvSpPr/>
          <p:nvPr/>
        </p:nvSpPr>
        <p:spPr>
          <a:xfrm>
            <a:off x="566928" y="3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8" name="RowTitle04"/>
          <p:cNvSpPr/>
          <p:nvPr/>
        </p:nvSpPr>
        <p:spPr>
          <a:xfrm>
            <a:off x="1188720" y="3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URL 패턴</a:t>
            </a:r>
            <a:endParaRPr lang="en-US" dirty="0"/>
          </a:p>
        </p:txBody>
      </p:sp>
      <p:sp>
        <p:nvSpPr>
          <p:cNvPr id="39" name="RowDesc04"/>
          <p:cNvSpPr/>
          <p:nvPr/>
        </p:nvSpPr>
        <p:spPr>
          <a:xfrm>
            <a:off x="1188720" y="4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GET(조회) + POST(변경) 분리  |  변경 후 redirect:/board/list  (PRG 패턴)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8일차 핵심 정리</a:t>
            </a:r>
            <a:endParaRPr lang="en-US" dirty="0"/>
          </a:p>
        </p:txBody>
      </p:sp>
      <p:sp>
        <p:nvSpPr>
          <p:cNvPr id="4" name="TitleLine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RowBg0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RowBar01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RowNum01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RowTitle01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</a:t>
            </a:r>
            <a:endParaRPr lang="en-US" dirty="0"/>
          </a:p>
        </p:txBody>
      </p:sp>
      <p:sp>
        <p:nvSpPr>
          <p:cNvPr id="9" name="RowDesc01"/>
          <p:cNvSpPr/>
          <p:nvPr/>
        </p:nvSpPr>
        <p:spPr>
          <a:xfrm>
            <a:off x="1188720" y="1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Jackson이 있으면 객체를 자동으로 JSON 변환  |  DTO에 기본 생성자 + getter 필수</a:t>
            </a:r>
            <a:endParaRPr lang="en-US" dirty="0"/>
          </a:p>
        </p:txBody>
      </p:sp>
      <p:sp>
        <p:nvSpPr>
          <p:cNvPr id="15" name="RowBg02"/>
          <p:cNvSpPr/>
          <p:nvPr/>
        </p:nvSpPr>
        <p:spPr>
          <a:xfrm>
            <a:off x="365760" y="1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RowBar02"/>
          <p:cNvSpPr/>
          <p:nvPr/>
        </p:nvSpPr>
        <p:spPr>
          <a:xfrm>
            <a:off x="365760" y="191440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RowNum02"/>
          <p:cNvSpPr/>
          <p:nvPr/>
        </p:nvSpPr>
        <p:spPr>
          <a:xfrm>
            <a:off x="566928" y="1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8" name="RowTitle02"/>
          <p:cNvSpPr/>
          <p:nvPr/>
        </p:nvSpPr>
        <p:spPr>
          <a:xfrm>
            <a:off x="1188720" y="1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3단계</a:t>
            </a:r>
            <a:endParaRPr lang="en-US" dirty="0"/>
          </a:p>
        </p:txBody>
      </p:sp>
      <p:sp>
        <p:nvSpPr>
          <p:cNvPr id="19" name="RowDesc02"/>
          <p:cNvSpPr/>
          <p:nvPr/>
        </p:nvSpPr>
        <p:spPr>
          <a:xfrm>
            <a:off x="1188720" y="2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&amp;lt;multipart-config&amp;gt; → StandardServletMultipartResolver → MultipartFile</a:t>
            </a:r>
            <a:endParaRPr lang="en-US" dirty="0"/>
          </a:p>
        </p:txBody>
      </p:sp>
      <p:sp>
        <p:nvSpPr>
          <p:cNvPr id="25" name="RowBg03"/>
          <p:cNvSpPr/>
          <p:nvPr/>
        </p:nvSpPr>
        <p:spPr>
          <a:xfrm>
            <a:off x="365760" y="2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RowBar03"/>
          <p:cNvSpPr/>
          <p:nvPr/>
        </p:nvSpPr>
        <p:spPr>
          <a:xfrm>
            <a:off x="365760" y="2914400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RowNum03"/>
          <p:cNvSpPr/>
          <p:nvPr/>
        </p:nvSpPr>
        <p:spPr>
          <a:xfrm>
            <a:off x="566928" y="2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8" name="RowTitle03"/>
          <p:cNvSpPr/>
          <p:nvPr/>
        </p:nvSpPr>
        <p:spPr>
          <a:xfrm>
            <a:off x="1188720" y="2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HandlerInterceptor.preHandle()</a:t>
            </a:r>
            <a:endParaRPr lang="en-US" dirty="0"/>
          </a:p>
        </p:txBody>
      </p:sp>
      <p:sp>
        <p:nvSpPr>
          <p:cNvPr id="29" name="RowDesc03"/>
          <p:cNvSpPr/>
          <p:nvPr/>
        </p:nvSpPr>
        <p:spPr>
          <a:xfrm>
            <a:off x="1188720" y="3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= 요청 차단  |  sendRedirect() + return false 세트로 기억</a:t>
            </a:r>
            <a:endParaRPr lang="en-US" dirty="0"/>
          </a:p>
        </p:txBody>
      </p:sp>
      <p:sp>
        <p:nvSpPr>
          <p:cNvPr id="35" name="RowBg04"/>
          <p:cNvSpPr/>
          <p:nvPr/>
        </p:nvSpPr>
        <p:spPr>
          <a:xfrm>
            <a:off x="365760" y="3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RowBar04"/>
          <p:cNvSpPr/>
          <p:nvPr/>
        </p:nvSpPr>
        <p:spPr>
          <a:xfrm>
            <a:off x="365760" y="3914400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RowNum04"/>
          <p:cNvSpPr/>
          <p:nvPr/>
        </p:nvSpPr>
        <p:spPr>
          <a:xfrm>
            <a:off x="566928" y="3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8" name="RowTitle04"/>
          <p:cNvSpPr/>
          <p:nvPr/>
        </p:nvSpPr>
        <p:spPr>
          <a:xfrm>
            <a:off x="1188720" y="3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URL 패턴</a:t>
            </a:r>
            <a:endParaRPr lang="en-US" dirty="0"/>
          </a:p>
        </p:txBody>
      </p:sp>
      <p:sp>
        <p:nvSpPr>
          <p:cNvPr id="39" name="RowDesc04"/>
          <p:cNvSpPr/>
          <p:nvPr/>
        </p:nvSpPr>
        <p:spPr>
          <a:xfrm>
            <a:off x="1188720" y="4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GET(조회) + POST(변경) 분리  |  변경 후 redirect:/board/list  (PRG 패턴)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8일차 핵심 정리</a:t>
            </a:r>
            <a:endParaRPr lang="en-US" dirty="0"/>
          </a:p>
        </p:txBody>
      </p:sp>
      <p:sp>
        <p:nvSpPr>
          <p:cNvPr id="4" name="TitleLine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RowBg0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RowBar01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RowNum01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RowTitle01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</a:t>
            </a:r>
            <a:endParaRPr lang="en-US" dirty="0"/>
          </a:p>
        </p:txBody>
      </p:sp>
      <p:sp>
        <p:nvSpPr>
          <p:cNvPr id="9" name="RowDesc01"/>
          <p:cNvSpPr/>
          <p:nvPr/>
        </p:nvSpPr>
        <p:spPr>
          <a:xfrm>
            <a:off x="1188720" y="1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Jackson이 있으면 객체를 자동으로 JSON 변환  |  DTO에 기본 생성자 + getter 필수</a:t>
            </a:r>
            <a:endParaRPr lang="en-US" dirty="0"/>
          </a:p>
        </p:txBody>
      </p:sp>
      <p:sp>
        <p:nvSpPr>
          <p:cNvPr id="15" name="RowBg02"/>
          <p:cNvSpPr/>
          <p:nvPr/>
        </p:nvSpPr>
        <p:spPr>
          <a:xfrm>
            <a:off x="365760" y="1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RowBar02"/>
          <p:cNvSpPr/>
          <p:nvPr/>
        </p:nvSpPr>
        <p:spPr>
          <a:xfrm>
            <a:off x="365760" y="191440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RowNum02"/>
          <p:cNvSpPr/>
          <p:nvPr/>
        </p:nvSpPr>
        <p:spPr>
          <a:xfrm>
            <a:off x="566928" y="1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8" name="RowTitle02"/>
          <p:cNvSpPr/>
          <p:nvPr/>
        </p:nvSpPr>
        <p:spPr>
          <a:xfrm>
            <a:off x="1188720" y="1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3단계</a:t>
            </a:r>
            <a:endParaRPr lang="en-US" dirty="0"/>
          </a:p>
        </p:txBody>
      </p:sp>
      <p:sp>
        <p:nvSpPr>
          <p:cNvPr id="19" name="RowDesc02"/>
          <p:cNvSpPr/>
          <p:nvPr/>
        </p:nvSpPr>
        <p:spPr>
          <a:xfrm>
            <a:off x="1188720" y="2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&amp;lt;multipart-config&amp;gt; → StandardServletMultipartResolver → MultipartFile</a:t>
            </a:r>
            <a:endParaRPr lang="en-US" dirty="0"/>
          </a:p>
        </p:txBody>
      </p:sp>
      <p:sp>
        <p:nvSpPr>
          <p:cNvPr id="25" name="RowBg03"/>
          <p:cNvSpPr/>
          <p:nvPr/>
        </p:nvSpPr>
        <p:spPr>
          <a:xfrm>
            <a:off x="365760" y="2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RowBar03"/>
          <p:cNvSpPr/>
          <p:nvPr/>
        </p:nvSpPr>
        <p:spPr>
          <a:xfrm>
            <a:off x="365760" y="2914400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RowNum03"/>
          <p:cNvSpPr/>
          <p:nvPr/>
        </p:nvSpPr>
        <p:spPr>
          <a:xfrm>
            <a:off x="566928" y="2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8" name="RowTitle03"/>
          <p:cNvSpPr/>
          <p:nvPr/>
        </p:nvSpPr>
        <p:spPr>
          <a:xfrm>
            <a:off x="1188720" y="2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HandlerInterceptor.preHandle()</a:t>
            </a:r>
            <a:endParaRPr lang="en-US" dirty="0"/>
          </a:p>
        </p:txBody>
      </p:sp>
      <p:sp>
        <p:nvSpPr>
          <p:cNvPr id="29" name="RowDesc03"/>
          <p:cNvSpPr/>
          <p:nvPr/>
        </p:nvSpPr>
        <p:spPr>
          <a:xfrm>
            <a:off x="1188720" y="3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= 요청 차단  |  sendRedirect() + return false 세트로 기억</a:t>
            </a:r>
            <a:endParaRPr lang="en-US" dirty="0"/>
          </a:p>
        </p:txBody>
      </p:sp>
      <p:sp>
        <p:nvSpPr>
          <p:cNvPr id="35" name="RowBg04"/>
          <p:cNvSpPr/>
          <p:nvPr/>
        </p:nvSpPr>
        <p:spPr>
          <a:xfrm>
            <a:off x="365760" y="3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RowBar04"/>
          <p:cNvSpPr/>
          <p:nvPr/>
        </p:nvSpPr>
        <p:spPr>
          <a:xfrm>
            <a:off x="365760" y="3914400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RowNum04"/>
          <p:cNvSpPr/>
          <p:nvPr/>
        </p:nvSpPr>
        <p:spPr>
          <a:xfrm>
            <a:off x="566928" y="3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8" name="RowTitle04"/>
          <p:cNvSpPr/>
          <p:nvPr/>
        </p:nvSpPr>
        <p:spPr>
          <a:xfrm>
            <a:off x="1188720" y="3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 CRUD URL 패턴</a:t>
            </a:r>
            <a:endParaRPr lang="en-US" dirty="0"/>
          </a:p>
        </p:txBody>
      </p:sp>
      <p:sp>
        <p:nvSpPr>
          <p:cNvPr id="39" name="RowDesc04"/>
          <p:cNvSpPr/>
          <p:nvPr/>
        </p:nvSpPr>
        <p:spPr>
          <a:xfrm>
            <a:off x="1188720" y="4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GET(조회) + POST(변경) 분리  |  변경 후 redirect:/board/list  (PRG 패턴)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2182</Words>
  <Application>Microsoft Office PowerPoint</Application>
  <PresentationFormat>화면 슬라이드 쇼(16:9)</PresentationFormat>
  <Paragraphs>392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6일차 - Spring MVC ①</dc:title>
  <dc:subject>PptxGenJS Presentation</dc:subject>
  <dc:creator>PptxGenJS</dc:creator>
  <cp:lastModifiedBy>Administrator</cp:lastModifiedBy>
  <cp:revision>3</cp:revision>
  <dcterms:created xsi:type="dcterms:W3CDTF">2026-05-25T16:52:25Z</dcterms:created>
  <dcterms:modified xsi:type="dcterms:W3CDTF">2026-06-04T04:37:06Z</dcterms:modified>
</cp:coreProperties>
</file>