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91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3CB0B-EF31-31E9-83CF-56F416BAB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0124D-2C42-5950-E8C3-AF9D0BD86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B3D46-0B8A-CF13-F59D-27BB693C7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19C99-72A7-C026-2AF1-CDCB6364C9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78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852160" y="0"/>
            <a:ext cx="64008" cy="514350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풀스택 개발자 양성과정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①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Controller · DispatcherServlet · ViewResolver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1097280" cy="43891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39572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선수학습: 5일차 완료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914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197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~ 18:00  (8H)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80760" y="1901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21854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Controller 패턴 &amp; MVC 흐름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80760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31729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DispatcherServlet 설정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80760" y="38770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3-4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4160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HandlerMapping, ViewResolver, @Controller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6.2  ·  Jakarta EE  ·  Tomcat 10.1+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수업이 끝나면 다음을 할 수 있어야 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73152" cy="15727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30352" y="1325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1344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Controller 패턴 설명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0352" y="189280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JSP/Servlet 방식의 문제점과 Front Controller로 해결하는 원리를 비교 설명할 수 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73152" cy="15727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82312" y="1325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76088" y="1344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처리 흐름 6단계 설명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2312" y="189280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DispatcherServlet → HandlerMapping → HandlerAdapter → Controller → ViewResolver → View 흐름을 순서대로 말할 수 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9008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2990088"/>
            <a:ext cx="73152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0352" y="3081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24128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web.xml + dispatcher-context.xml 작성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30352" y="36484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WAR 프로젝트에서 DispatcherServlet, CharacterEncodingFilter, ViewResolver 설정을 직접 작성할 수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99008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17720" y="2990088"/>
            <a:ext cx="73152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82312" y="3081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76088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+ @RequestMapping 구현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82312" y="36484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@Controller, @GetMapping, @RequestParam, Model을 사용해 JSP 뷰에 데이터를 전달하는 컨트롤러를 작성할 수 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743E9-BB95-2088-165A-B47094B1D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9E8645-924E-6910-2286-C97BFE3DED65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D58E0F-96F5-A94D-3D68-7633A0A00A35}"/>
              </a:ext>
            </a:extLst>
          </p:cNvPr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6DCD8B-EBCD-1547-826A-CB203AE360EE}"/>
              </a:ext>
            </a:extLst>
          </p:cNvPr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이클립스 셋팅 추가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AD7761-1EF7-0F36-09AC-D7F73FD252C4}"/>
              </a:ext>
            </a:extLst>
          </p:cNvPr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Complie </a:t>
            </a:r>
            <a:r>
              <a:rPr lang="ko-KR" altLang="en-US" sz="120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추가</a:t>
            </a:r>
            <a:endParaRPr lang="en-US" sz="12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51D24D8-41F0-03F5-8520-17FD7BC4F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068" y="1143000"/>
            <a:ext cx="7099663" cy="3879644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D16DE959-7500-7DE5-7037-A6DEAA9B7A56}"/>
              </a:ext>
            </a:extLst>
          </p:cNvPr>
          <p:cNvSpPr/>
          <p:nvPr/>
        </p:nvSpPr>
        <p:spPr>
          <a:xfrm>
            <a:off x="3074126" y="4511040"/>
            <a:ext cx="3317965" cy="2699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3289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JSP/Servlet 방식의 문제점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로직이 모든 서블릿에 중복 — 유지보수의 악몽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1737360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7472" y="12070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요청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645920"/>
            <a:ext cx="1737360" cy="347472"/>
          </a:xfrm>
          <a:prstGeom prst="rect">
            <a:avLst/>
          </a:prstGeom>
          <a:solidFill>
            <a:srgbClr val="1A2E4A">
              <a:alpha val="70000"/>
            </a:srgbClr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47472" y="1645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1618488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14600" y="1572768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514600" y="1572768"/>
            <a:ext cx="64008" cy="7132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651760" y="16367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LoginServlet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195681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인코딩 · 로그인체크 · 예외처리 · 뷰이동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487168"/>
            <a:ext cx="1737360" cy="347472"/>
          </a:xfrm>
          <a:prstGeom prst="rect">
            <a:avLst/>
          </a:prstGeom>
          <a:solidFill>
            <a:srgbClr val="1A2E4A">
              <a:alpha val="70000"/>
            </a:srgbClr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7472" y="2487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2459736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514600" y="2414016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514600" y="2414016"/>
            <a:ext cx="64008" cy="7132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651760" y="24780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OrderServlet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27980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인코딩 · 로그인체크 · 예외처리 · 뷰이동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328416"/>
            <a:ext cx="1737360" cy="347472"/>
          </a:xfrm>
          <a:prstGeom prst="rect">
            <a:avLst/>
          </a:prstGeom>
          <a:solidFill>
            <a:srgbClr val="1A2E4A">
              <a:alpha val="70000"/>
            </a:srgbClr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47472" y="33284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48840" y="3300984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514600" y="3255264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514600" y="3255264"/>
            <a:ext cx="64008" cy="7132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651760" y="33192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ProductServlet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36393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인코딩 · 로그인체크 · 예외처리 · 뷰이동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4169664"/>
            <a:ext cx="1737360" cy="347472"/>
          </a:xfrm>
          <a:prstGeom prst="rect">
            <a:avLst/>
          </a:prstGeom>
          <a:solidFill>
            <a:srgbClr val="1A2E4A">
              <a:alpha val="70000"/>
            </a:srgbClr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47472" y="41696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48840" y="414223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514600" y="4096512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514600" y="4096512"/>
            <a:ext cx="64008" cy="7132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651760" y="4160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CartServlet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651760" y="44805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인코딩 · 로그인체크 · 예외처리 · 뷰이동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74920" y="1207008"/>
            <a:ext cx="372160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5074920" y="1207008"/>
            <a:ext cx="3721608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074920" y="120700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반복되는 공통 처리 코드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230368" y="1682496"/>
            <a:ext cx="3401568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230368" y="170078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 인코딩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30368" y="19019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request.setCharacterEncoding("UTF-8")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30368" y="2340864"/>
            <a:ext cx="3401568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230368" y="235915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체크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30368" y="25603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session.getAttribute("loginUser")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230368" y="2999232"/>
            <a:ext cx="3401568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230368" y="301752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처리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230368" y="321868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 ... } catch (Exception e) {...}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30368" y="3657600"/>
            <a:ext cx="3401568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230368" y="367588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 이동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230368" y="387705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dispatcher.forward(request, response)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74920" y="4334256"/>
            <a:ext cx="3721608" cy="512064"/>
          </a:xfrm>
          <a:prstGeom prst="rect">
            <a:avLst/>
          </a:prstGeom>
          <a:solidFill>
            <a:srgbClr val="FDE8E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5166360" y="4370832"/>
            <a:ext cx="3538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N개 서블릿에 동일 코드 복붙 → 변경 시 모두 수정 필요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47472" y="5166360"/>
            <a:ext cx="4572000" cy="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Controller 패턴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요청을 하나의 진입점에서 받아 공통 처리 후 위임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041648" cy="292608"/>
          </a:xfrm>
          <a:prstGeom prst="rect">
            <a:avLst/>
          </a:prstGeom>
          <a:solidFill>
            <a:srgbClr val="C62828">
              <a:alpha val="2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7472" y="120700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  —  중복 공통처리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554480"/>
            <a:ext cx="40416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59105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 → LoginServlet (공통처리)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194560"/>
            <a:ext cx="40416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/order → OrderServlet (공통처리)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834640"/>
            <a:ext cx="40416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8712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 → ProductServlet (공통처리)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207008"/>
            <a:ext cx="4041648" cy="292608"/>
          </a:xfrm>
          <a:prstGeom prst="rect">
            <a:avLst/>
          </a:prstGeom>
          <a:solidFill>
            <a:srgbClr val="43A047">
              <a:alpha val="2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0" y="120700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Controller 방식  —  공통처리 한 곳에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914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54880" y="159105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42432" y="160934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914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54880" y="223113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42432" y="224942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914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54880" y="287121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42432" y="288950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53328" y="1554480"/>
            <a:ext cx="1371600" cy="1901952"/>
          </a:xfrm>
          <a:prstGeom prst="rect">
            <a:avLst/>
          </a:prstGeom>
          <a:solidFill>
            <a:srgbClr val="F4511E">
              <a:alpha val="15000"/>
            </a:srgbClr>
          </a:solidFill>
          <a:ln w="1905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053328" y="15544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53328" y="25603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처리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0" y="2304288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790688" y="1554480"/>
            <a:ext cx="9875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790688" y="159105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LoginHandler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90688" y="2194560"/>
            <a:ext cx="9875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790688" y="223113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OrderHandler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90688" y="2834640"/>
            <a:ext cx="9875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790688" y="287121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ProductHandler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" y="3566160"/>
            <a:ext cx="8449056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57200" y="3566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Controller의 장점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8912" y="3968496"/>
            <a:ext cx="274320" cy="274320"/>
          </a:xfrm>
          <a:prstGeom prst="ellipse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38912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3931920"/>
            <a:ext cx="7882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로직(인코딩, 인증, 예외처리)을 Front Controller 한 곳에서 관리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38912" y="4370832"/>
            <a:ext cx="274320" cy="274320"/>
          </a:xfrm>
          <a:prstGeom prst="ellipse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38912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" y="4334256"/>
            <a:ext cx="7882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기능 추가 시 Handler만 추가 — 공통 처리 코드 변경 불필요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38912" y="4773168"/>
            <a:ext cx="274320" cy="2743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38912" y="4773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" y="4736592"/>
            <a:ext cx="7882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중복 제거, 일관성 보장, 유지보수 용이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전체 처리 흐름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DispatcherServlet이 Front Controller — 7단계 흐름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16152"/>
            <a:ext cx="8449056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16152"/>
            <a:ext cx="73152" cy="5486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12064" y="1298448"/>
            <a:ext cx="365760" cy="365760"/>
          </a:xfrm>
          <a:prstGeom prst="ellipse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12064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2801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DispatcherServlet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82112" y="128016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요청 수신 (Front Controller) — web.xml에 등록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" y="1764792"/>
            <a:ext cx="54864" cy="82296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47472" y="1847088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47472" y="1847088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12064" y="1929384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12064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191109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HandlerMapping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82112" y="191109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@RequestMapping 정보로 요청 URL → Handler(Controller) 매핑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" y="2395728"/>
            <a:ext cx="54864" cy="82296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47472" y="2478024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2478024"/>
            <a:ext cx="73152" cy="5486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12064" y="2560320"/>
            <a:ext cx="365760" cy="36576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12064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25420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HandlerAdapter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82112" y="254203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실행 방식 추상화 — @Controller 방식, 인터페이스 방식 등 지원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" y="3026664"/>
            <a:ext cx="54864" cy="82296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47472" y="3108960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47472" y="3108960"/>
            <a:ext cx="73152" cy="5486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12064" y="3191256"/>
            <a:ext cx="365760" cy="36576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12064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7552" y="31729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82112" y="317296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로직 처리 → Model에 데이터 추가 → 뷰 이름 반환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" y="3657600"/>
            <a:ext cx="54864" cy="82296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47472" y="3739896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47472" y="3739896"/>
            <a:ext cx="73152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12064" y="3822192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12064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87552" y="380390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ViewResolver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182112" y="3803904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 이름("hello") → 실제 JSP 경로(/WEB-INF/views/hello.jsp) 변환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7512" y="4288536"/>
            <a:ext cx="54864" cy="82296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47472" y="4370832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347472" y="4370832"/>
            <a:ext cx="73152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512064" y="4453128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12064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87552" y="44348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(JSP)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182112" y="443484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데이터를 HTML로 렌더링 → 클라이언트에 응답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47472" y="5001768"/>
            <a:ext cx="8449056" cy="128016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47472" y="5001768"/>
            <a:ext cx="8449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6.x = jakarta.* 네임스페이스 → Tomcat 10.1+ 필수  |  DispatcherServlet이 HandlerMapping·HandlerAdapter·ViewResolver를 자동으로 선택·조율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WAR 프로젝트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WEB-INF/ 하위 파일은 클라이언트가 직접 접근 불가 — 보안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846320" cy="3886200"/>
          </a:xfrm>
          <a:prstGeom prst="rect">
            <a:avLst/>
          </a:prstGeom>
          <a:solidFill>
            <a:srgbClr val="1E2D3D"/>
          </a:solidFill>
          <a:ln w="12700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spring-mvc-basic/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pom.xml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8653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src/main/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1396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java/.../controller/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4140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HomeController.java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6883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HelloController.java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9626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webapp/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2369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index.jsp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35112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WEB-INF/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7856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web.xml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40599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spring/dispatcher-context.xml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43342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views/home.jsp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46085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views/hello.jsp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49240" y="1207008"/>
            <a:ext cx="344728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349240" y="1207008"/>
            <a:ext cx="3447288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349240" y="1207008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68112" y="168249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WEB-INF/ 보안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68112" y="1938528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브라우저가 URL로 직접 접근 불가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JSP를 views/에 넣으면 컨트롤러를 통해서만 접근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68112" y="2414016"/>
            <a:ext cx="3218688" cy="9144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468112" y="24871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web.xml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68112" y="2743200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Tomcat(서블릿 컨테이너)이 읽는 배포 기술자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DispatcherServlet·Filter 등록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68112" y="3218688"/>
            <a:ext cx="3218688" cy="9144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68112" y="3291840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dispatcher-context.xml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68112" y="3547872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ApplicationContext 설정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스캔, ViewResolver 등록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68112" y="4023360"/>
            <a:ext cx="3218688" cy="9144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468112" y="4096512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패키징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68112" y="4352544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pom.xml에서 &lt;packaging&gt;war&lt;/packaging&gt;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Tomcat에 배포되는 단위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web.xml — DispatcherServlet &amp; CharacterEncodingFilter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6.x: jakarta.* 네임스페이스, Tomcat 10.1+ 필수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041648" cy="2395728"/>
          </a:xfrm>
          <a:prstGeom prst="rect">
            <a:avLst/>
          </a:prstGeom>
          <a:solidFill>
            <a:srgbClr val="1E2D3D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7472" y="120700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DispatcherServlet 등록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17904"/>
            <a:ext cx="376732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&lt;servlet&gt;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&lt;servlet-name&gt;</a:t>
            </a: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</a:t>
            </a: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&lt;/servlet-name&gt;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&lt;servlet-class&gt;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DispatcherServlet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&lt;/servlet-class&gt;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&lt;init-param&gt;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&lt;param-name&gt;</a:t>
            </a: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contextConfigLocation</a:t>
            </a: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&lt;/param-name&gt;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&lt;param-value&gt;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/WEB-INF/spring/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dispatcher-context.xml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&lt;/param-value&gt;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&lt;/init-param&gt;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&lt;load-on-startup&gt;</a:t>
            </a: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&lt;/load-on-startup&gt;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&lt;/servlet&gt;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&lt;servlet-mapping&gt;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&lt;url-pattern&gt;</a:t>
            </a: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&lt;/url-pattern&gt;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&lt;/servlet-mapping&gt;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0" y="1207008"/>
            <a:ext cx="4224528" cy="2395728"/>
          </a:xfrm>
          <a:prstGeom prst="rect">
            <a:avLst/>
          </a:prstGeom>
          <a:solidFill>
            <a:srgbClr val="1E2D3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0" y="1207008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CharacterEncodingFilter (한글 처리)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0016" y="1517904"/>
            <a:ext cx="39502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&lt;filter&gt;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&lt;filter-name&gt;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encodingFilter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&lt;/filter-name&gt;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&lt;filter-class&gt;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CharacterEncodingFilter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&lt;/filter-class&gt;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&lt;init-param&gt;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&lt;param-name&gt;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&lt;/param-name&gt;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&lt;param-value&gt;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UTF-8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&lt;/param-value&gt;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&lt;/init-param&gt;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&lt;/filter&gt;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&lt;filter-mapping&gt;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&lt;url-pattern&gt;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&lt;/url-pattern&gt;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&lt;/filter-mapping&gt;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3675888"/>
            <a:ext cx="4041648" cy="566928"/>
          </a:xfrm>
          <a:prstGeom prst="rect">
            <a:avLst/>
          </a:prstGeom>
          <a:solidFill>
            <a:srgbClr val="FFF3E0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37124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url-pattern  "/"  vs  "/*"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931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→ 정적 자원은 DefaultServlet 위임 가능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 → 정적 자원까지 DispatcherServlet 처리 (JSP 렌더링 문제)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675888"/>
            <a:ext cx="4224528" cy="566928"/>
          </a:xfrm>
          <a:prstGeom prst="rect">
            <a:avLst/>
          </a:prstGeom>
          <a:solidFill>
            <a:srgbClr val="FDE8E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09160" y="37124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6.x 주의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931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jakarta.servlet.* (javax.* 아님)  |  Tomcat 9 이하 → 500 오류  |  Tomcat 10.1+ 필수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4315968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47472" y="4315968"/>
            <a:ext cx="7315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" y="4370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load-on-startup: 1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4626864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시작 시 DispatcherServlet을 즉시 초기화 (값이 없으면 첫 요청 시 초기화 — 첫 요청이 느려짐)  |  contextConfigLocation 미지정 시 /WEB-INF/dispatcher-servlet.xml 탐색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dispatcher-context.xml — Spring MVC Bean 설정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mvc:annotation-driven이 핵심 — 빠뜨리면 많은 기능이 비활성화됨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5029200" cy="3886200"/>
          </a:xfrm>
          <a:prstGeom prst="rect">
            <a:avLst/>
          </a:prstGeom>
          <a:solidFill>
            <a:srgbClr val="1E2D3D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7472" y="1207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dispatcher-context.xml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17904"/>
            <a:ext cx="475488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&lt;!-- 1. 어노테이션 기반 MVC 활성화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&lt;mvc:annotation-driven/&gt;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&lt;!-- 2. @Controller 클래스 스캔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&lt;context:component-scan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base-package=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"com.spring.day06.controller"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&lt;!-- 3. ViewResolver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class=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"...InternalResource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ViewResolver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 name=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"prefix"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"/WEB-INF/views/"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 name=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"suffix"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".jsp"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&lt;!-- 4. 정적 자원 처리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&lt;mvc:resources mapping=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"/resources/**"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"/resources/"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532120" y="1207008"/>
            <a:ext cx="326440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532120" y="1207008"/>
            <a:ext cx="64008" cy="82296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669280" y="12435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mvc:annotation-driven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481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RequestMappingHandlerMapping + RequestMappingHandlerAdapter 자동 등록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변환기, 유효성 검증, 파라미터 바인딩 등 기본 활성화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빠뜨리면 @RequestMapping은 되지만 많은 기능이 비활성화됨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32120" y="2121408"/>
            <a:ext cx="326440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532120" y="2121408"/>
            <a:ext cx="6400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669280" y="21579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component-scan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3957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base-package 하위의 @Controller, @Service 등 어노테이션 클래스 자동 Bean 등록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2120" y="3035808"/>
            <a:ext cx="326440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532120" y="3035808"/>
            <a:ext cx="64008" cy="8229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669280" y="30723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InternalResourceViewResolver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33101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+ 뷰이름 + suffix = 실제 JSP 경로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"home" → /WEB-INF/views/home.jsp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32120" y="3950208"/>
            <a:ext cx="326440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532120" y="3950208"/>
            <a:ext cx="64008" cy="82296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669280" y="39867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mvc:resources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4224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CSS, JS, 이미지 등 정적 자원 요청을 컨테이너 기본 서블릿에 위임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HandlerMapping &amp; ViewResolver 동작 원리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초기화 시 매핑 Map 구성 → 요청 시 빠른 조회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041648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404164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7472" y="1207008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RequestMappingHandlerMapping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시작 시 초기화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Spring ApplicationContext 초기화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@RequestMapping 어노테이션 전체 스캔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URL → Handler 매핑 Map 구성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35808"/>
            <a:ext cx="3767328" cy="237744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303580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매핑 Map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310128"/>
            <a:ext cx="3767328" cy="40233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4360" y="33467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"/"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03120" y="3346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HomeController.home()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785616"/>
            <a:ext cx="3767328" cy="40233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822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"/hello"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03120" y="3822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HelloController.hello()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261104"/>
            <a:ext cx="3767328" cy="40233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94360" y="4297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"/hello/greet"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3120" y="4297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HelloController.greet()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79145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+ 메서드 매핑 조합: @RequestMapping("/hello") + @GetMapping("/greet") → GET /hello/greet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53712" y="1207008"/>
            <a:ext cx="4242816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53712" y="1207008"/>
            <a:ext cx="4242816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53712" y="1207008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InternalResourceViewResolver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1682496"/>
            <a:ext cx="3931920" cy="32918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773168" y="1719072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 = "/WEB-INF/views/"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2066544"/>
            <a:ext cx="3931920" cy="32918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773168" y="2103120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suffix = ".jsp"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2523744"/>
            <a:ext cx="3931920" cy="237744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709160" y="25237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뷰이름 → JSP 경로 변환 예시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816352"/>
            <a:ext cx="3931920" cy="38404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773168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"home"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285292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/WEB-INF/views/home.jsp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273552"/>
            <a:ext cx="3931920" cy="38404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773168" y="3310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31012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/WEB-INF/views/hello.jsp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3730752"/>
            <a:ext cx="3931920" cy="38404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773168" y="3767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"product/list"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35040" y="376732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/WEB-INF/views/product/list.jsp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4187952"/>
            <a:ext cx="3931920" cy="38404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773168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"kiosk/order"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35040" y="422452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/WEB-INF/views/kiosk/order.jsp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+ @RequestMapping 작성법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= @Component + MVC Handler 인식 — 뷰 이름 반환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5212080" cy="3858768"/>
          </a:xfrm>
          <a:prstGeom prst="rect">
            <a:avLst/>
          </a:prstGeom>
          <a:solidFill>
            <a:srgbClr val="1E2D3D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7472" y="12070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HelloController.java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17904"/>
            <a:ext cx="493776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"/hello"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① 클래스 레벨 공통 접두사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HelloController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  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② GET /hello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hello(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addAttribute(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"greeting"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"안녕하세요, Spring MVC!");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// ③ 뷰 이름 반환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"/greet"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④ GET /hello/greet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greet(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@RequestParam(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defaultValue=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"손님"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String name,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addAttribute(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name);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"greet"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15000" y="1207008"/>
            <a:ext cx="3081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715000" y="1207008"/>
            <a:ext cx="64008" cy="676656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852160" y="12435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1481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 포함 — Bean 등록 + MVC Handler로 인식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 이름 String 반환 방식 동작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5000" y="1975104"/>
            <a:ext cx="3081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715000" y="1975104"/>
            <a:ext cx="64008" cy="6766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852160" y="20116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22494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레벨에 붙이면 모든 메서드 URL의 공통 접두사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레벨 URL과 조합됨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15000" y="2743200"/>
            <a:ext cx="3081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715000" y="2743200"/>
            <a:ext cx="64008" cy="676656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52160" y="277977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017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@RequestMapping(method=GET) 축약형 (Spring 4.3+)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@PostMapping, @PutMapping, @DeleteMapping도 있음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15000" y="3511296"/>
            <a:ext cx="3081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715000" y="3511296"/>
            <a:ext cx="64008" cy="67665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852160" y="35478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37856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쿼리 파라미터 바인딩 (?name=홍길동)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defaultValue로 기본값 지정 가능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15000" y="4279392"/>
            <a:ext cx="3081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715000" y="4279392"/>
            <a:ext cx="64008" cy="6766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852160" y="43159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0" y="45537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Spring이 주입하는 Map — addAttribute(key, value)로 뷰에 데이터 전달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뷰(JSP)에서 ${key}로 접근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ModelAndView vs String + Model 반환 비교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 프로젝트는 String + Model 방식 권장 — 더 간결하고 테스트 쉬움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041648" cy="2971800"/>
          </a:xfrm>
          <a:prstGeom prst="rect">
            <a:avLst/>
          </a:prstGeom>
          <a:solidFill>
            <a:srgbClr val="F1F8E9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4041648" cy="402336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822192" y="1225296"/>
            <a:ext cx="566928" cy="2011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822192" y="12252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20700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 1  String + Model  (현대적)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1682496"/>
            <a:ext cx="3730752" cy="166420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4360" y="1755648"/>
            <a:ext cx="35478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"/hello"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hello(</a:t>
            </a: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addAttribute(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"greeting", "안녕하세요!");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// 뷰 이름만 반환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401568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Model은 Spring이 주입 — 코드 간결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테스트 작성 쉬움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207008"/>
            <a:ext cx="404164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754880" y="1207008"/>
            <a:ext cx="4041648" cy="40233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54880" y="120700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 2  ModelAndView  (전통적)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919472" y="1682496"/>
            <a:ext cx="3730752" cy="166420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92624" y="1755648"/>
            <a:ext cx="35478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"/hello2"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ModelAndView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hello2()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ModelAndView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mav = new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ModelAndView();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mav.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addObject(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"greeting"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mav.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setViewName(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mav;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3401568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 이름+데이터 함께 반환 — 동적 뷰 결정 시 유용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레거시 코드에서 자주 보임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4251960"/>
            <a:ext cx="8449056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@RequestMapping 축약형 어노테이션  (Spring 4.3+ — 실무 권장)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" y="4572000"/>
            <a:ext cx="20299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38912" y="460857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82803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GET — 조회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05456" y="4572000"/>
            <a:ext cx="20299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596896" y="460857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96896" y="482803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— 등록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4572000"/>
            <a:ext cx="20299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754880" y="460857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@PutMapping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482803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PUT — 수정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21424" y="4572000"/>
            <a:ext cx="20299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912864" y="460857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@DeleteMapping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12864" y="482803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DELETE — 삭제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발생하는 오류 &amp; 해결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6일차 실습에서 반드시 만나는 문제들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73152" cy="548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289304"/>
            <a:ext cx="530352" cy="1828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28930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" y="12527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요청한 리소스를 사용할 수 없습니다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536192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web.xml DispatcherServlet URL 매핑 누락 또는 &lt;url-pattern&gt; 오타   →   해결: &lt;url-pattern&gt;/&lt;/url-pattern&gt; 설정 확인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837944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47472" y="1837944"/>
            <a:ext cx="73152" cy="5486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2920" y="1920240"/>
            <a:ext cx="530352" cy="18288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19202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5568" y="1883664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NoSuchBeanDefinitionException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167128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dispatcher-context.xml에 &lt;mvc:annotation-driven/&gt; 누락   →   해결: dispatcher-context.xml 상단에 &lt;mvc:annotation-driven/&gt; 태그 추가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2468880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47472" y="2468880"/>
            <a:ext cx="73152" cy="5486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2920" y="2551176"/>
            <a:ext cx="530352" cy="1828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2551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5568" y="2514600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JSP 대신 뷰 이름 문자열이 그대로 출력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798064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ViewResolver prefix/suffix 오타 또는 ViewResolver Bean 미등록   →   해결: prefix="/WEB-INF/views/", suffix=".jsp" 정확히 확인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3099816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47472" y="3099816"/>
            <a:ext cx="73152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3182112"/>
            <a:ext cx="530352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1821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15568" y="3145536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ClassNotFoundException: jakarta.servlet.http.HttpServlet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3429000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Tomcat 9 이하 사용 — Spring 6.x는 jakarta.* 필요   →   해결: Tomcat 10.1 이상으로 교체 / pom.xml jakarta.servlet-api 6.x 확인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" y="3730752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47472" y="3730752"/>
            <a:ext cx="73152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02920" y="3813048"/>
            <a:ext cx="530352" cy="1828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38130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5568" y="3776472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한글 파라미터 깨짐 (???)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059936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CharacterEncodingFilter 미등록 또는 JSP charset 미설정   →   해결: web.xml에 encodingFilter (UTF-8, forceEncoding=true) 추가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7472" y="4361688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47472" y="4361688"/>
            <a:ext cx="73152" cy="5486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502920" y="4443984"/>
            <a:ext cx="530352" cy="18288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02920" y="444398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15568" y="440740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NoHandlerFoundException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4690872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component-scan base-package 오타로 @Controller Bean 미등록   →   해결: base-package 경로 재확인 — 컨트롤러 패키지 최상위로 설정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 안내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day06/problems/ 폴더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73152" cy="74980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399032"/>
            <a:ext cx="1051560" cy="347472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399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64208" y="1399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35331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web.xml — DispatcherServlet 설정 완성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0" y="1444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problems/problem01/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148840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47472" y="2148840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051560" cy="347472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" y="22860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64208" y="2286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22402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+ @RequestMapping 메서드 추가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088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problems/problem02/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035808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3035808"/>
            <a:ext cx="73152" cy="7498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02920" y="3172968"/>
            <a:ext cx="1051560" cy="347472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317296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64208" y="3172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31272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dispatcher-context.xml ViewResolver 설정 + 컨트롤러 완성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040880" y="3218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problems/problem03/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922776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47472" y="3922776"/>
            <a:ext cx="73152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02920" y="4059936"/>
            <a:ext cx="1051560" cy="347472"/>
          </a:xfrm>
          <a:prstGeom prst="rect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2920" y="40599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64208" y="40599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834640" y="401421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미니 사이트 Spring MVC 전체 구성  (도전)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040880" y="41056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problems/problem04/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4892040"/>
            <a:ext cx="8449056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47472" y="4892040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4(도전): 키오스크 미니 사이트 — 홈·메뉴·주문 화면을 Spring MVC로 전체 구성해보세요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6일차 핵심 정리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451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91440" cy="71323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Controller 패턴 = DispatcherServlet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88720" y="1261872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HTTP 요청의 단일 진입점 — 공통 처리 후 Handler에 위임  |  web.xml에 등록, url-pattern="/"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914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1755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1755648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처리 흐름 6단계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88720" y="2066544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→ DispatcherServlet → HandlerMapping → HandlerAdapter → Controller → ViewResolver → View(JSP)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2523744"/>
            <a:ext cx="91440" cy="7132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66928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2560320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설정 파일 2개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88720" y="287121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web.xml: DispatcherServlet + CharacterEncodingFilter  |  dispatcher-context.xml: annotation-driven + component-scan + ViewResolver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28416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3328416"/>
            <a:ext cx="91440" cy="7132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6928" y="3364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3364992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/ @GetMapping / Model / String 반환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88720" y="3675888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= @Component + MVC Handler  |  @GetMapping 축약형 권장  |  Model.addAttribute → JSP에서 ${key}로 접근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65760" y="4133088"/>
            <a:ext cx="91440" cy="7132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66928" y="41696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88720" y="4169664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6.x 주의사항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88720" y="4480560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jakarta.* 네임스페이스 (javax.* 아님)  |  Tomcat 10.1+ 필수  |  web.xml 스키마 jakarta.ee version="6.0"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7일차 예고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291840" cy="36576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44168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344168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4081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@RequestParam, @PathVariable, @ModelAttribute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2821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요청 데이터 바인딩 방식 — URL 파라미터, 경로 변수, 폼 객체 바인딩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258568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@PostMapping — 폼(Form) 데이터 처리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&lt;form&gt; POST 요청 처리 — 입력 데이터를 Java 객체에 자동 바인딩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44952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3044952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리다이렉트 vs 포워드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redirect: vs forward: — PRG(Post-Redirect-Get) 패턴으로 중복 제출 방지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3895344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959352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키오스크 주문 폼 처리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279392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입력 폼 → 컨트롤러 처리 → 결과 화면으로 이어지는 실습 프로젝트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773168"/>
            <a:ext cx="8065008" cy="274320"/>
          </a:xfrm>
          <a:prstGeom prst="rect">
            <a:avLst/>
          </a:prstGeom>
          <a:solidFill>
            <a:srgbClr val="0D2A3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760" y="4773168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예습: HTTP GET/POST 차이, HTML &lt;form&gt; 태그의 action/method 속성 복습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2243</Words>
  <Application>Microsoft Macintosh PowerPoint</Application>
  <PresentationFormat>화면 슬라이드 쇼(16:9)</PresentationFormat>
  <Paragraphs>388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6일차 - Spring MVC ①</dc:title>
  <dc:subject>PptxGenJS Presentation</dc:subject>
  <dc:creator>PptxGenJS</dc:creator>
  <cp:lastModifiedBy>상규 남</cp:lastModifiedBy>
  <cp:revision>2</cp:revision>
  <dcterms:created xsi:type="dcterms:W3CDTF">2026-05-25T16:52:25Z</dcterms:created>
  <dcterms:modified xsi:type="dcterms:W3CDTF">2026-05-31T02:24:49Z</dcterms:modified>
</cp:coreProperties>
</file>