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09728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148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 및 환경설정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8076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1380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(8H)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8076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2340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4수준 (중급)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80760" y="3017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33009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· JSP/Servlet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807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42611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6.2.7 · Maven · Java 17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통합관리도구개발능력  ·  Spring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핵심 철학 설명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· DI · AOP · POJO의 개념을 말로 설명할 수 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7608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구조 파악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8231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주요 모듈을 보고 각 모듈의 역할을 구분할 수 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90088"/>
            <a:ext cx="73152" cy="15727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프로젝트 생성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035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Eclipse에서 Maven 프로젝트를 만들고 pom.xml 의존성을 추가할 수 있다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90088"/>
            <a:ext cx="73152" cy="15727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7608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등록 &amp; 사용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78231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applicationContext.xml에 Bean을 등록하고 ApplicationContext로 꺼내 사용할 수 있다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Spring인가?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JSP/Servlet 개발의 한계에서 시작되었습니다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416052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JSP/Servlet의 문제점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865376"/>
            <a:ext cx="329184" cy="329184"/>
          </a:xfrm>
          <a:prstGeom prst="ellipse">
            <a:avLst/>
          </a:prstGeom>
          <a:solidFill>
            <a:srgbClr val="FFEBEE"/>
          </a:solidFill>
          <a:ln w="19050">
            <a:solidFill>
              <a:srgbClr val="EF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81051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DB 연결 코드를 반복해서 작성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615184"/>
            <a:ext cx="329184" cy="329184"/>
          </a:xfrm>
          <a:prstGeom prst="ellipse">
            <a:avLst/>
          </a:prstGeom>
          <a:solidFill>
            <a:srgbClr val="FFEBEE"/>
          </a:solidFill>
          <a:ln w="19050">
            <a:solidFill>
              <a:srgbClr val="EF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5603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객체를 직접 new로 생성 — 교체가 어렵다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364992"/>
            <a:ext cx="329184" cy="329184"/>
          </a:xfrm>
          <a:prstGeom prst="ellipse">
            <a:avLst/>
          </a:prstGeom>
          <a:solidFill>
            <a:srgbClr val="FFEBEE"/>
          </a:solidFill>
          <a:ln w="19050">
            <a:solidFill>
              <a:srgbClr val="EF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33101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코드 작성이 힘들다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329184" cy="329184"/>
          </a:xfrm>
          <a:prstGeom prst="ellipse">
            <a:avLst/>
          </a:prstGeom>
          <a:solidFill>
            <a:srgbClr val="FFEBEE"/>
          </a:solidFill>
          <a:ln w="19050">
            <a:solidFill>
              <a:srgbClr val="EF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405993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로그·보안 등 공통 기능을 모든 클래스에 중복 작성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17720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5120640" y="1207008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1207008"/>
            <a:ext cx="365760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207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Spring의 해결책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21808" y="1865376"/>
            <a:ext cx="329184" cy="329184"/>
          </a:xfrm>
          <a:prstGeom prst="ellipse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42432" y="181051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JdbcTemplate으로 반복 코드 제거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21808" y="2615184"/>
            <a:ext cx="329184" cy="329184"/>
          </a:xfrm>
          <a:prstGeom prst="ellipse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42432" y="25603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IoC/DI로 객체 교체 용이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21808" y="3364992"/>
            <a:ext cx="329184" cy="329184"/>
          </a:xfrm>
          <a:prstGeom prst="ellipse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42432" y="33101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 기반 단위 테스트 쉬움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321808" y="4114800"/>
            <a:ext cx="329184" cy="329184"/>
          </a:xfrm>
          <a:prstGeom prst="ellipse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42432" y="40599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AOP로 공통 기능 분리·재사용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EJB의 문제점과 Spring의 탄생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2000년대 초반 Java 엔터프라이즈 개발의 변화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1938528" cy="96012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2000년대 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EJB 시대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58568" y="135331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41448" y="1207008"/>
            <a:ext cx="1938528" cy="960120"/>
          </a:xfrm>
          <a:prstGeom prst="rect">
            <a:avLst/>
          </a:prstGeom>
          <a:solidFill>
            <a:srgbClr val="FFF3E0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41448" y="12344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41448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 Johnson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저서 출판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79976" y="135331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62856" y="1207008"/>
            <a:ext cx="1938528" cy="96012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62856" y="12344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62856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1.0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출시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01384" y="135331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84264" y="1207008"/>
            <a:ext cx="1938528" cy="960120"/>
          </a:xfrm>
          <a:prstGeom prst="rect">
            <a:avLst/>
          </a:prstGeom>
          <a:solidFill>
            <a:srgbClr val="E1F5F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84264" y="12344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84264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현업 표준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2377440"/>
            <a:ext cx="4160520" cy="246888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377440"/>
            <a:ext cx="416052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7744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EJB의 문제점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2898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복잡한 XML 설정 (수백 줄)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33558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무거운 WAS(WebLogic 등) 필수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38130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단위 테스트 불가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42702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배포가 느리고 복잡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4114800" cy="2468880"/>
          </a:xfrm>
          <a:prstGeom prst="rect">
            <a:avLst/>
          </a:prstGeom>
          <a:solidFill>
            <a:srgbClr val="F1F8E9"/>
          </a:solidFill>
          <a:ln w="19050">
            <a:solidFill>
              <a:srgbClr val="C5E1A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377440"/>
            <a:ext cx="411480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3774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Spring의 철학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8986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"EJB 없이도 좋은 설계가 가능하다"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46320" y="3355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POJO 기반의 경량 프레임워크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46320" y="38130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단위 테스트 용이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46320" y="42702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국내 표준 (전자정부 프레임워크 기반)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4대 핵심 철학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Framework의 근본적인 설계 원칙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627632"/>
          </a:xfrm>
          <a:prstGeom prst="rect">
            <a:avLst/>
          </a:prstGeom>
          <a:solidFill>
            <a:srgbClr val="E1F5F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234440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Old Java Object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856232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프레임워크에 종속되지 않는 순수한 Java 객체로 설계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627632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4114800" cy="5303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344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97880" y="1234440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 · 제어의 역전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1856232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생성·관리를 개발자가 아닌 Spring 컨테이너가 담당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4114800" cy="1627632"/>
          </a:xfrm>
          <a:prstGeom prst="rect">
            <a:avLst/>
          </a:prstGeom>
          <a:solidFill>
            <a:srgbClr val="FFF3E0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35808"/>
            <a:ext cx="4114800" cy="5303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358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3035808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· 의존성 주입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객체(의존성)를 컨테이너가 자동으로 주입해 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17720" y="3035808"/>
            <a:ext cx="4114800" cy="1627632"/>
          </a:xfrm>
          <a:prstGeom prst="rect">
            <a:avLst/>
          </a:prstGeom>
          <a:solidFill>
            <a:srgbClr val="F3E5F5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035808"/>
            <a:ext cx="4114800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358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897880" y="3035808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Oriented Programming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65760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로그·보안·트랜잭션 등 공통 기능을 비즈니스 로직에서 분리·재사용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vs DI — 핵심 차이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IoC는 원칙, DI는 그 원칙을 구현하는 방법입니다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397764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— 제어의 역전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레스토랑 홀 서비스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손님이 주방에 직접 가지 않고,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주방(컨테이너)이 음식을 가져다 줍니다.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657600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3383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기존 방식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 svc = </a:t>
            </a:r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UserService();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방식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개발자는 선언만!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컨테이너가 생성·관리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25112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1207008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07008"/>
            <a:ext cx="3977640" cy="47548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— 의존성 주입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179222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부품 조립 공장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208483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설계도(인터페이스)만 있으면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공장(Spring)이 부품(구현체)을 조립해 줍니다.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83480" y="2788920"/>
            <a:ext cx="3657600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880360"/>
            <a:ext cx="3383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기존: A 안에서 직접 생성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{ B b = </a:t>
            </a:r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B();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DI: 인터페이스만 선언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BInterface b; // Spring 주입!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IoC = 제어권을 누가 갖는가의 원칙   |   DI = 그 원칙을 '주입'으로 구현하는 패턴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Spring이 주는 이점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 Spring이 사랑받는 5가지 이유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44168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간 결합도 감소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12801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DI를 통해 클래스 간 의존성을 낮춰 유지보수·테스트가 쉬워집니다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84248"/>
            <a:ext cx="73152" cy="6583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093976"/>
            <a:ext cx="411480" cy="4114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93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코드 제거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0" y="20299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JdbcTemplate, @Transactional 등으로 보일러플레이트 코드를 대폭 줄입니다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34056"/>
            <a:ext cx="73152" cy="6583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43784"/>
            <a:ext cx="411480" cy="411480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7797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모듈화 — 필요한 것만 사용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14800" y="27797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Web, Data, Security 등 모듈을 선택적으로 조합합니다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83864"/>
            <a:ext cx="73152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593592"/>
            <a:ext cx="411480" cy="4114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29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풍부한 생태계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114800" y="3529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Batch, Cloud, Boot 등 방대한 확장 생태계를 제공합니다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233672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2793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표준 프레임워크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114800" y="42793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전자정부 프레임워크의 기반으로 국내 SI·공공기관 취업에 필수입니다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모듈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계층형 구조 — 아래 레이어가 위 레이어의 기반이 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30352"/>
          </a:xfrm>
          <a:prstGeom prst="rect">
            <a:avLst/>
          </a:prstGeom>
          <a:solidFill>
            <a:srgbClr val="EDE7F6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09728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spring-test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solidFill>
            <a:srgbClr val="E1F5F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10512"/>
            <a:ext cx="10972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105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18105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WebFlux · WebSocket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96312"/>
            <a:ext cx="8229600" cy="59436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96312"/>
            <a:ext cx="109728" cy="5943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963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/ Integration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0" y="24963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· ORM · Transaction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8229600" cy="594360"/>
          </a:xfrm>
          <a:prstGeom prst="rect">
            <a:avLst/>
          </a:prstGeom>
          <a:solidFill>
            <a:srgbClr val="FFF3E0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82112"/>
            <a:ext cx="109728" cy="59436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821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/ Aspects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3182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· Instrumentation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867912"/>
            <a:ext cx="8229600" cy="713232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7912"/>
            <a:ext cx="10972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679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Container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0" y="38679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 · Core · Context · SpEL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과정 학습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17일 커리큘럼 전체 모듈 구성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84248" cy="1572768"/>
          </a:xfrm>
          <a:prstGeom prst="rect">
            <a:avLst/>
          </a:prstGeom>
          <a:solidFill>
            <a:srgbClr val="FFFFFF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198424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225296"/>
            <a:ext cx="566928" cy="2011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2252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371600"/>
            <a:ext cx="1764792" cy="33832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716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spring-context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4028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컨테이너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41448" y="1234440"/>
            <a:ext cx="19842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234440"/>
            <a:ext cx="198424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1176" y="1371600"/>
            <a:ext cx="1764792" cy="33832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13716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2~3일차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32888" y="180136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spring-context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2888" y="224028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/ Bean 스코프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62856" y="1234440"/>
            <a:ext cx="19842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2856" y="1234440"/>
            <a:ext cx="1984248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1371600"/>
            <a:ext cx="1764792" cy="338328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13716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4~5일차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54296" y="180136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spring-context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54296" y="224028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(의존성 주입)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84264" y="1234440"/>
            <a:ext cx="19842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84264" y="1234440"/>
            <a:ext cx="1984248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1371600"/>
            <a:ext cx="1764792" cy="338328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13716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6~8일차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75704" y="180136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spring-webmvc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75704" y="224028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2953512"/>
            <a:ext cx="19842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2953512"/>
            <a:ext cx="1984248" cy="731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" y="3090672"/>
            <a:ext cx="1764792" cy="33832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090672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9~10일차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35204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spring-aop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395935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41448" y="2953512"/>
            <a:ext cx="19842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41448" y="2953512"/>
            <a:ext cx="1984248" cy="731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51176" y="3090672"/>
            <a:ext cx="1764792" cy="33832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51176" y="3090672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11~12일차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32888" y="35204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spring-jdbc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32888" y="395935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연동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62856" y="2953512"/>
            <a:ext cx="19842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62856" y="2953512"/>
            <a:ext cx="1984248" cy="731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72584" y="3090672"/>
            <a:ext cx="1764792" cy="338328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72584" y="3090672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13~14일차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654296" y="35204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mybatis-spring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54296" y="395935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연동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84264" y="2953512"/>
            <a:ext cx="19842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684264" y="2953512"/>
            <a:ext cx="1984248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93992" y="3090672"/>
            <a:ext cx="1764792" cy="33832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93992" y="3090672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15~17일차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775704" y="35204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75704" y="395935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설정 — Maven 프로젝트 생성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Eclipse에서 Spring Maven 프로젝트 구성하기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784" y="1801368"/>
            <a:ext cx="54864" cy="38404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261872"/>
            <a:ext cx="7790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261872"/>
            <a:ext cx="7516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 →  New  →  Maven Project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2212848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7784" y="2688336"/>
            <a:ext cx="54864" cy="38404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148840"/>
            <a:ext cx="7790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2148840"/>
            <a:ext cx="7516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simple project 체크  (archetype 선택 안 함)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47472" y="3099816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7784" y="3575304"/>
            <a:ext cx="54864" cy="38404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035808"/>
            <a:ext cx="7790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3035808"/>
            <a:ext cx="7516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Id: com.spring  /  Artifact Id: hello-spring  /  Packaging: jar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7472" y="3986784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20" y="3922776"/>
            <a:ext cx="7790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3922776"/>
            <a:ext cx="7516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클릭 → Maven Dependencies 폴더에서 jar 확인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Archetype 없이 simple project로 시작하면 불필요한 초기 파일 없이 깔끔하게 시작할 수 있습니다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의존성 추가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spring-context 하나만 추가하면 핵심 모듈이 자동으로 포함됩니다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530352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53312"/>
            <a:ext cx="493776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&lt;properties&gt;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&lt;maven.compiler.source&gt;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&lt;/maven.compiler.source&gt;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&lt;maven.compiler.target&gt;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&lt;/maven.compiler.target&gt;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&lt;spring.version&gt;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6.2.7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&lt;/spring.version&gt;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&lt;/properties&gt;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org.springframework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spring-context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${spring.version}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33872" y="1207008"/>
            <a:ext cx="29443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33872" y="1207008"/>
            <a:ext cx="294436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20700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포함 모듈 (의존성 전이)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61888" y="163677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spring-context 추가 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61888" y="18562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spring-beans  자동 포함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61888" y="20756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spring-core  자동 포함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33872" y="2441448"/>
            <a:ext cx="29443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33872" y="2441448"/>
            <a:ext cx="2944368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24414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후 확인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28712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Explorer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61888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Dependencies 폴더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61888" y="33101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파일 목록 확인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33872" y="3675888"/>
            <a:ext cx="29443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33872" y="3675888"/>
            <a:ext cx="2944368" cy="38404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367588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41056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X → 프로젝트 우클릭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61888" y="43251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→ Update Project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표준 디렉터리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폴더의 역할을 이해하면 설정 파일 위치를 쉽게 파악합니다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502920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7091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hello-spring/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java/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Java 소스 코드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설정 파일 (classpath 루트)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pPr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java/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테스트 코드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200" dirty="0">
                <a:solidFill>
                  <a:srgbClr val="FF5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← 컴파일 결과물 (자동생성)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← Maven 빌드 설정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1207008"/>
            <a:ext cx="3246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1207008"/>
            <a:ext cx="64008" cy="786384"/>
          </a:xfrm>
          <a:prstGeom prst="rect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243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소스 코드 위치. 패키지 구조대로 작성합니다.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2093976"/>
            <a:ext cx="3246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2093976"/>
            <a:ext cx="64008" cy="786384"/>
          </a:xfrm>
          <a:prstGeom prst="rect">
            <a:avLst/>
          </a:prstGeom>
          <a:solidFill>
            <a:srgbClr val="C3E88D"/>
          </a:solidFill>
          <a:ln w="12700">
            <a:solidFill>
              <a:srgbClr val="C3E8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2459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applicationContext.xml 등 설정 파일. 빌드 시 classpath 루트에 배치됩니다.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2980944"/>
            <a:ext cx="3246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2980944"/>
            <a:ext cx="64008" cy="786384"/>
          </a:xfrm>
          <a:prstGeom prst="rect">
            <a:avLst/>
          </a:prstGeom>
          <a:solidFill>
            <a:srgbClr val="FF5370"/>
          </a:solidFill>
          <a:ln w="12700">
            <a:solidFill>
              <a:srgbClr val="FF53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3346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Maven이 자동으로 생성하는 컴파일 결과물 폴더 (Git 제외 대상).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3867912"/>
            <a:ext cx="3246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3867912"/>
            <a:ext cx="64008" cy="786384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4233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의존성·빌드 설정·플러그인을 정의하는 핵심 파일.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Bean이란?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컨테이너가 생성하고 관리하는 Java 객체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3977640" cy="365760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397764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Java 객체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3639312" cy="14813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3383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개발자가 직접 생성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 svc = </a:t>
            </a:r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UserService();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직접 소멸 관리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 = </a:t>
            </a:r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GC 대상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3649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객체 교체가 어렵다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단위 테스트 어렵다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생명주기 직접 관리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70832" y="26517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818888" y="1207008"/>
            <a:ext cx="3977640" cy="3657600"/>
          </a:xfrm>
          <a:prstGeom prst="rect">
            <a:avLst/>
          </a:prstGeom>
          <a:solidFill>
            <a:srgbClr val="F1F8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18888" y="1207008"/>
            <a:ext cx="397764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Bean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74336" y="1783080"/>
            <a:ext cx="3639312" cy="14813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1874520"/>
            <a:ext cx="3383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XML로 선언만 --&gt;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id="userBean"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"com.spring.UserService"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Spring이 생성·관리!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74336" y="33649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객체 교체 쉬움 (인터페이스 활용)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74336" y="3822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단위 테스트 용이 (목 주입)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7433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생명주기 자동 관리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Spring 애플리케이션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applicationContext.xml → Bean 등록 → getBean() 사용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157276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070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92808" y="1298448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29968" y="1207008"/>
            <a:ext cx="1572768" cy="6858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2070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Context.xml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02736" y="1298448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39896" y="1207008"/>
            <a:ext cx="1572768" cy="6858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12070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생성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12664" y="1298448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49824" y="1207008"/>
            <a:ext cx="1572768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9824" y="12070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getBean()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22592" y="1298448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59752" y="1207008"/>
            <a:ext cx="1572768" cy="685800"/>
          </a:xfrm>
          <a:prstGeom prst="rect">
            <a:avLst/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9752" y="12070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029968"/>
            <a:ext cx="4663440" cy="283464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299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applicationContext.xml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2286000"/>
            <a:ext cx="43525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"1.0"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encoding=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&lt;beans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xmlns=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"http://...beans"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xsi:schemaLocation=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Bean 등록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&lt;bean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id="messageBean"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class="com.spring.day01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.MessageBean"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&lt;/beans&gt;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2029968"/>
            <a:ext cx="3675888" cy="283464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02996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MainApp.java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57800" y="2286000"/>
            <a:ext cx="340156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컨테이너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ApplicationContext ctx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ClassPathXml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ApplicationContext(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"applicationContext.xml"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Bean 꺼내기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MessageBean bean = ctx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.getBean("messageBean",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MessageBean.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bean.printMessage();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ctx.close();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 &amp; 해결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설정 단계에서 흔히 만나는 문제들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73152" cy="7863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16736"/>
            <a:ext cx="64008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16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61872" y="12893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ClassNotFoundException: ...MessageBean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applicationContext.xml의 class 경로 오타   →   해결: class 속성의 패키지 포함 전체 경로 재확인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121408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121408"/>
            <a:ext cx="73152" cy="78638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203704"/>
            <a:ext cx="640080" cy="2011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03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61872" y="21762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빨간 X 표시  (pom.xml)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57860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Maven 의존성 다운로드 실패 (인터넷 문제)   →   해결: 인터넷 확인 후  프로젝트 우클릭 → Maven → Update Project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3008376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008376"/>
            <a:ext cx="73152" cy="78638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090672"/>
            <a:ext cx="640080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90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61872" y="30632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NoSuchBeanDefinitionException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465576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getBean() id와 xml의 bean id 불일치   →   해결: getBean("id")와 &lt;bean id="id"&gt; 일치 여부 확인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895344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895344"/>
            <a:ext cx="73152" cy="7863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977640"/>
            <a:ext cx="6400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77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61872" y="3950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FileNotFoundException: applicationContext.xml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5254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XML 파일 위치 오류   →   해결: src/main/resources 폴더 아래에 파일이 있는지 확인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1일차 핵심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1115568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91440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98448" y="1097280"/>
            <a:ext cx="7296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= POJO + IoC + DI + AOP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536192"/>
            <a:ext cx="7296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EJB 없이 순수 Java로 좋은 설계가 가능한 경량 프레임워크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1115568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04288"/>
            <a:ext cx="91440" cy="11155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9572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98448" y="2395728"/>
            <a:ext cx="7296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= Spring 컨테이너가 관리하는 Java 객체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834640"/>
            <a:ext cx="7296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applicationContext.xml 또는 어노테이션으로 등록 — 컨테이너가 생명주기 관리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8412480" cy="1115568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02736"/>
            <a:ext cx="91440" cy="11155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9417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98448" y="3694176"/>
            <a:ext cx="7296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흐름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133088"/>
            <a:ext cx="7296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pom.xml(의존성)  →  applicationContext.xml(Bean 등록)  →  ApplicationContext 생성  →  getBean()  →  close()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2일차 예고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컨테이너와 Bean 관리 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64008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개념 심화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컨테이너의 역할과 동작 방식 깊이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03704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03704"/>
            <a:ext cx="64008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67712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스코프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vs prototype 차이와 활용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54096"/>
            <a:ext cx="64008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1810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기반 Bean 등록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38144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· @Service · @Repository 사용법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04488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04488"/>
            <a:ext cx="64008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6849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 스캔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28853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context:component-scan으로 자동 Bean 탐색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solidFill>
            <a:srgbClr val="1A3A2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예습: applicationContext.xml에 &lt;bean&gt;을 여러 개 등록하고 getBean()을 두 번 호출해 같은 객체인지 확인해 보세요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1일차 - Spring Framework 개요 및 환경설정</dc:title>
  <dc:subject>PptxGenJS Presentation</dc:subject>
  <dc:creator>PptxGenJS</dc:creator>
  <cp:lastModifiedBy>PptxGenJS</cp:lastModifiedBy>
  <cp:revision>1</cp:revision>
  <dcterms:created xsi:type="dcterms:W3CDTF">2026-05-25T11:44:55Z</dcterms:created>
  <dcterms:modified xsi:type="dcterms:W3CDTF">2026-05-25T11:44:55Z</dcterms:modified>
</cp:coreProperties>
</file>