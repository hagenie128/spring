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66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22B47"/>
          </a:solidFill>
          <a:ln w="12700">
            <a:solidFill>
              <a:srgbClr val="122B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548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5F74"/>
                </a:solidFill>
              </a:rPr>
              <a:t>JPA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74"/>
                </a:solidFill>
              </a:rPr>
              <a:t>Thymeleaf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74"/>
                </a:solidFill>
              </a:rPr>
              <a:t>MySQL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74"/>
                </a:solidFill>
              </a:rPr>
              <a:t>Quill Editor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74"/>
                </a:solidFill>
              </a:rPr>
              <a:t>Session Auth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74"/>
                </a:solidFill>
              </a:rPr>
              <a:t>File Upload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74"/>
                </a:solidFill>
              </a:rPr>
              <a:t>Like / Dislike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1005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D9488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645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게시판 실습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JPA 기반 완전 구현 — 회원·댓글·파일·반응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5029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Spring Boot 3.5  ·  JDK 21  ·  MySQL 8  ·  Port 8888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수업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011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4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9144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Spring Boot 게시판 완전 구현 (JPA + 회원 + 댓글 + 파일 + 반응)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2011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63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총 시간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1463040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4630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6시간 (90분 × 4교시)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011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116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난이도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2011680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01168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중급 — Spring Boot 기본 경험 필요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2011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60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실행 포트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2560320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56032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8888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2011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08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DB 이름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108960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310896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board_jpa_db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2011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57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JDK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68880" y="3657600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6576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21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2011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06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프레임워크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468880" y="4206240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42062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Spring Boot 3.5 + Spring Data JPA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학습 목표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3327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33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868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Spring Data JPA로 CRUD + 페이징·검색 구현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9339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@ManyToOne / @OneToMany 연관관계 설계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5351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HttpSession으로 로그인/로그아웃 직접 구현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1363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Quill 에디터 통합 — HTML 내용 안전 저장·출력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3327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33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868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Multipart 파일 업로드 및 다운로드 흐름 구현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18288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99339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@RestController + fetch API로 AJAX 좋아요/싫어요 구현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788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95351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2788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@Transactional + Dirty Checking으로 수정 로직 구현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프로젝트 전체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 패키지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20700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com.spring.board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BoardApp.java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entity/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Member · Post · Comment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Attachment · PostReaction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CommentReaction · ReactionType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dto/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MemberFormDto · PostFormDto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CommentFormDto · ReactionResponseDto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repository/ (6개)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service/ (5개)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controller/ (5개)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40690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22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Resources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20700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application.properties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templates/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layout/base.html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auth/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│   login.html · register.html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 board/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list.html · detail.html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form.html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static/css/board.css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엔티티 연관관계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286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097280"/>
            <a:ext cx="22860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2560320"/>
            <a:ext cx="2286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097280"/>
            <a:ext cx="2286000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Attachment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22860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PostReaction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657600"/>
            <a:ext cx="22860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CommentReaction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12070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1:N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1945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1:N  (Member→Comment)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12070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1:N  CASCADE 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26700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1:N  CASCADE ALL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1828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1:N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37673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1:N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03320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033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@OneToMany 에는 cascade = CascadeType.ALL, orphanRemoval = true 설정 → 게시글 삭제 시 댓글·첨부파일 자동 삭제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세션 기반 회원 인증 (HttpSession)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64008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세션 흐름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로그인 성공 시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session.setAttribute("loginMember", member);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로그아웃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session.invalidate();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컨트롤러에서 사용자 가져오기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@SessionAttribute(value="loginMember",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required=false) Member loginMember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68680"/>
            <a:ext cx="64008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68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BCryptPasswordEncoder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29844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저장 (단방향 해시)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member.setPassword(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encoder.encode(rawPassword));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검증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encoder.matches(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rawPassword, encodedPassword);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Thymeleaf에서 세션 접근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63931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th:if="${session.loginMember != null}"    →  로그인 여부 체크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th:text="${session.loginMember.nickname}"  →  닉네임 출력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@ManyToOne 연관관계 &amp; N+1 문제 해결 (JOIN FETCH)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64008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68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@ManyToOne 선언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@ManyToOne(fetch = FetchType.LAZY)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@JoinColumn(name = "post_id",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nullable = false)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Post post;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6868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JOIN FETCH (게시글 목록)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2344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@Query(value =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p FROM Post p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JOIN FETCH p.member",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countQuery =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COUNT(p) FROM Post p")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Page&lt;Post&gt; findAllWithMember(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Pageable pageable);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88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N+1 문제란?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문제: </a:t>
            </a:r>
            <a:r>
              <a:rPr lang="en-US" sz="1200" dirty="0">
                <a:solidFill>
                  <a:srgbClr val="0F172A"/>
                </a:solidFill>
              </a:rPr>
              <a:t>게시글 목록을 findAll() 로 조회하면, 각 게시글마다 member SELECT가 추가 발생 → N+1 쿼리
</a:t>
            </a:r>
            <a:r>
              <a:rPr lang="en-US" sz="1200" b="1" dirty="0">
                <a:solidFill>
                  <a:srgbClr val="0F172A"/>
                </a:solidFill>
              </a:rPr>
              <a:t>해결: </a:t>
            </a:r>
            <a:r>
              <a:rPr lang="en-US" sz="1200" dirty="0">
                <a:solidFill>
                  <a:srgbClr val="0F172A"/>
                </a:solidFill>
              </a:rPr>
              <a:t>JOIN FETCH JPQL로 게시글 + 회원을 한 번에 조회 → 쿼리 1개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Dirty Checking &amp; Quill 에디터 통합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64008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Dirty Checking (변경 감지)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6187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updatePost(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id, PostFormDto dto) 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post = getPost(id);  // 영속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post.setTitle(dto.getTitle());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post.setContent(dto.getContent());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save() 불필요!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커밋 시 자동 UPDATE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68680"/>
            <a:ext cx="64008" cy="2103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Quill 에디터 통합 핵심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26187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잘못된 예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document.querySelector('form')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.addEventListener('submit',...)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올바른 예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document.getElementById('postForm')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.addEventListener('submit', () =&gt; 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document.getElementById(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'quill-content').value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quill.root.innerHTML;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Quill 레이아웃 주의사항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4930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th:replace 레이아웃에서 &lt;section&gt; 바깥의 &lt;link&gt;, &lt;script&gt;는 무시됩니다.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Quill CDN 링크와 스크립트를 반드시 &lt;section&gt; 태그 안에 넣어야 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파일 업로드 &amp; 다운로드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96112"/>
            <a:ext cx="2194560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96112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저장 경로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896112"/>
            <a:ext cx="6217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896112"/>
            <a:ext cx="6035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./uploads/  (UUID 기반 파일명)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26464"/>
            <a:ext cx="2194560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26464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원본 파일명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426464"/>
            <a:ext cx="6217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426464"/>
            <a:ext cx="6035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DB original_name 컬럼에 보존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56816"/>
            <a:ext cx="2194560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5681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다운로드 URL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1956816"/>
            <a:ext cx="6217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1956816"/>
            <a:ext cx="6035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GET /attachments/download/{id}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487168"/>
            <a:ext cx="2194560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8716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게시글 삭제 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487168"/>
            <a:ext cx="6217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487168"/>
            <a:ext cx="6035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Files.deleteIfExists() 후 DB cascade 삭제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8412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63240"/>
            <a:ext cx="6400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한글 파일명 인코딩 (다운로드)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447288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encodedName = URLEncoder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.encode(originalName, StandardCharsets.UTF_8)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.replace("+", "%20");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response.header("Content-Disposition",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"attachment; filename*=UTF-8''" + encodedName);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좋아요/싫어요 — @RestController + AJAX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64008" cy="2057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68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서버 — @RestController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@RequestMapping("/reactions")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ReactionController 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@PostMapping(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"/post/{postId}/{type}")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ReactionResponseDto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togglePostReaction(...) { }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4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114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68680"/>
            <a:ext cx="64008" cy="2057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클라이언트 — fetch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toggleReaction(type) {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`/reactions/post/${POST_ID}/${type}`,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method: 'POST' });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(res.status === 401) {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alert('로그인이 필요합니다.');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res.json();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updateUI(data);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63240"/>
            <a:ext cx="6400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632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토글 3가지 경우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0058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74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반응 없음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4747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→  신규 INSERT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474720"/>
            <a:ext cx="10058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474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같은 타입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34747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→  취소 (DELETE)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474720"/>
            <a:ext cx="10058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474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다른 타입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34747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→  전환 (UPDATE setType)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유니크 제약:  @UniqueConstraint(columnNames = {"post_id", "member_id"})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주요 URL 흐름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86968" y="868680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868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8686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게시글 목록 + 검색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36192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3619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86968" y="1536192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1536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/board/{id}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1800" y="15361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상세 보기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03704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0370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6968" y="2203704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22037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/board/new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22037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등록 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51960" y="231343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71216"/>
            <a:ext cx="56692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712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6968" y="2871216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28712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/board/new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71800" y="28712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등록 처리 (파일 포함)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298094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538728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3872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6968" y="3538728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35387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/board/{id}/edit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71800" y="35387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수정 폼 (작성자만)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51960" y="364845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206240"/>
            <a:ext cx="56692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2062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86968" y="4206240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" y="42062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/board/{id}/delete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71800" y="42062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삭제 처리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51960" y="43159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868680"/>
            <a:ext cx="56692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8686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30368" y="868680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21808" y="868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/comments/post/{id}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8686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댓글 등록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595360" y="97840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1536192"/>
            <a:ext cx="56692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153619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30368" y="1536192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21808" y="1536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/reactions/post/{id}/{type}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15361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게시글 반응 토글 (JSON)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95360" y="16459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2203704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220370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230368" y="2203704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21808" y="22037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/attachments/download/{id}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15200" y="22037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파일 다운로드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2871216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28712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230368" y="2871216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1808" y="28712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315200" y="28712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로그인 폼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3538728"/>
            <a:ext cx="56692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353872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230368" y="3538728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21808" y="35387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15200" y="35387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로그인 처리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63440" y="420624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42062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230368" y="4206240"/>
            <a:ext cx="3547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42062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315200" y="42062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회원가입 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286000" y="48920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05456" y="4846320"/>
            <a:ext cx="1645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= 로그인 필요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교시별 진행 계획 — 1·2교시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0690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1교시  (90분)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4069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325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프로젝트 세팅 &amp; 기본 CRUD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83080"/>
            <a:ext cx="54864" cy="521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83080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build.gradle 의존성 + application.properties 세팅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95728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95728"/>
            <a:ext cx="54864" cy="521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95728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Post 엔티티 + PostRepository — JPA auto DDL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08376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08376"/>
            <a:ext cx="54864" cy="521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PostService, BoardController CRUD 구현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21024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21024"/>
            <a:ext cx="54864" cy="521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21024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Thymeleaf 레이아웃(base.html) + list/form 템플릿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23367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233672"/>
            <a:ext cx="54864" cy="521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33672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실행 → 글쓰기/조회/수정/삭제 동작 확인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822960"/>
            <a:ext cx="40690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8229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2교시  (90분)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09160" y="1325880"/>
            <a:ext cx="4069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325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회원·세션 인증 + Quill 에디터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1783080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783080"/>
            <a:ext cx="54864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783080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Member 엔티티, MemberRepository, MemberService (BCrypt)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395728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95728"/>
            <a:ext cx="54864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395728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AuthController — HttpSession 직접 구현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008376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008376"/>
            <a:ext cx="54864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08376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register.html, login.html 폼 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621024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621024"/>
            <a:ext cx="54864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621024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Post.member — @ManyToOne 연관관계 + 작성자 저장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423367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4233672"/>
            <a:ext cx="54864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233672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Quill 에디터 CDN 통합 및 form.html 구조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교시별 진행 계획 — 3·4교시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0690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3교시  (90분)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4069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325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댓글 + 파일 업로드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83080"/>
            <a:ext cx="54864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83080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Comment 엔티티 — @ManyToOne Post, @ManyToOne Member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95728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95728"/>
            <a:ext cx="54864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95728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CommentRepository (JOIN FETCH), CommentService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08376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08376"/>
            <a:ext cx="54864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CommentController — 등록/삭제 권한 체크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21024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21024"/>
            <a:ext cx="54864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21024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Attachment 엔티티, AttachmentService — UUID 파일명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23367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233672"/>
            <a:ext cx="54864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33672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AttachmentController — UrlResource 다운로드, 한글 인코딩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822960"/>
            <a:ext cx="406908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8229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4교시  (90분)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09160" y="1325880"/>
            <a:ext cx="4069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325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</a:rPr>
              <a:t>좋아요/싫어요 AJAX + 마무리 점검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1783080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783080"/>
            <a:ext cx="54864" cy="521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783080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ReactionType enum, PostReaction/CommentReaction 엔티티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395728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95728"/>
            <a:ext cx="54864" cy="521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395728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@UniqueConstraint — DB 레벨 중복 방지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008376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008376"/>
            <a:ext cx="54864" cy="521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08376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ReactionService 토글 로직 (취소/전환/신규)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621024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621024"/>
            <a:ext cx="54864" cy="521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621024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@RestController vs @Controller 차이, JSON 응답 흐름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4233672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4233672"/>
            <a:ext cx="54864" cy="521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233672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detail.html AJAX 스크립트 + th:inline="javascript"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자주 하는 실수 &amp; 주의사항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Quill 내용이 저장 안 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2527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원인: </a:t>
            </a:r>
            <a:r>
              <a:rPr lang="en-US" sz="1000" dirty="0">
                <a:solidFill>
                  <a:srgbClr val="0F172A"/>
                </a:solidFill>
              </a:rPr>
              <a:t>querySelector('form')이 로그아웃 폼을 선택
</a:t>
            </a:r>
            <a:r>
              <a:rPr lang="en-US" sz="1000" b="1" dirty="0">
                <a:solidFill>
                  <a:srgbClr val="0D9488"/>
                </a:solidFill>
              </a:rPr>
              <a:t>해결: </a:t>
            </a:r>
            <a:r>
              <a:rPr lang="en-US" sz="1000" dirty="0">
                <a:solidFill>
                  <a:srgbClr val="0F172A"/>
                </a:solidFill>
              </a:rPr>
              <a:t>getElementById('postForm') 사용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Quill 에디터가 안 보임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원인: </a:t>
            </a:r>
            <a:r>
              <a:rPr lang="en-US" sz="1000" dirty="0">
                <a:solidFill>
                  <a:srgbClr val="0F172A"/>
                </a:solidFill>
              </a:rPr>
              <a:t>&lt;link&gt;/&lt;script&gt;가 &lt;section&gt; 바깥에 위치
</a:t>
            </a:r>
            <a:r>
              <a:rPr lang="en-US" sz="1000" b="1" dirty="0">
                <a:solidFill>
                  <a:srgbClr val="0D9488"/>
                </a:solidFill>
              </a:rPr>
              <a:t>해결: </a:t>
            </a:r>
            <a:r>
              <a:rPr lang="en-US" sz="1000" dirty="0">
                <a:solidFill>
                  <a:srgbClr val="0F172A"/>
                </a:solidFill>
              </a:rPr>
              <a:t>Quill 관련 태그를 &lt;section&gt; 안으로 이동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0332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033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회원가입 500 오류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0873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원인: </a:t>
            </a:r>
            <a:r>
              <a:rPr lang="en-US" sz="1000" dirty="0">
                <a:solidFill>
                  <a:srgbClr val="0F172A"/>
                </a:solidFill>
              </a:rPr>
              <a:t>#fields.hasGlobalErrors()가 th:object 바깥에 위치
</a:t>
            </a:r>
            <a:r>
              <a:rPr lang="en-US" sz="1000" b="1" dirty="0">
                <a:solidFill>
                  <a:srgbClr val="0D9488"/>
                </a:solidFill>
              </a:rPr>
              <a:t>해결: </a:t>
            </a:r>
            <a:r>
              <a:rPr lang="en-US" sz="1000" dirty="0">
                <a:solidFill>
                  <a:srgbClr val="0F172A"/>
                </a:solidFill>
              </a:rPr>
              <a:t>오류 div를 &lt;form th:object="..."&gt; 안으로 이동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LazyInitializationException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2527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원인: </a:t>
            </a:r>
            <a:r>
              <a:rPr lang="en-US" sz="1000" dirty="0">
                <a:solidFill>
                  <a:srgbClr val="0F172A"/>
                </a:solidFill>
              </a:rPr>
              <a:t>LAZY 연관관계를 트랜잭션 밖에서 접근
</a:t>
            </a:r>
            <a:r>
              <a:rPr lang="en-US" sz="1000" b="1" dirty="0">
                <a:solidFill>
                  <a:srgbClr val="0D9488"/>
                </a:solidFill>
              </a:rPr>
              <a:t>해결: </a:t>
            </a:r>
            <a:r>
              <a:rPr lang="en-US" sz="1000" dirty="0">
                <a:solidFill>
                  <a:srgbClr val="0F172A"/>
                </a:solidFill>
              </a:rPr>
              <a:t>서비스에서 JOIN FETCH 또는 @Transactional 범위 조정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28600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860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파일 다운로드 한글 깨짐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6700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원인: </a:t>
            </a:r>
            <a:r>
              <a:rPr lang="en-US" sz="1000" dirty="0">
                <a:solidFill>
                  <a:srgbClr val="0F172A"/>
                </a:solidFill>
              </a:rPr>
              <a:t>Content-Disposition 인코딩 미처리
</a:t>
            </a:r>
            <a:r>
              <a:rPr lang="en-US" sz="1000" b="1" dirty="0">
                <a:solidFill>
                  <a:srgbClr val="0D9488"/>
                </a:solidFill>
              </a:rPr>
              <a:t>해결: </a:t>
            </a:r>
            <a:r>
              <a:rPr lang="en-US" sz="1000" dirty="0">
                <a:solidFill>
                  <a:srgbClr val="0F172A"/>
                </a:solidFill>
              </a:rPr>
              <a:t>URLEncoder.encode() + filename*=UTF-8'' 형식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703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70332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7033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N+1 쿼리 발생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0873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원인: </a:t>
            </a:r>
            <a:r>
              <a:rPr lang="en-US" sz="1000" dirty="0">
                <a:solidFill>
                  <a:srgbClr val="0F172A"/>
                </a:solidFill>
              </a:rPr>
              <a:t>LAZY 연관관계를 루프에서 접근
</a:t>
            </a:r>
            <a:r>
              <a:rPr lang="en-US" sz="1000" b="1" dirty="0">
                <a:solidFill>
                  <a:srgbClr val="0D9488"/>
                </a:solidFill>
              </a:rPr>
              <a:t>해결: </a:t>
            </a:r>
            <a:r>
              <a:rPr lang="en-US" sz="1000" dirty="0">
                <a:solidFill>
                  <a:srgbClr val="0F172A"/>
                </a:solidFill>
              </a:rPr>
              <a:t>JOIN FETCH JPQL 쿼리 사용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키워드 정리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Spring Boot 게시판 실습 (JPA)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15 / 16</a:t>
            </a:r>
            <a:endParaRPr lang="en-US" sz="900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0F0C0FA-B6F3-41C0-9916-6C0AB9626AC6}"/>
              </a:ext>
            </a:extLst>
          </p:cNvPr>
          <p:cNvGrpSpPr/>
          <p:nvPr/>
        </p:nvGrpSpPr>
        <p:grpSpPr>
          <a:xfrm>
            <a:off x="320040" y="720598"/>
            <a:ext cx="4114800" cy="559562"/>
            <a:chOff x="320040" y="841248"/>
            <a:chExt cx="4114800" cy="694944"/>
          </a:xfrm>
        </p:grpSpPr>
        <p:sp>
          <p:nvSpPr>
            <p:cNvPr id="8" name="Shape 6"/>
            <p:cNvSpPr/>
            <p:nvPr/>
          </p:nvSpPr>
          <p:spPr>
            <a:xfrm>
              <a:off x="320040" y="841248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841248"/>
              <a:ext cx="54864" cy="694944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57200" y="84124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E3A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@ManyToOne</a:t>
              </a:r>
              <a:endParaRPr lang="en-US" sz="11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118872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N:1 연관관계 — FK 컬럼 보유 쪽</a:t>
              </a:r>
              <a:endParaRPr lang="en-US" sz="1000" dirty="0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AD7A751-E561-4A66-B0C5-7BE2E1B9033D}"/>
              </a:ext>
            </a:extLst>
          </p:cNvPr>
          <p:cNvGrpSpPr/>
          <p:nvPr/>
        </p:nvGrpSpPr>
        <p:grpSpPr>
          <a:xfrm>
            <a:off x="4663440" y="720598"/>
            <a:ext cx="4114800" cy="559562"/>
            <a:chOff x="4663440" y="841248"/>
            <a:chExt cx="4114800" cy="694944"/>
          </a:xfrm>
        </p:grpSpPr>
        <p:sp>
          <p:nvSpPr>
            <p:cNvPr id="12" name="Shape 10"/>
            <p:cNvSpPr/>
            <p:nvPr/>
          </p:nvSpPr>
          <p:spPr>
            <a:xfrm>
              <a:off x="4663440" y="841248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663440" y="841248"/>
              <a:ext cx="54864" cy="694944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800600" y="84124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E3A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@OneToMany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00600" y="118872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1:N 관계 — mappedBy 지정</a:t>
              </a:r>
              <a:endParaRPr lang="en-US" sz="1000" dirty="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B4E7BCA-BC57-4F58-806C-80ED7A082713}"/>
              </a:ext>
            </a:extLst>
          </p:cNvPr>
          <p:cNvGrpSpPr/>
          <p:nvPr/>
        </p:nvGrpSpPr>
        <p:grpSpPr>
          <a:xfrm>
            <a:off x="320040" y="1485368"/>
            <a:ext cx="4114800" cy="559562"/>
            <a:chOff x="320040" y="1682496"/>
            <a:chExt cx="4114800" cy="694944"/>
          </a:xfrm>
        </p:grpSpPr>
        <p:sp>
          <p:nvSpPr>
            <p:cNvPr id="16" name="Shape 14"/>
            <p:cNvSpPr/>
            <p:nvPr/>
          </p:nvSpPr>
          <p:spPr>
            <a:xfrm>
              <a:off x="320040" y="1682496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1682496"/>
              <a:ext cx="54864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57200" y="1682496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D94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CascadeType.ALL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202996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부모 삭제 시 자식도 삭제</a:t>
              </a:r>
              <a:endParaRPr lang="en-US" sz="1000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5A2092B-8182-4159-83E2-E7F8C5316529}"/>
              </a:ext>
            </a:extLst>
          </p:cNvPr>
          <p:cNvGrpSpPr/>
          <p:nvPr/>
        </p:nvGrpSpPr>
        <p:grpSpPr>
          <a:xfrm>
            <a:off x="4663440" y="1485368"/>
            <a:ext cx="4114800" cy="559562"/>
            <a:chOff x="4663440" y="1682496"/>
            <a:chExt cx="4114800" cy="694944"/>
          </a:xfrm>
        </p:grpSpPr>
        <p:sp>
          <p:nvSpPr>
            <p:cNvPr id="20" name="Shape 18"/>
            <p:cNvSpPr/>
            <p:nvPr/>
          </p:nvSpPr>
          <p:spPr>
            <a:xfrm>
              <a:off x="4663440" y="1682496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663440" y="1682496"/>
              <a:ext cx="54864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800600" y="1682496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D94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orphanRemoval</a:t>
              </a:r>
              <a:endParaRPr lang="en-US" sz="11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00600" y="202996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컬렉션 제거 자식 자동 DELETE</a:t>
              </a:r>
              <a:endParaRPr lang="en-US" sz="1000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CD04B1AF-FB43-44C4-A054-2650CF00EBDE}"/>
              </a:ext>
            </a:extLst>
          </p:cNvPr>
          <p:cNvGrpSpPr/>
          <p:nvPr/>
        </p:nvGrpSpPr>
        <p:grpSpPr>
          <a:xfrm>
            <a:off x="320040" y="2250138"/>
            <a:ext cx="4114800" cy="559562"/>
            <a:chOff x="320040" y="2523744"/>
            <a:chExt cx="4114800" cy="694944"/>
          </a:xfrm>
        </p:grpSpPr>
        <p:sp>
          <p:nvSpPr>
            <p:cNvPr id="24" name="Shape 22"/>
            <p:cNvSpPr/>
            <p:nvPr/>
          </p:nvSpPr>
          <p:spPr>
            <a:xfrm>
              <a:off x="320040" y="2523744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20040" y="2523744"/>
              <a:ext cx="54864" cy="69494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57200" y="2523744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7C3A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JOIN FETCH</a:t>
              </a:r>
              <a:endParaRPr lang="en-US" sz="11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2871216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N+1 방지 — 한 쿼리로 로딩</a:t>
              </a:r>
              <a:endParaRPr lang="en-US" sz="1000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53866F-1B81-4CD6-B891-A3FD77BB4786}"/>
              </a:ext>
            </a:extLst>
          </p:cNvPr>
          <p:cNvGrpSpPr/>
          <p:nvPr/>
        </p:nvGrpSpPr>
        <p:grpSpPr>
          <a:xfrm>
            <a:off x="4663440" y="2250138"/>
            <a:ext cx="4114800" cy="559562"/>
            <a:chOff x="4663440" y="2523744"/>
            <a:chExt cx="4114800" cy="694944"/>
          </a:xfrm>
        </p:grpSpPr>
        <p:sp>
          <p:nvSpPr>
            <p:cNvPr id="28" name="Shape 26"/>
            <p:cNvSpPr/>
            <p:nvPr/>
          </p:nvSpPr>
          <p:spPr>
            <a:xfrm>
              <a:off x="4663440" y="2523744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663440" y="2523744"/>
              <a:ext cx="54864" cy="69494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4800600" y="2523744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7C3A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Dirty Checking</a:t>
              </a:r>
              <a:endParaRPr lang="en-US" sz="11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00600" y="2871216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영속 엔티티 변경 자동 UPDATE</a:t>
              </a:r>
              <a:endParaRPr lang="en-US" sz="1000" dirty="0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8A6FA3C-CF0E-4D10-90E0-98CA094ECDFA}"/>
              </a:ext>
            </a:extLst>
          </p:cNvPr>
          <p:cNvGrpSpPr/>
          <p:nvPr/>
        </p:nvGrpSpPr>
        <p:grpSpPr>
          <a:xfrm>
            <a:off x="320040" y="3014908"/>
            <a:ext cx="4114800" cy="559562"/>
            <a:chOff x="320040" y="3364992"/>
            <a:chExt cx="4114800" cy="694944"/>
          </a:xfrm>
        </p:grpSpPr>
        <p:sp>
          <p:nvSpPr>
            <p:cNvPr id="32" name="Shape 30"/>
            <p:cNvSpPr/>
            <p:nvPr/>
          </p:nvSpPr>
          <p:spPr>
            <a:xfrm>
              <a:off x="320040" y="3364992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3" name="Shape 31"/>
            <p:cNvSpPr/>
            <p:nvPr/>
          </p:nvSpPr>
          <p:spPr>
            <a:xfrm>
              <a:off x="320040" y="3364992"/>
              <a:ext cx="54864" cy="694944"/>
            </a:xfrm>
            <a:prstGeom prst="rect">
              <a:avLst/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457200" y="3364992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B4530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HttpSession</a:t>
              </a:r>
              <a:endParaRPr lang="en-US" sz="11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57200" y="3712464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서버 세션 — 로그인 상태 유지</a:t>
              </a:r>
              <a:endParaRPr lang="en-US" sz="1000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221A46A-5960-4454-A7C9-9675C73A4959}"/>
              </a:ext>
            </a:extLst>
          </p:cNvPr>
          <p:cNvGrpSpPr/>
          <p:nvPr/>
        </p:nvGrpSpPr>
        <p:grpSpPr>
          <a:xfrm>
            <a:off x="4663440" y="3014908"/>
            <a:ext cx="4114800" cy="559562"/>
            <a:chOff x="4663440" y="3364992"/>
            <a:chExt cx="4114800" cy="694944"/>
          </a:xfrm>
        </p:grpSpPr>
        <p:sp>
          <p:nvSpPr>
            <p:cNvPr id="36" name="Shape 34"/>
            <p:cNvSpPr/>
            <p:nvPr/>
          </p:nvSpPr>
          <p:spPr>
            <a:xfrm>
              <a:off x="4663440" y="3364992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7" name="Shape 35"/>
            <p:cNvSpPr/>
            <p:nvPr/>
          </p:nvSpPr>
          <p:spPr>
            <a:xfrm>
              <a:off x="4663440" y="3364992"/>
              <a:ext cx="54864" cy="694944"/>
            </a:xfrm>
            <a:prstGeom prst="rect">
              <a:avLst/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800600" y="3364992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B4530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BCryptPasswordEncoder</a:t>
              </a:r>
              <a:endParaRPr lang="en-US" sz="11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800600" y="3712464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단방향 해시 encode/matches</a:t>
              </a:r>
              <a:endParaRPr lang="en-US" sz="1000" dirty="0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6A98913-1796-4790-913D-7F23C86BFE21}"/>
              </a:ext>
            </a:extLst>
          </p:cNvPr>
          <p:cNvGrpSpPr/>
          <p:nvPr/>
        </p:nvGrpSpPr>
        <p:grpSpPr>
          <a:xfrm>
            <a:off x="320040" y="3779678"/>
            <a:ext cx="4114800" cy="559562"/>
            <a:chOff x="320040" y="4206240"/>
            <a:chExt cx="4114800" cy="694944"/>
          </a:xfrm>
        </p:grpSpPr>
        <p:sp>
          <p:nvSpPr>
            <p:cNvPr id="40" name="Shape 38"/>
            <p:cNvSpPr/>
            <p:nvPr/>
          </p:nvSpPr>
          <p:spPr>
            <a:xfrm>
              <a:off x="320040" y="4206240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1" name="Shape 39"/>
            <p:cNvSpPr/>
            <p:nvPr/>
          </p:nvSpPr>
          <p:spPr>
            <a:xfrm>
              <a:off x="320040" y="4206240"/>
              <a:ext cx="54864" cy="69494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457200" y="420624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MultipartFile</a:t>
              </a:r>
              <a:endParaRPr lang="en-US" sz="115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57200" y="4553712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업로드 파일 처리 인터페이스</a:t>
              </a:r>
              <a:endParaRPr lang="en-US" sz="100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FC3BFCE-FCC9-458E-9FE9-8AB194E39C69}"/>
              </a:ext>
            </a:extLst>
          </p:cNvPr>
          <p:cNvGrpSpPr/>
          <p:nvPr/>
        </p:nvGrpSpPr>
        <p:grpSpPr>
          <a:xfrm>
            <a:off x="4663440" y="3779678"/>
            <a:ext cx="4114800" cy="559562"/>
            <a:chOff x="4663440" y="4206240"/>
            <a:chExt cx="4114800" cy="694944"/>
          </a:xfrm>
        </p:grpSpPr>
        <p:sp>
          <p:nvSpPr>
            <p:cNvPr id="44" name="Shape 42"/>
            <p:cNvSpPr/>
            <p:nvPr/>
          </p:nvSpPr>
          <p:spPr>
            <a:xfrm>
              <a:off x="4663440" y="4206240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5" name="Shape 43"/>
            <p:cNvSpPr/>
            <p:nvPr/>
          </p:nvSpPr>
          <p:spPr>
            <a:xfrm>
              <a:off x="4663440" y="4206240"/>
              <a:ext cx="54864" cy="69494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4800600" y="420624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@RestController</a:t>
              </a:r>
              <a:endParaRPr lang="en-US" sz="115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800600" y="4553712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@Controller + @ResponseBody</a:t>
              </a:r>
              <a:endParaRPr lang="en-US" sz="1000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33761C9-D534-44F7-B9DF-E6452769777F}"/>
              </a:ext>
            </a:extLst>
          </p:cNvPr>
          <p:cNvGrpSpPr/>
          <p:nvPr/>
        </p:nvGrpSpPr>
        <p:grpSpPr>
          <a:xfrm>
            <a:off x="320040" y="4544453"/>
            <a:ext cx="4114800" cy="559562"/>
            <a:chOff x="320040" y="5047488"/>
            <a:chExt cx="4114800" cy="694944"/>
          </a:xfrm>
        </p:grpSpPr>
        <p:sp>
          <p:nvSpPr>
            <p:cNvPr id="48" name="Shape 46"/>
            <p:cNvSpPr/>
            <p:nvPr/>
          </p:nvSpPr>
          <p:spPr>
            <a:xfrm>
              <a:off x="320040" y="5047488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9" name="Shape 47"/>
            <p:cNvSpPr/>
            <p:nvPr/>
          </p:nvSpPr>
          <p:spPr>
            <a:xfrm>
              <a:off x="320040" y="5047488"/>
              <a:ext cx="54864" cy="694944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457200" y="504748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596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th:utext</a:t>
              </a:r>
              <a:endParaRPr lang="en-US" sz="115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457200" y="539496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HTML 태그 그대로 렌더링</a:t>
              </a:r>
              <a:endParaRPr lang="en-US" sz="1000" dirty="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646D7229-5BFC-41C0-8D8D-FD9C1D520A4A}"/>
              </a:ext>
            </a:extLst>
          </p:cNvPr>
          <p:cNvGrpSpPr/>
          <p:nvPr/>
        </p:nvGrpSpPr>
        <p:grpSpPr>
          <a:xfrm>
            <a:off x="4663440" y="4544448"/>
            <a:ext cx="4114800" cy="559562"/>
            <a:chOff x="4663440" y="5047488"/>
            <a:chExt cx="4114800" cy="694944"/>
          </a:xfrm>
        </p:grpSpPr>
        <p:sp>
          <p:nvSpPr>
            <p:cNvPr id="52" name="Shape 50"/>
            <p:cNvSpPr/>
            <p:nvPr/>
          </p:nvSpPr>
          <p:spPr>
            <a:xfrm>
              <a:off x="4663440" y="5047488"/>
              <a:ext cx="411480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3" name="Shape 51"/>
            <p:cNvSpPr/>
            <p:nvPr/>
          </p:nvSpPr>
          <p:spPr>
            <a:xfrm>
              <a:off x="4663440" y="5047488"/>
              <a:ext cx="54864" cy="694944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4800600" y="504748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596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fetch() API</a:t>
              </a:r>
              <a:endParaRPr lang="en-US" sz="115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4800600" y="539496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브라우저 내장 비동기 HTTP 요청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과제 아이디어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5603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기본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60320" cy="566928"/>
          </a:xfrm>
          <a:prstGeom prst="rect">
            <a:avLst/>
          </a:prstGeom>
          <a:solidFill>
            <a:srgbClr val="122B4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댓글 수정 기능 추가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2560320" cy="566928"/>
          </a:xfrm>
          <a:prstGeom prst="rect">
            <a:avLst/>
          </a:prstGeom>
          <a:solidFill>
            <a:srgbClr val="122B4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756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회원 정보 수정 (닉네임, 비밀번호 변경)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25603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중급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560320" cy="566928"/>
          </a:xfrm>
          <a:prstGeom prst="rect">
            <a:avLst/>
          </a:prstGeom>
          <a:solidFill>
            <a:srgbClr val="122B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173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게시글 카테고리 필터 (공지/자유/질문)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075688"/>
            <a:ext cx="2560320" cy="566928"/>
          </a:xfrm>
          <a:prstGeom prst="rect">
            <a:avLst/>
          </a:prstGeom>
          <a:solidFill>
            <a:srgbClr val="122B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0756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좋아요 Top5 게시글 목록 페이지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5603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고급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560320" cy="566928"/>
          </a:xfrm>
          <a:prstGeom prst="rect">
            <a:avLst/>
          </a:prstGeom>
          <a:solidFill>
            <a:srgbClr val="122B4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173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댓글의 댓글 (대댓글) — 자기참조 관계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075688"/>
            <a:ext cx="2560320" cy="566928"/>
          </a:xfrm>
          <a:prstGeom prst="rect">
            <a:avLst/>
          </a:prstGeom>
          <a:solidFill>
            <a:srgbClr val="122B4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756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이미지 파일 미리보기 (썸네일 or base64)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83210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346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실습 순서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8288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① DB 생성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3291840"/>
            <a:ext cx="18288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② app 설정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291840"/>
            <a:ext cx="18288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③ 앱 실행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3291840"/>
            <a:ext cx="18288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④ 회원가입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50208"/>
            <a:ext cx="18288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950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⑤ 로그인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06040" y="3950208"/>
            <a:ext cx="18288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3950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⑥ 글쓰기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950208"/>
            <a:ext cx="18288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950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⑦ 반응 확인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20840" y="3950208"/>
            <a:ext cx="18288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3950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⑧ 댓글 작성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1825</Words>
  <Application>Microsoft Office PowerPoint</Application>
  <PresentationFormat>화면 슬라이드 쇼(16:9)</PresentationFormat>
  <Paragraphs>359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게시판 실습</dc:title>
  <dc:subject>PptxGenJS Presentation</dc:subject>
  <dc:creator>PptxGenJS</dc:creator>
  <cp:lastModifiedBy>Administrator</cp:lastModifiedBy>
  <cp:revision>2</cp:revision>
  <dcterms:created xsi:type="dcterms:W3CDTF">2026-06-11T15:32:39Z</dcterms:created>
  <dcterms:modified xsi:type="dcterms:W3CDTF">2026-06-12T07:53:08Z</dcterms:modified>
</cp:coreProperties>
</file>