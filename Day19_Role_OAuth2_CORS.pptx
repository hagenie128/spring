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4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789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0321D-6BE7-22CA-B591-42E0F445A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8EA72A-6E90-1E63-6204-969C3DEDF1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AEF587-6C4A-54D6-EB14-A262E8319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F6670-2729-514B-6BE5-3DD6193FF9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7801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852160" y="0"/>
            <a:ext cx="64008" cy="514350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640080"/>
            <a:ext cx="4572000" cy="384048"/>
          </a:xfrm>
          <a:prstGeom prst="rect">
            <a:avLst/>
          </a:prstGeom>
          <a:solidFill>
            <a:srgbClr val="5E35B1">
              <a:alpha val="12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E3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키오스크 풀스택 개발자 양성과정 | 9단원 Spring Security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기반 인가 + OAuth2 소셜 로그인 + CORS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8470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@PreAuthorize · CustomOAuth2UserService · CorsConfigurationSource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0" y="914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5E3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54864" cy="301752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263640" y="182880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@EnableMethodSecurity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286000"/>
            <a:ext cx="54864" cy="301752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263640" y="228600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@PreAuthorize SpEL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743200"/>
            <a:ext cx="54864" cy="301752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263640" y="274320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Authorization Code Flow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200400"/>
            <a:ext cx="54864" cy="301752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263640" y="320040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CustomOAuth2UserService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3657600"/>
            <a:ext cx="54864" cy="301752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263640" y="365760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OAuth2SuccessHandler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4114800"/>
            <a:ext cx="54864" cy="301752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263640" y="411480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+ SecurityConfig 통합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09:00~18:00  |  8H  |  Spring Boot 4.0.6 · Java 21 · MySQL · jjwt 0.12.6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목표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58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— Role 기반 인가 + OAuth2 소셜 로그인 + CORS (Spring Boot 4.0.6 · MySQL)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502920" cy="420624"/>
          </a:xfrm>
          <a:prstGeom prst="rect">
            <a:avLst/>
          </a:prstGeom>
          <a:solidFill>
            <a:srgbClr val="5E35B1">
              <a:alpha val="80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8992" y="129844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기반 인가와 메서드 기반 인가(@PreAuthorize)의 차이를 설명하고 함께 적용할 수 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502920" cy="420624"/>
          </a:xfrm>
          <a:prstGeom prst="rect">
            <a:avLst/>
          </a:prstGeom>
          <a:solidFill>
            <a:srgbClr val="5E35B1">
              <a:alpha val="80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8992" y="195681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@EnableMethodSecurity + SpEL 표현식으로 소유자 확인(isOwner) 인가를 구현할 수 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578608"/>
            <a:ext cx="502920" cy="420624"/>
          </a:xfrm>
          <a:prstGeom prst="rect">
            <a:avLst/>
          </a:prstGeom>
          <a:solidFill>
            <a:srgbClr val="5E35B1">
              <a:alpha val="80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57860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" y="261518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Authorization Code Flow 6단계를 순서대로 설명하고 spring-boot-starter-oauth2-client를 설정할 수 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236976"/>
            <a:ext cx="502920" cy="420624"/>
          </a:xfrm>
          <a:prstGeom prst="rect">
            <a:avLst/>
          </a:prstGeom>
          <a:solidFill>
            <a:srgbClr val="5E35B1">
              <a:alpha val="80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57200" y="323697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327355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CustomOAuth2UserService와 OAuth2SuccessHandler를 구현해 Google 소셜 로그인 후 JWT를 발급할 수 있다.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895344"/>
            <a:ext cx="502920" cy="420624"/>
          </a:xfrm>
          <a:prstGeom prst="rect">
            <a:avLst/>
          </a:prstGeom>
          <a:solidFill>
            <a:srgbClr val="5E35B1">
              <a:alpha val="80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89534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8992" y="393192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개념과 Preflight 요청을 이해하고 CorsConfigurationSource로 Spring Security에 통합할 수 있다.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판서 1·2 — URL 기반 vs 메서드 기반 인가 + @EnableMethodSecurity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가지 인가 방식 비교 + AOP 기반 메서드 보안 활성화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114800" cy="301752"/>
          </a:xfrm>
          <a:prstGeom prst="rect">
            <a:avLst/>
          </a:prstGeom>
          <a:solidFill>
            <a:srgbClr val="5E35B1">
              <a:alpha val="85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인가 방식 비교 (판서 1)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72184"/>
            <a:ext cx="2011680" cy="274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377440" y="1472184"/>
            <a:ext cx="2103120" cy="274320"/>
          </a:xfrm>
          <a:prstGeom prst="rect">
            <a:avLst/>
          </a:prstGeom>
          <a:solidFill>
            <a:srgbClr val="5E35B1">
              <a:alpha val="70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377440" y="14721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기반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4721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메서드 기반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746504"/>
            <a:ext cx="731520" cy="566928"/>
          </a:xfrm>
          <a:prstGeom prst="rect">
            <a:avLst/>
          </a:prstGeom>
          <a:solidFill>
            <a:srgbClr val="1A2E4A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65760" y="1746504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3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설정 위치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97280" y="1746504"/>
            <a:ext cx="1463040" cy="566928"/>
          </a:xfrm>
          <a:prstGeom prst="rect">
            <a:avLst/>
          </a:prstGeom>
          <a:solidFill>
            <a:srgbClr val="F2F6FA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115568" y="1783080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@PreAuthorize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(메서드에 직접)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0" y="1746504"/>
            <a:ext cx="1920240" cy="566928"/>
          </a:xfrm>
          <a:prstGeom prst="rect">
            <a:avLst/>
          </a:prstGeom>
          <a:solidFill>
            <a:srgbClr val="5E35B1">
              <a:alpha val="7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578608" y="1783080"/>
            <a:ext cx="1874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SecurityConfig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.authorizeHttpRequests()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340864"/>
            <a:ext cx="731520" cy="566928"/>
          </a:xfrm>
          <a:prstGeom prst="rect">
            <a:avLst/>
          </a:prstGeom>
          <a:solidFill>
            <a:srgbClr val="1A2E4A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65760" y="2340864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3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97280" y="2340864"/>
            <a:ext cx="1463040" cy="566928"/>
          </a:xfrm>
          <a:prstGeom prst="rect">
            <a:avLst/>
          </a:prstGeom>
          <a:solidFill>
            <a:srgbClr val="F2F6FA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115568" y="2377440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비즈니스 로직과 근접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표현식이 메서드에 붙음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0" y="2340864"/>
            <a:ext cx="1920240" cy="566928"/>
          </a:xfrm>
          <a:prstGeom prst="rect">
            <a:avLst/>
          </a:prstGeom>
          <a:solidFill>
            <a:srgbClr val="5E35B1">
              <a:alpha val="7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2578608" y="2377440"/>
            <a:ext cx="1874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한 곳에서 전체 관리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경로 패턴으로 설정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935224"/>
            <a:ext cx="731520" cy="566928"/>
          </a:xfrm>
          <a:prstGeom prst="rect">
            <a:avLst/>
          </a:prstGeom>
          <a:solidFill>
            <a:srgbClr val="1A2E4A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65760" y="2935224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3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단점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97280" y="2935224"/>
            <a:ext cx="1463040" cy="566928"/>
          </a:xfrm>
          <a:prstGeom prst="rect">
            <a:avLst/>
          </a:prstGeom>
          <a:solidFill>
            <a:srgbClr val="F2F6FA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115568" y="2971800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@EnableMethodSecurity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필수 추가 필요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0" y="2935224"/>
            <a:ext cx="1920240" cy="566928"/>
          </a:xfrm>
          <a:prstGeom prst="rect">
            <a:avLst/>
          </a:prstGeom>
          <a:solidFill>
            <a:srgbClr val="5E35B1">
              <a:alpha val="7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2578608" y="2971800"/>
            <a:ext cx="1874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복잡한 조건 표현 어려움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529584"/>
            <a:ext cx="731520" cy="566928"/>
          </a:xfrm>
          <a:prstGeom prst="rect">
            <a:avLst/>
          </a:prstGeom>
          <a:solidFill>
            <a:srgbClr val="1A2E4A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365760" y="3529584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E3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097280" y="3529584"/>
            <a:ext cx="1463040" cy="566928"/>
          </a:xfrm>
          <a:prstGeom prst="rect">
            <a:avLst/>
          </a:prstGeom>
          <a:solidFill>
            <a:srgbClr val="F2F6FA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1115568" y="3566160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@PreAuthorize(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"hasRole('ADMIN')")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method()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60320" y="3529584"/>
            <a:ext cx="1920240" cy="566928"/>
          </a:xfrm>
          <a:prstGeom prst="rect">
            <a:avLst/>
          </a:prstGeom>
          <a:solidFill>
            <a:srgbClr val="5E35B1">
              <a:alpha val="7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2578608" y="3566160"/>
            <a:ext cx="1874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.requestMatchers("/admin/**")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.hasRole("ADMIN")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160520"/>
            <a:ext cx="4114800" cy="320040"/>
          </a:xfrm>
          <a:prstGeom prst="rect">
            <a:avLst/>
          </a:prstGeom>
          <a:solidFill>
            <a:srgbClr val="5E35B1">
              <a:alpha val="12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11480" y="4160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3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실무: URL 기반(큰 그림) + 메서드 기반(소유자 확인 등 세부 인가)를 함께 사용!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63440" y="1170432"/>
            <a:ext cx="4114800" cy="301752"/>
          </a:xfrm>
          <a:prstGeom prst="rect">
            <a:avLst/>
          </a:prstGeom>
          <a:solidFill>
            <a:srgbClr val="43A047">
              <a:alpha val="85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663440" y="117043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@EnableMethodSecurity (판서 2)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663440" y="1472184"/>
            <a:ext cx="4114800" cy="3017520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@Configuration
@EnableWebSecurity
</a:t>
            </a:r>
            <a:r>
              <a:rPr lang="en-US" sz="95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@EnableMethodSecurity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← 추가!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</a:t>
            </a: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SecurityConfig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... }
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이후 컨트롤러 · 서비스에서 사용 가능
</a:t>
            </a: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@PostMapping
</a:t>
            </a:r>
            <a:r>
              <a:rPr lang="en-US" sz="95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@PreAuthorize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("isAuthenticated()") 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로그인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ResponseEntity&lt;?&gt; create() { ... }
</a:t>
            </a: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@PutMapping
</a:t>
            </a:r>
            <a:r>
              <a:rPr lang="en-US" sz="95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@PreAuthorize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("hasRole('ADMIN')") // ADMIN만
public ResponseEntity&lt;?&gt; update() { ... }
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─── 내부 동작 ──────────────────────
// AOP Proxy → @PreAuthorize 평가
// 실패 시 AccessDeniedException
//        → 403 Forbidden
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4572000"/>
            <a:ext cx="4114800" cy="365760"/>
          </a:xfrm>
          <a:prstGeom prst="rect">
            <a:avLst/>
          </a:prstGeom>
          <a:solidFill>
            <a:srgbClr val="F2F6FA"/>
          </a:solidFill>
          <a:ln w="190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709160" y="4590288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의존성 없이 어노테이션 하나로 활성화 — prePostEnabled=true(기본)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판서 3·4 — @PreAuthorize SpEL 표현식 + @AuthenticationPrincipal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 참조 패턴으로 소유자 확인 + SecurityContext 현재 사용자 주입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114800" cy="301752"/>
          </a:xfrm>
          <a:prstGeom prst="rect">
            <a:avLst/>
          </a:prstGeom>
          <a:solidFill>
            <a:srgbClr val="5E35B1">
              <a:alpha val="85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@PreAuthorize 주요 SpEL (판서 3)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72184"/>
            <a:ext cx="2194560" cy="2286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560320" y="1472184"/>
            <a:ext cx="1920240" cy="2286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65760" y="14721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표현식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147218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700784"/>
            <a:ext cx="2194560" cy="256032"/>
          </a:xfrm>
          <a:prstGeom prst="rect">
            <a:avLst/>
          </a:prstGeom>
          <a:solidFill>
            <a:srgbClr val="F2F6FA"/>
          </a:solidFill>
          <a:ln w="635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560320" y="1700784"/>
            <a:ext cx="1920240" cy="256032"/>
          </a:xfrm>
          <a:prstGeom prst="rect">
            <a:avLst/>
          </a:prstGeom>
          <a:solidFill>
            <a:srgbClr val="F2F6FA"/>
          </a:solidFill>
          <a:ln w="635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048" y="1728216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3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isAuthenticated()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78608" y="172821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사용자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1975104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560320" y="1975104"/>
            <a:ext cx="1920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84048" y="2002536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3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isAnonymous()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78608" y="200253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비로그인 사용자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249424"/>
            <a:ext cx="2194560" cy="256032"/>
          </a:xfrm>
          <a:prstGeom prst="rect">
            <a:avLst/>
          </a:prstGeom>
          <a:solidFill>
            <a:srgbClr val="F2F6FA"/>
          </a:solidFill>
          <a:ln w="635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2560320" y="2249424"/>
            <a:ext cx="1920240" cy="256032"/>
          </a:xfrm>
          <a:prstGeom prst="rect">
            <a:avLst/>
          </a:prstGeom>
          <a:solidFill>
            <a:srgbClr val="F2F6FA"/>
          </a:solidFill>
          <a:ln w="635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84048" y="2276856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3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hasRole('ADMIN')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78608" y="227685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ROLE_ADMIN 권한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523744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2560320" y="2523744"/>
            <a:ext cx="1920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84048" y="2551176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3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hasAuthority('ROLE_ADMIN')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578608" y="255117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위와 동일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2798064"/>
            <a:ext cx="2194560" cy="256032"/>
          </a:xfrm>
          <a:prstGeom prst="rect">
            <a:avLst/>
          </a:prstGeom>
          <a:solidFill>
            <a:srgbClr val="F2F6FA"/>
          </a:solidFill>
          <a:ln w="635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2560320" y="2798064"/>
            <a:ext cx="1920240" cy="256032"/>
          </a:xfrm>
          <a:prstGeom prst="rect">
            <a:avLst/>
          </a:prstGeom>
          <a:solidFill>
            <a:srgbClr val="F2F6FA"/>
          </a:solidFill>
          <a:ln w="635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84048" y="2825496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3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hasAnyRole('USER','ADMIN')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578608" y="282549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또는 ADMIN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3072384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2560320" y="3072384"/>
            <a:ext cx="1920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384048" y="3099816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3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authentication.name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578608" y="309981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username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3346704"/>
            <a:ext cx="2194560" cy="256032"/>
          </a:xfrm>
          <a:prstGeom prst="rect">
            <a:avLst/>
          </a:prstGeom>
          <a:solidFill>
            <a:srgbClr val="F2F6FA"/>
          </a:solidFill>
          <a:ln w="635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2560320" y="3346704"/>
            <a:ext cx="1920240" cy="256032"/>
          </a:xfrm>
          <a:prstGeom prst="rect">
            <a:avLst/>
          </a:prstGeom>
          <a:solidFill>
            <a:srgbClr val="F2F6FA"/>
          </a:solidFill>
          <a:ln w="635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384048" y="3374136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3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#변수명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78608" y="337413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메서드 파라미터 참조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3621024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2560320" y="3621024"/>
            <a:ext cx="1920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384048" y="3648456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3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@빈이름.메서드(#변수)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578608" y="3648456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Bean 메서드 호출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5760" y="3913632"/>
            <a:ext cx="4114800" cy="301752"/>
          </a:xfrm>
          <a:prstGeom prst="rect">
            <a:avLst/>
          </a:prstGeom>
          <a:solidFill>
            <a:srgbClr val="F9A825">
              <a:alpha val="90000"/>
            </a:srgbClr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365760" y="391363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빈 참조 패턴 (핵심)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5760" y="4215384"/>
            <a:ext cx="4114800" cy="868680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@PreAuthorize("</a:t>
            </a:r>
            <a:r>
              <a:rPr lang="en-US" sz="90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@postService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.isOwner(</a:t>
            </a:r>
            <a:r>
              <a:rPr lang="en-US" sz="90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#id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authentication.name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)")
</a:t>
            </a:r>
            <a:r>
              <a:rPr lang="en-US" sz="90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@postService = Spring 빈  #id = 파라미터  authentication.name = 현재 유저
// PostService.isOwner() 예시:
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boolean </a:t>
            </a:r>
            <a:r>
              <a:rPr lang="en-US" sz="90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isOwner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(Long postId, String username)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postRepository.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findById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(postId)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.map(p -&gt; p.getAuthor().getUsername().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equals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(username))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.orElse(false);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1170432"/>
            <a:ext cx="4114800" cy="301752"/>
          </a:xfrm>
          <a:prstGeom prst="rect">
            <a:avLst/>
          </a:prstGeom>
          <a:solidFill>
            <a:srgbClr val="7B1FA2">
              <a:alpha val="85000"/>
            </a:srgbClr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4663440" y="117043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@AuthenticationPrincipal (판서 4)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63440" y="1472184"/>
            <a:ext cx="4114800" cy="2834640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JwtAuthenticationFilter에서 저장: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UsernamePasswordAuthenticationToken auth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new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UsernamePasswordAuthenticationToken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userDetails, 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← Principal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null, userDetails.getAuthorities());
SecurityContextHolder.getContext()
  .setAuthentication(auth);
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Controller에서 주입받기:
</a:t>
            </a: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@PostMapping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ResponseEntity&lt;PostResponse&gt; create(
</a:t>
            </a:r>
            <a:r>
              <a:rPr lang="en-US" sz="9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@RequestBody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PostRequest req,
</a:t>
            </a:r>
            <a:r>
              <a:rPr lang="en-US" sz="950" b="1" dirty="0">
                <a:solidFill>
                  <a:srgbClr val="7B1F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@AuthenticationPrincipal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UserEntity me) {
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me = DB에서 로드된 현재 사용자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postService.create(req, me.getUsername());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63440" y="4370832"/>
            <a:ext cx="4114800" cy="749808"/>
          </a:xfrm>
          <a:prstGeom prst="rect">
            <a:avLst/>
          </a:prstGeom>
          <a:solidFill>
            <a:srgbClr val="F2F6FA"/>
          </a:solidFill>
          <a:ln w="190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4754880" y="43982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 원리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754880" y="460857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@AuthenticationPrincipal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SecurityContextHolder.getContext().getAuthentication().getPrincipal()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UserEntity로 자동 캐스팅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판서 5·6 — OAuth2가 필요한 이유 + Authorization Code 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 공유 없이 위임된 접근 토큰으로 인증하는 6단계 흐름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114800" cy="301752"/>
          </a:xfrm>
          <a:prstGeom prst="rect">
            <a:avLst/>
          </a:prstGeom>
          <a:solidFill>
            <a:srgbClr val="F4511E">
              <a:alpha val="85000"/>
            </a:srgbClr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OAuth2가 필요한 이유 (판서 5)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36192"/>
            <a:ext cx="4114800" cy="868680"/>
          </a:xfrm>
          <a:prstGeom prst="rect">
            <a:avLst/>
          </a:prstGeom>
          <a:solidFill>
            <a:srgbClr val="C62828">
              <a:alpha val="8000"/>
            </a:srgbClr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1581912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1572768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소셜 로그인 없다면: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사용자에게 "구글 비밀번호를 우리 서비스에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입력해주세요" → 보안 위험! 신뢰 불가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496312"/>
            <a:ext cx="4114800" cy="868680"/>
          </a:xfrm>
          <a:prstGeom prst="rect">
            <a:avLst/>
          </a:prstGeom>
          <a:solidFill>
            <a:srgbClr val="43A047">
              <a:alpha val="8000"/>
            </a:srgbClr>
          </a:solidFill>
          <a:ln w="190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542032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" y="2532888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해결책: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"Google에게 우리 서비스가 profile/email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접근을 허용해도 됩니까?" → 구글 승인 → Token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44728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구분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4114800" cy="256032"/>
          </a:xfrm>
          <a:prstGeom prst="rect">
            <a:avLst/>
          </a:prstGeom>
          <a:solidFill>
            <a:srgbClr val="5E35B1">
              <a:alpha val="8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64008" cy="256032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75488" y="3657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3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Owner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48840" y="3657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(Google 계정 소유자)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4114800" cy="256032"/>
          </a:xfrm>
          <a:prstGeom prst="rect">
            <a:avLst/>
          </a:prstGeom>
          <a:solidFill>
            <a:srgbClr val="43A047">
              <a:alpha val="8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65760" y="3950208"/>
            <a:ext cx="64008" cy="25603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75488" y="3950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48840" y="39502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Spring 서버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4242816"/>
            <a:ext cx="4114800" cy="256032"/>
          </a:xfrm>
          <a:prstGeom prst="rect">
            <a:avLst/>
          </a:prstGeom>
          <a:solidFill>
            <a:srgbClr val="F4511E">
              <a:alpha val="8000"/>
            </a:srgbClr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365760" y="4242816"/>
            <a:ext cx="64008" cy="256032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75488" y="42428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51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 Server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48840" y="42428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인증 서버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535424"/>
            <a:ext cx="4114800" cy="256032"/>
          </a:xfrm>
          <a:prstGeom prst="rect">
            <a:avLst/>
          </a:prstGeom>
          <a:solidFill>
            <a:srgbClr val="F9A825">
              <a:alpha val="8000"/>
            </a:srgbClr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65760" y="4535424"/>
            <a:ext cx="64008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75488" y="45354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Server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148840" y="45354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API (이메일·프로필 제공)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1170432"/>
            <a:ext cx="4114800" cy="301752"/>
          </a:xfrm>
          <a:prstGeom prst="rect">
            <a:avLst/>
          </a:prstGeom>
          <a:solidFill>
            <a:srgbClr val="5E35B1">
              <a:alpha val="85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663440" y="117043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Code Flow 6단계 (판서 6)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1508760"/>
            <a:ext cx="914400" cy="256032"/>
          </a:xfrm>
          <a:prstGeom prst="rect">
            <a:avLst/>
          </a:prstGeom>
          <a:solidFill>
            <a:srgbClr val="1565C0">
              <a:alpha val="80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663440" y="1508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806440" y="1508760"/>
            <a:ext cx="1097280" cy="256032"/>
          </a:xfrm>
          <a:prstGeom prst="rect">
            <a:avLst/>
          </a:prstGeom>
          <a:solidFill>
            <a:srgbClr val="5E35B1">
              <a:alpha val="80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806440" y="1508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서버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508760"/>
            <a:ext cx="1600200" cy="256032"/>
          </a:xfrm>
          <a:prstGeom prst="rect">
            <a:avLst/>
          </a:prstGeom>
          <a:solidFill>
            <a:srgbClr val="F4511E">
              <a:alpha val="80000"/>
            </a:srgbClr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7178040" y="15087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1837944"/>
            <a:ext cx="4114800" cy="457200"/>
          </a:xfrm>
          <a:prstGeom prst="rect">
            <a:avLst/>
          </a:prstGeom>
          <a:solidFill>
            <a:srgbClr val="1565C0">
              <a:alpha val="7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4663440" y="1837944"/>
            <a:ext cx="274320" cy="457200"/>
          </a:xfrm>
          <a:prstGeom prst="rect">
            <a:avLst/>
          </a:prstGeom>
          <a:solidFill>
            <a:srgbClr val="1565C0">
              <a:alpha val="80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4663440" y="183794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83480" y="18745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/oauth2/auth/google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"Google로 로그인"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63440" y="2359152"/>
            <a:ext cx="4114800" cy="457200"/>
          </a:xfrm>
          <a:prstGeom prst="rect">
            <a:avLst/>
          </a:prstGeom>
          <a:solidFill>
            <a:srgbClr val="5E35B1">
              <a:alpha val="7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4663440" y="2359152"/>
            <a:ext cx="274320" cy="457200"/>
          </a:xfrm>
          <a:prstGeom prst="rect">
            <a:avLst/>
          </a:prstGeom>
          <a:solidFill>
            <a:srgbClr val="5E35B1">
              <a:alpha val="80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4663440" y="235915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983480" y="23957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로그인 페이지 리다이렉트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63440" y="2880360"/>
            <a:ext cx="4114800" cy="457200"/>
          </a:xfrm>
          <a:prstGeom prst="rect">
            <a:avLst/>
          </a:prstGeom>
          <a:solidFill>
            <a:srgbClr val="F4511E">
              <a:alpha val="7000"/>
            </a:srgbClr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4663440" y="2880360"/>
            <a:ext cx="274320" cy="457200"/>
          </a:xfrm>
          <a:prstGeom prst="rect">
            <a:avLst/>
          </a:prstGeom>
          <a:solidFill>
            <a:srgbClr val="F4511E">
              <a:alpha val="80000"/>
            </a:srgbClr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4663440" y="2880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983480" y="29169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계정 로그인 + 권한 승인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663440" y="3401568"/>
            <a:ext cx="4114800" cy="457200"/>
          </a:xfrm>
          <a:prstGeom prst="rect">
            <a:avLst/>
          </a:prstGeom>
          <a:solidFill>
            <a:srgbClr val="F9A825">
              <a:alpha val="7000"/>
            </a:srgbClr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4663440" y="3401568"/>
            <a:ext cx="274320" cy="457200"/>
          </a:xfrm>
          <a:prstGeom prst="rect">
            <a:avLst/>
          </a:prstGeom>
          <a:solidFill>
            <a:srgbClr val="F9A825">
              <a:alpha val="80000"/>
            </a:srgbClr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4663440" y="340156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983480" y="34381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Code + redirect_uri로 리다이렉트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/login/oauth2/code/google?code=4/...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663440" y="3922776"/>
            <a:ext cx="4114800" cy="457200"/>
          </a:xfrm>
          <a:prstGeom prst="rect">
            <a:avLst/>
          </a:prstGeom>
          <a:solidFill>
            <a:srgbClr val="43A047">
              <a:alpha val="7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4663440" y="3922776"/>
            <a:ext cx="274320" cy="457200"/>
          </a:xfrm>
          <a:prstGeom prst="rect">
            <a:avLst/>
          </a:prstGeom>
          <a:solidFill>
            <a:srgbClr val="43A047">
              <a:alpha val="80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4663440" y="392277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983480" y="39593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→ Access Token 교환 (서버↔Google)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663440" y="4443984"/>
            <a:ext cx="4114800" cy="457200"/>
          </a:xfrm>
          <a:prstGeom prst="rect">
            <a:avLst/>
          </a:prstGeom>
          <a:solidFill>
            <a:srgbClr val="5E35B1">
              <a:alpha val="7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4663440" y="4443984"/>
            <a:ext cx="274320" cy="457200"/>
          </a:xfrm>
          <a:prstGeom prst="rect">
            <a:avLst/>
          </a:prstGeom>
          <a:solidFill>
            <a:srgbClr val="5E35B1">
              <a:alpha val="80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4663440" y="444398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983480" y="44805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Token으로 userinfo 요청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{sub, email, name, picture}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loadUser() → CustomOAuth2UserService 호출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663440" y="4974336"/>
            <a:ext cx="4114800" cy="164592"/>
          </a:xfrm>
          <a:prstGeom prst="rect">
            <a:avLst/>
          </a:prstGeom>
          <a:solidFill>
            <a:srgbClr val="C62828">
              <a:alpha val="12000"/>
            </a:srgbClr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4709160" y="497433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서버는 Google 비밀번호를 절대 받지 않음!  Authorization Code는 1회용+단명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판서 7·8 — OAuth2 Client application.yml + Google 사용자 속성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spring-boot-starter-oauth2-client 설정 + userinfo endpoint JSON 구조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114800" cy="301752"/>
          </a:xfrm>
          <a:prstGeom prst="rect">
            <a:avLst/>
          </a:prstGeom>
          <a:solidFill>
            <a:srgbClr val="5E35B1">
              <a:alpha val="85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application.yml OAuth2 설정 (판서 7)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72184"/>
            <a:ext cx="4114800" cy="2148840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spring:
  security:
    oauth2:
      client:
        registration:
          google:
</a:t>
            </a: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client-id: </a:t>
            </a: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${GOOGLE_CLIENT_ID}
</a:t>
            </a: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client-secret: </a:t>
            </a: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${GOOGLE_CLIENT_SECRET}
</a:t>
            </a: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scope:
</a:t>
            </a: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- email    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이메일 접근
</a:t>
            </a: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- profile  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이름·사진 접근
# redirect-uri 기본값 (자동):
# http://localhost:8080/
#   login/oauth2/code/google
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3685032"/>
            <a:ext cx="411480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11480" y="36850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3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Console 설정 체크리스트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941064"/>
            <a:ext cx="4114800" cy="256032"/>
          </a:xfrm>
          <a:prstGeom prst="rect">
            <a:avLst/>
          </a:prstGeom>
          <a:solidFill>
            <a:srgbClr val="F2F6FA"/>
          </a:solidFill>
          <a:ln w="635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" y="39410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APIs &amp; Services &gt; Credentials &gt; OAuth 2.0 Client IDs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4215384"/>
            <a:ext cx="4114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42153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Authorized redirect URIs 추가: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4489704"/>
            <a:ext cx="4114800" cy="256032"/>
          </a:xfrm>
          <a:prstGeom prst="rect">
            <a:avLst/>
          </a:prstGeom>
          <a:solidFill>
            <a:srgbClr val="F2F6FA"/>
          </a:solidFill>
          <a:ln w="635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7200" y="44897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  http://localhost:8080/login/oauth2/code/google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4764024"/>
            <a:ext cx="4114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47640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Test users에 내 계정 추가 (앱 검수 전)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170432"/>
            <a:ext cx="4114800" cy="301752"/>
          </a:xfrm>
          <a:prstGeom prst="rect">
            <a:avLst/>
          </a:prstGeom>
          <a:solidFill>
            <a:srgbClr val="F9A825">
              <a:alpha val="85000"/>
            </a:srgbClr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663440" y="117043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사용자 속성 (판서 8)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1472184"/>
            <a:ext cx="4114800" cy="3657600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Google userinfo endpoint 응답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"sub"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"104716038840123456789", 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불변 고유 ID
</a:t>
            </a: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"email"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"user@gmail.com",
</a:t>
            </a: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"email_verified"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true,
</a:t>
            </a: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"홍길동",
</a:t>
            </a: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"picture"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"https://lh3.googleapis.com/..."
}
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Java에서 속성 추출: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providerId = oAuth2User.</a:t>
            </a:r>
            <a:r>
              <a:rPr lang="en-US" sz="95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getAttribute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("sub");
String email      = oAuth2User.</a:t>
            </a:r>
            <a:r>
              <a:rPr lang="en-US" sz="95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getAttribute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("email");
String name       = oAuth2User.</a:t>
            </a:r>
            <a:r>
              <a:rPr lang="en-US" sz="95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getAttribute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("name");
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제공자 이름 (application.yml 키)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provider = userRequest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.getClientRegistration()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.getRegistrationId();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"google"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77E8C-3FD6-1790-3F5B-F9CB5788E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15F0513-CE7C-E821-C19E-DD1BC2D60CD3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2567D7E-69AA-5A1E-7850-98DCFB1F6F3B}"/>
              </a:ext>
            </a:extLst>
          </p:cNvPr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D1F4A03-E1AC-E696-609A-C5CD39221550}"/>
              </a:ext>
            </a:extLst>
          </p:cNvPr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판서 7·8 — OAuth2 Client application.yml + Google 사용자 속성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E26BC8D-76F7-63B9-C3F5-5C040AC40031}"/>
              </a:ext>
            </a:extLst>
          </p:cNvPr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spring-boot-starter-oauth2-client 설정 + userinfo endpoint JSON 구조</a:t>
            </a:r>
            <a:endParaRPr lang="en-US" sz="1200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BEBFEA0B-B575-1C3E-2D5C-E9FB3E251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8316368" cy="401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373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판서 9 — CustomOAuth2UserService 구조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OAuth2UserService 구현 — 자동 회원가입 + 재인증 처리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114800" cy="301752"/>
          </a:xfrm>
          <a:prstGeom prst="rect">
            <a:avLst/>
          </a:prstGeom>
          <a:solidFill>
            <a:srgbClr val="5E35B1">
              <a:alpha val="85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CustomOAuth2UserService 플로우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41148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5E35B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4048" cy="594360"/>
          </a:xfrm>
          <a:prstGeom prst="rect">
            <a:avLst/>
          </a:prstGeom>
          <a:solidFill>
            <a:srgbClr val="5E35B1">
              <a:alpha val="90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65760" y="1572768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1618488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OAuth2UserService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&lt;OAuth2UserRequest, OAuth2User&gt;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1892808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94560" y="2167128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49424"/>
            <a:ext cx="41148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65760" y="2249424"/>
            <a:ext cx="384048" cy="594360"/>
          </a:xfrm>
          <a:prstGeom prst="rect">
            <a:avLst/>
          </a:prstGeom>
          <a:solidFill>
            <a:srgbClr val="1565C0">
              <a:alpha val="90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65760" y="2249424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" y="2295144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delegate.loadUser(userRequest)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2569464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DefaultOAuth2UserService — Google API 호출·JSON 파싱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94560" y="2843784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926080"/>
            <a:ext cx="41148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65760" y="2926080"/>
            <a:ext cx="384048" cy="594360"/>
          </a:xfrm>
          <a:prstGeom prst="rect">
            <a:avLst/>
          </a:prstGeom>
          <a:solidFill>
            <a:srgbClr val="43A047">
              <a:alpha val="90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65760" y="2926080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" y="2971800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속성 추출 (provider, providerId, email)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" y="3246120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oAuth2User.getAttribute("sub"), "email"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94560" y="3520440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602736"/>
            <a:ext cx="41148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365760" y="3602736"/>
            <a:ext cx="384048" cy="594360"/>
          </a:xfrm>
          <a:prstGeom prst="rect">
            <a:avLst/>
          </a:prstGeom>
          <a:solidFill>
            <a:srgbClr val="F9A825">
              <a:alpha val="90000"/>
            </a:srgbClr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65760" y="3602736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" y="3648456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DB에서 email로 사용자 조회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" y="3922776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있으면: 기존 사용자 (재인증)  |  없으면: 신규 저장 (자동 회원가입)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194560" y="4197096"/>
            <a:ext cx="3657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279392"/>
            <a:ext cx="41148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4511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365760" y="4279392"/>
            <a:ext cx="384048" cy="594360"/>
          </a:xfrm>
          <a:prstGeom prst="rect">
            <a:avLst/>
          </a:prstGeom>
          <a:solidFill>
            <a:srgbClr val="F4511E">
              <a:alpha val="90000"/>
            </a:srgbClr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365760" y="4279392"/>
            <a:ext cx="384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4672" y="4325112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oAuth2User 반환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4672" y="4599432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Security가 받아 OAuth2SuccessHandler 호출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1170432"/>
            <a:ext cx="4114800" cy="301752"/>
          </a:xfrm>
          <a:prstGeom prst="rect">
            <a:avLst/>
          </a:prstGeom>
          <a:solidFill>
            <a:srgbClr val="43A047">
              <a:alpha val="85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663440" y="117043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CustomOAuth2UserService 코드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63440" y="1472184"/>
            <a:ext cx="4114800" cy="3611880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@Service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CustomOAuth2UserService
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implements </a:t>
            </a: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OAuth2UserService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
    OAuth2UserRequest, OAuth2User&gt; {
</a:t>
            </a:r>
            <a:r>
              <a:rPr lang="en-US" sz="90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final DefaultOAuth2UserService delegate
      = new DefaultOAuth2UserService();
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OAuth2User loadUser(
      OAuth2UserRequest req) {
</a:t>
            </a:r>
            <a:r>
              <a:rPr lang="en-US" sz="90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① Google에서 사용자 정보 수신
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OAuth2User oAuth2User = delegate.</a:t>
            </a:r>
            <a:r>
              <a:rPr lang="en-US" sz="90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loadUser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(req);
</a:t>
            </a:r>
            <a:r>
              <a:rPr lang="en-US" sz="90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② 속성 추출
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provider   = req.getClientRegistration()
                      .getRegistrationId(); // "google"
    String providerId = oAuth2User.getAttribute("sub");
    String email      = oAuth2User.getAttribute("email");
</a:t>
            </a:r>
            <a:r>
              <a:rPr lang="en-US" sz="90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③ DB 조회 / 신규 저장
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UserEntity user = userRepository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.findByEmail(email)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.orElseGet(() -&gt; 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userRepository.save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
          UserEntity.ofOAuth2(email, provider, providerId)));
</a:t>
            </a:r>
            <a:r>
              <a:rPr lang="en-US" sz="90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④ oAuth2User 반환
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oAuth2User;  // DefaultOAuth2User 타입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판서 10·11 — OAuth2SuccessHandler + 리다이렉트 URL 생성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인증 성공 후 JWT 발급 + UriComponentsBuilder 쿼리 파라미터 전달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114800" cy="301752"/>
          </a:xfrm>
          <a:prstGeom prst="rect">
            <a:avLst/>
          </a:prstGeom>
          <a:solidFill>
            <a:srgbClr val="F4511E">
              <a:alpha val="85000"/>
            </a:srgbClr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OAuth2SuccessHandler 흐름 (판서 10)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411480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5A6A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47472" cy="475488"/>
          </a:xfrm>
          <a:prstGeom prst="rect">
            <a:avLst/>
          </a:prstGeom>
          <a:solidFill>
            <a:srgbClr val="5A6A7E">
              <a:alpha val="90000"/>
            </a:srgbClr>
          </a:solidFill>
          <a:ln w="12700">
            <a:solidFill>
              <a:srgbClr val="5A6A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65760" y="157276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952" y="160934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인증 성공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CustomOAuth2UserService.loadUser() 완료 (DB 저장/조회)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103120"/>
            <a:ext cx="411480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2103120"/>
            <a:ext cx="347472" cy="475488"/>
          </a:xfrm>
          <a:prstGeom prst="rect">
            <a:avLst/>
          </a:prstGeom>
          <a:solidFill>
            <a:srgbClr val="F9A825">
              <a:alpha val="90000"/>
            </a:srgbClr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65760" y="2103120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8952" y="213969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OAuth2User에서 email 추출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email = oAuth2User.getAttribute("email");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633472"/>
            <a:ext cx="411480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65760" y="2633472"/>
            <a:ext cx="347472" cy="475488"/>
          </a:xfrm>
          <a:prstGeom prst="rect">
            <a:avLst/>
          </a:prstGeom>
          <a:solidFill>
            <a:srgbClr val="5E35B1">
              <a:alpha val="90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65760" y="2633472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8952" y="267004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DB에서 UserEntity 조회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userRepository.findByEmail(email)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163824"/>
            <a:ext cx="411480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65760" y="3163824"/>
            <a:ext cx="347472" cy="475488"/>
          </a:xfrm>
          <a:prstGeom prst="rect">
            <a:avLst/>
          </a:prstGeom>
          <a:solidFill>
            <a:srgbClr val="43A047">
              <a:alpha val="90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65760" y="3163824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8952" y="32004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발급 (Access + Refresh)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jwtTokenProvider.generateAccessToken(user);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jwtTokenProvider.generateRefreshToken(user);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694176"/>
            <a:ext cx="411480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65760" y="3694176"/>
            <a:ext cx="347472" cy="320040"/>
          </a:xfrm>
          <a:prstGeom prst="rect">
            <a:avLst/>
          </a:prstGeom>
          <a:solidFill>
            <a:srgbClr val="7B1FA2">
              <a:alpha val="90000"/>
            </a:srgbClr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65760" y="369417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8952" y="3730752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DB 저장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4224528"/>
            <a:ext cx="411480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65760" y="4224528"/>
            <a:ext cx="347472" cy="475488"/>
          </a:xfrm>
          <a:prstGeom prst="rect">
            <a:avLst/>
          </a:prstGeom>
          <a:solidFill>
            <a:srgbClr val="F4511E">
              <a:alpha val="90000"/>
            </a:srgbClr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65760" y="422452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58952" y="426110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프론트엔드로 리다이렉트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http://localhost:3000/oauth2/callback?accessToken=eyJ...&amp;refreshToken=eyJ...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1170432"/>
            <a:ext cx="4114800" cy="301752"/>
          </a:xfrm>
          <a:prstGeom prst="rect">
            <a:avLst/>
          </a:prstGeom>
          <a:solidFill>
            <a:srgbClr val="1565C0">
              <a:alpha val="85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663440" y="117043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UriComponentsBuilder 리다이렉트 (판서 11)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63440" y="1472184"/>
            <a:ext cx="4114800" cy="2331720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redirectUrl = </a:t>
            </a:r>
            <a:r>
              <a:rPr lang="en-US" sz="95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UriComponentsBuilder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.fromUriString(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frontendUrl +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"/oauth2/callback"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queryParam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("accessToken",  accessToken)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queryParam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("refreshToken", refreshToken)
    .build()
    .toUriString();
response.</a:t>
            </a:r>
            <a:r>
              <a:rPr lang="en-US" sz="950" b="1" dirty="0">
                <a:solidFill>
                  <a:srgbClr val="F451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sendRedirect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(redirectUrl);
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결과 URL:
// http://localhost:3000/oauth2/callback
//   ?accessToken=eyJ...
//   &amp;refreshToken=eyJ...
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3867912"/>
            <a:ext cx="4114800" cy="1280160"/>
          </a:xfrm>
          <a:prstGeom prst="rect">
            <a:avLst/>
          </a:prstGeom>
          <a:solidFill>
            <a:srgbClr val="F2F6FA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754880" y="39136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보안 주의사항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0" y="41879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쿼리 파라미터 방식 — 브라우저 히스토리·서버 로그에 토큰 노출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54880" y="4572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프로덕션에서는 HttpOnly 쿠키 사용 권장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63440" y="5138928"/>
            <a:ext cx="4114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Cookie c = new Cookie(</a:t>
            </a:r>
            <a:r>
              <a:rPr lang="en-US" sz="90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"accessToken"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at);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setHttpOnly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(true); c.</a:t>
            </a:r>
            <a:r>
              <a:rPr lang="en-US" sz="90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setSecure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(true); response.addCookie(c);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판서 12 — CORS (Cross-Origin Resource Sharing)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Same-Origin Policy + Preflight 요청 개념 + 해결책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301752"/>
          </a:xfrm>
          <a:prstGeom prst="rect">
            <a:avLst/>
          </a:prstGeom>
          <a:solidFill>
            <a:srgbClr val="5E35B1">
              <a:alpha val="85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CORS란?  Origin = protocol + hostname + port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36192"/>
            <a:ext cx="4114800" cy="1051560"/>
          </a:xfrm>
          <a:prstGeom prst="rect">
            <a:avLst/>
          </a:prstGeom>
          <a:solidFill>
            <a:srgbClr val="C62828">
              <a:alpha val="7000"/>
            </a:srgbClr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문제: Same-Origin Policy (브라우저 보안 정책)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3931920" cy="713232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</a:t>
            </a:r>
            <a:r>
              <a:rPr lang="en-US" sz="100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3000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(React)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fetch("http://localhost: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451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8080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/api/posts") ← </a:t>
            </a:r>
            <a:r>
              <a:rPr lang="en-US" sz="10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차단!
</a:t>
            </a:r>
            <a:r>
              <a:rPr lang="en-US" sz="100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port가 달라 다른 Origin으로 인식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536192"/>
            <a:ext cx="4114800" cy="1051560"/>
          </a:xfrm>
          <a:prstGeom prst="rect">
            <a:avLst/>
          </a:prstGeom>
          <a:solidFill>
            <a:srgbClr val="43A047">
              <a:alpha val="7000"/>
            </a:srgbClr>
          </a:solidFill>
          <a:ln w="190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754880" y="15727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해결: 서버에서 CORS 응답 헤더 포함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828800"/>
            <a:ext cx="3931920" cy="713232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Access-Control-Allow-Origin: </a:t>
            </a:r>
            <a:r>
              <a:rPr lang="en-US" sz="100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http://localhost:3000
</a:t>
            </a:r>
            <a:r>
              <a:rPr lang="en-US" sz="100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Access-Control-Allow-Methods: 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GET,POST,PUT,DELETE
</a:t>
            </a:r>
            <a:r>
              <a:rPr lang="en-US" sz="100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Access-Control-Allow-Headers: 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
</a:t>
            </a:r>
            <a:r>
              <a:rPr lang="en-US" sz="100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Access-Control-Allow-Credentials: </a:t>
            </a:r>
            <a:r>
              <a:rPr lang="en-US" sz="100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79192"/>
            <a:ext cx="8412480" cy="274320"/>
          </a:xfrm>
          <a:prstGeom prst="rect">
            <a:avLst/>
          </a:prstGeom>
          <a:solidFill>
            <a:srgbClr val="F9A825">
              <a:alpha val="90000"/>
            </a:srgbClr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11480" y="26791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Preflight Request (OPTIONS) — PUT·DELETE·커스텀 헤더 요청 전 브라우저가 먼저 확인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990088"/>
            <a:ext cx="8412480" cy="1600200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─── Preflight (브라우저 자동 발송) ───────────────────────────────────
</a:t>
            </a:r>
            <a:r>
              <a:rPr lang="en-US" sz="95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 /api/posts/1
</a:t>
            </a: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Origin: </a:t>
            </a: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http://localhost:3000
</a:t>
            </a: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Access-Control-Request-Method: </a:t>
            </a: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
</a:t>
            </a: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Access-Control-Request-Headers: </a:t>
            </a: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
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─── 서버 응답 ─────────────────────────────────────────────────────────
</a:t>
            </a: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Access-Control-Allow-Origin: </a:t>
            </a: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http://localhost:3000
</a:t>
            </a: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Access-Control-Allow-Methods: 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GET,POST,PUT,DELETE,OPTIONS
</a:t>
            </a: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Access-Control-Max-Age: </a:t>
            </a: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3600    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이 시간 동안 preflight 캐시 → 재요청 생략
// ─── 이후 실제 PUT 요청 전송 ─────────────────────────────────────────
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4654296"/>
            <a:ext cx="8412480" cy="274320"/>
          </a:xfrm>
          <a:prstGeom prst="rect">
            <a:avLst/>
          </a:prstGeom>
          <a:solidFill>
            <a:srgbClr val="F4511E">
              <a:alpha val="12000"/>
            </a:srgbClr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46542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allowCredentials(true) 시 allowedOrigins에 "*" 사용 불가 — 구체적 Origin을 명시해야 함!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판서 13 — SecurityConfig Day 19 완성형 + Filter Chain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@EnableMethodSecurity + OAuth2 + CORS + JWT 통합 설정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754880" cy="301752"/>
          </a:xfrm>
          <a:prstGeom prst="rect">
            <a:avLst/>
          </a:prstGeom>
          <a:solidFill>
            <a:srgbClr val="5E35B1">
              <a:alpha val="85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SecurityConfig 전체 통합 코드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72184"/>
            <a:ext cx="4754880" cy="3611880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@Configuration
@EnableWebSecurity
</a:t>
            </a:r>
            <a:r>
              <a:rPr lang="en-US" sz="90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@EnableMethodSecurity</a:t>
            </a:r>
            <a:r>
              <a:rPr lang="en-US" sz="90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// ★ @PreAuthorize 활성화
</a:t>
            </a: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@RequiredArgsConstructor
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</a:t>
            </a:r>
            <a:r>
              <a:rPr lang="en-US" sz="90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SecurityConfig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
  private final JwtAuthenticationFilter  jwtFilter;
  private final CustomOAuth2UserService  oAuth2Svc;
  private final OAuth2SuccessHandler     oAuth2Handler;
  @Bean public SecurityFilterChain filterChain(HttpSecurity http) {
    http
</a:t>
            </a:r>
            <a:r>
              <a:rPr lang="en-US" sz="90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① CSRF 비활성화 (JWT)
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.csrf(c -&gt; c.</a:t>
            </a:r>
            <a:r>
              <a:rPr lang="en-US" sz="900" b="1" dirty="0">
                <a:solidFill>
                  <a:srgbClr val="F451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disable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
</a:t>
            </a:r>
            <a:r>
              <a:rPr lang="en-US" sz="90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② CORS 설정 적용
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.cors(cors -&gt; cors.</a:t>
            </a:r>
            <a:r>
              <a:rPr lang="en-US" sz="90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configurationSource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(corsSource()))
</a:t>
            </a:r>
            <a:r>
              <a:rPr lang="en-US" sz="90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③ Stateless 세션
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.sessionManagement(sm -&gt; sm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.sessionCreationPolicy(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STATELESS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
</a:t>
            </a:r>
            <a:r>
              <a:rPr lang="en-US" sz="90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④ URL 인가
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.authorizeHttpRequests(a -&gt; 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.requestMatchers(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"/auth/**"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).permitAll()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.requestMatchers(GET,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"/api/posts/**"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).permitAll()
        .anyRequest().authenticated())
</a:t>
            </a:r>
            <a:r>
              <a:rPr lang="en-US" sz="90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⑤ OAuth2 소셜 로그인
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.oauth2Login(o -&gt; o
        .userInfoEndpoint(u -&gt; u.userService(oAuth2Svc))
        .successHandler(oAuth2Handler))
</a:t>
            </a:r>
            <a:r>
              <a:rPr lang="en-US" sz="90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⑥ JWT 필터 등록
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.addFilterBefore(jwtFilter,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UsernamePasswordAuthenticationFilter.class);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http.build();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257800" y="1170432"/>
            <a:ext cx="3520440" cy="301752"/>
          </a:xfrm>
          <a:prstGeom prst="rect">
            <a:avLst/>
          </a:prstGeom>
          <a:solidFill>
            <a:srgbClr val="43A047">
              <a:alpha val="85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257800" y="1170432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CorsConfigurationSource Bean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57800" y="1472184"/>
            <a:ext cx="3520440" cy="1874520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CorsConfiguration config
  = new CorsConfiguration();
config.setAllowedOrigins(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List.of(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"http://localhost:3000"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
config.setAllowedMethods(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List.of(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"GET","POST","PUT","DELETE","OPTIONS"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
config.setAllowedHeaders(List.of(</a:t>
            </a:r>
            <a:r>
              <a:rPr lang="en-US" sz="90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"*"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
config.setAllowCredentials(</a:t>
            </a:r>
            <a:r>
              <a:rPr lang="en-US" sz="90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</a:t>
            </a:r>
            <a:r>
              <a:rPr lang="en-US" sz="900" dirty="0">
                <a:solidFill>
                  <a:srgbClr val="F451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Origin 명시 필수!
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config.setMaxAge(3600L);
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57800" y="3401568"/>
            <a:ext cx="352044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257800" y="34015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3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Filter Chain (Day 19 완성형)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03520" y="3712464"/>
            <a:ext cx="3429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Request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257800" y="3886200"/>
            <a:ext cx="3520440" cy="155448"/>
          </a:xfrm>
          <a:prstGeom prst="rect">
            <a:avLst/>
          </a:prstGeom>
          <a:solidFill>
            <a:srgbClr val="43A047">
              <a:alpha val="10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303520" y="3895344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CorsFilter (CORS 헤더 + Preflight)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57800" y="4059936"/>
            <a:ext cx="3520440" cy="155448"/>
          </a:xfrm>
          <a:prstGeom prst="rect">
            <a:avLst/>
          </a:prstGeom>
          <a:solidFill>
            <a:srgbClr val="F9A825">
              <a:alpha val="10000"/>
            </a:srgbClr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303520" y="4069080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JwtAuthenticationFilter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257800" y="4233672"/>
            <a:ext cx="3520440" cy="155448"/>
          </a:xfrm>
          <a:prstGeom prst="rect">
            <a:avLst/>
          </a:prstGeom>
          <a:solidFill>
            <a:srgbClr val="F4511E">
              <a:alpha val="10000"/>
            </a:srgbClr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303520" y="4242816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OAuth2 Filter Chain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257800" y="4407408"/>
            <a:ext cx="3520440" cy="155448"/>
          </a:xfrm>
          <a:prstGeom prst="rect">
            <a:avLst/>
          </a:prstGeom>
          <a:solidFill>
            <a:srgbClr val="5E35B1">
              <a:alpha val="10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303520" y="4416552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3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FilterSecurityInterceptor (URL 인가)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257800" y="4581144"/>
            <a:ext cx="3520440" cy="155448"/>
          </a:xfrm>
          <a:prstGeom prst="rect">
            <a:avLst/>
          </a:prstGeom>
          <a:solidFill>
            <a:srgbClr val="5A6A7E">
              <a:alpha val="10000"/>
            </a:srgbClr>
          </a:solidFill>
          <a:ln w="12700">
            <a:solidFill>
              <a:srgbClr val="5A6A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303520" y="4590288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Controller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257800" y="4754880"/>
            <a:ext cx="3520440" cy="155448"/>
          </a:xfrm>
          <a:prstGeom prst="rect">
            <a:avLst/>
          </a:prstGeom>
          <a:solidFill>
            <a:srgbClr val="7B1FA2">
              <a:alpha val="10000"/>
            </a:srgbClr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303520" y="4764024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@PreAuthorize AOP Proxy (메서드 인가)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257800" y="4928616"/>
            <a:ext cx="3520440" cy="155448"/>
          </a:xfrm>
          <a:prstGeom prst="rect">
            <a:avLst/>
          </a:prstGeom>
          <a:solidFill>
            <a:srgbClr val="43A047">
              <a:alpha val="10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303520" y="4937760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Service Method 실행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문제 구성 — 4문제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problem01 ~ problem04 | Day 18 프로젝트 계속 사용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2062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4206240" cy="365760"/>
          </a:xfrm>
          <a:prstGeom prst="rect">
            <a:avLst/>
          </a:prstGeom>
          <a:solidFill>
            <a:srgbClr val="43A047">
              <a:alpha val="90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75488" y="1170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01  ★★☆☆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5910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@PreAuthorize + PostService.isOwner() 구현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" y="1929384"/>
            <a:ext cx="54864" cy="2011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94360" y="192938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1: PostService.isOwner(postId, username) 완성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" y="2203704"/>
            <a:ext cx="54864" cy="2011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220370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2: PostController PUT에 @PreAuthorize("@postService.isOwner(#id, authentication.name)") 추가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" y="2478024"/>
            <a:ext cx="54864" cy="2011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247802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3: GET /api/posts/admin/list — @PreAuthorize("hasRole('ADMIN')") 추가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" y="2752344"/>
            <a:ext cx="3931920" cy="274320"/>
          </a:xfrm>
          <a:prstGeom prst="rect">
            <a:avLst/>
          </a:prstGeom>
          <a:solidFill>
            <a:srgbClr val="43A047">
              <a:alpha val="12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30352" y="27523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타인 게시글 PUT → 403  |  소유자 PUT → 200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73168" y="1170432"/>
            <a:ext cx="42062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773168" y="1170432"/>
            <a:ext cx="4206240" cy="365760"/>
          </a:xfrm>
          <a:prstGeom prst="rect">
            <a:avLst/>
          </a:prstGeom>
          <a:solidFill>
            <a:srgbClr val="F9A825">
              <a:alpha val="90000"/>
            </a:srgbClr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882896" y="1170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02  ★★★☆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82896" y="15910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CustomOAuth2UserService.loadUser() 완성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82896" y="1929384"/>
            <a:ext cx="54864" cy="2011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001768" y="192938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1: delegate.loadUser(userRequest)로 Google 사용자 정보 수신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82896" y="2203704"/>
            <a:ext cx="54864" cy="2011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001768" y="220370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2: sub, email, provider 속성 추출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82896" y="2478024"/>
            <a:ext cx="54864" cy="2011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001768" y="247802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3: userRepository.findByEmail() → 없으면 신규 저장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82896" y="2752344"/>
            <a:ext cx="3931920" cy="274320"/>
          </a:xfrm>
          <a:prstGeom prst="rect">
            <a:avLst/>
          </a:prstGeom>
          <a:solidFill>
            <a:srgbClr val="F9A825">
              <a:alpha val="12000"/>
            </a:srgbClr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937760" y="27523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브라우저 /oauth2/authorization/google → DB에 users 레코드 생성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182112"/>
            <a:ext cx="42062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5E35B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65760" y="3182112"/>
            <a:ext cx="4206240" cy="365760"/>
          </a:xfrm>
          <a:prstGeom prst="rect">
            <a:avLst/>
          </a:prstGeom>
          <a:solidFill>
            <a:srgbClr val="5E35B1">
              <a:alpha val="90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75488" y="31821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03  ★★★☆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" y="36027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OAuth2SuccessHandler.onAuthenticationSuccess() 완성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" y="3941064"/>
            <a:ext cx="54864" cy="201168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94360" y="394106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1: oAuth2User에서 email 추출 → DB 조회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" y="4215384"/>
            <a:ext cx="54864" cy="201168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94360" y="421538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2: jwtTokenProvider로 Access + Refresh Token 발급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" y="4489704"/>
            <a:ext cx="54864" cy="201168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94360" y="448970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3: UriComponentsBuilder로 redirect URL 생성 + sendRedirect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" y="4764024"/>
            <a:ext cx="3931920" cy="274320"/>
          </a:xfrm>
          <a:prstGeom prst="rect">
            <a:avLst/>
          </a:prstGeom>
          <a:solidFill>
            <a:srgbClr val="5E35B1">
              <a:alpha val="12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530352" y="47640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3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로그인 후 http://localhost:3000/oauth2/callback?accessToken=eyJ... 리다이렉트 확인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73168" y="3182112"/>
            <a:ext cx="42062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7B1FA2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4773168" y="3182112"/>
            <a:ext cx="4206240" cy="365760"/>
          </a:xfrm>
          <a:prstGeom prst="rect">
            <a:avLst/>
          </a:prstGeom>
          <a:solidFill>
            <a:srgbClr val="7B1FA2">
              <a:alpha val="90000"/>
            </a:srgbClr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882896" y="31821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04  ★★★★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82896" y="36027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SecurityConfig 전체 통합 (도전)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882896" y="3941064"/>
            <a:ext cx="54864" cy="20116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5001768" y="394106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1: @EnableMethodSecurity 추가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82896" y="4215384"/>
            <a:ext cx="54864" cy="20116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5001768" y="421538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2: corsConfigurationSource() Bean 구현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82896" y="4489704"/>
            <a:ext cx="54864" cy="20116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5001768" y="448970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3: .cors() + .oauth2Login() + .addFilterBefore() 연결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882896" y="4764024"/>
            <a:ext cx="3931920" cy="274320"/>
          </a:xfrm>
          <a:prstGeom prst="rect">
            <a:avLst/>
          </a:prstGeom>
          <a:solidFill>
            <a:srgbClr val="7B1FA2">
              <a:alpha val="12000"/>
            </a:srgbClr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4937760" y="47640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1F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전체 E2E 테스트: 소셜 로그인 → JWT → @PreAuthorize → CORS 모두 통과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테스트 — @PreAuthorize 소유자 인가 검증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A·B 시나리오로 403 / 200 결과 확인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2062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292608" cy="914400"/>
          </a:xfrm>
          <a:prstGeom prst="rect">
            <a:avLst/>
          </a:prstGeom>
          <a:solidFill>
            <a:srgbClr val="43A047">
              <a:alpha val="90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65760" y="1170432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4088" y="1216152"/>
            <a:ext cx="411480" cy="201168"/>
          </a:xfrm>
          <a:prstGeom prst="rect">
            <a:avLst/>
          </a:prstGeom>
          <a:solidFill>
            <a:srgbClr val="43A047">
              <a:alpha val="85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04088" y="1216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43000" y="12252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/auth/signup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4088" y="1444752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A 가입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04088" y="1645920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201 Created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73168" y="1170432"/>
            <a:ext cx="42062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773168" y="1170432"/>
            <a:ext cx="292608" cy="914400"/>
          </a:xfrm>
          <a:prstGeom prst="rect">
            <a:avLst/>
          </a:prstGeom>
          <a:solidFill>
            <a:srgbClr val="43A047">
              <a:alpha val="90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773168" y="1170432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111496" y="1216152"/>
            <a:ext cx="411480" cy="201168"/>
          </a:xfrm>
          <a:prstGeom prst="rect">
            <a:avLst/>
          </a:prstGeom>
          <a:solidFill>
            <a:srgbClr val="43A047">
              <a:alpha val="85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111496" y="1216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550408" y="12252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/auth/signup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11496" y="1444752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B 가입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111496" y="1645920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201 Created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157984"/>
            <a:ext cx="42062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65760" y="2157984"/>
            <a:ext cx="292608" cy="914400"/>
          </a:xfrm>
          <a:prstGeom prst="rect">
            <a:avLst/>
          </a:prstGeom>
          <a:solidFill>
            <a:srgbClr val="F9A825">
              <a:alpha val="90000"/>
            </a:srgbClr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65760" y="2157984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04088" y="2203704"/>
            <a:ext cx="411480" cy="201168"/>
          </a:xfrm>
          <a:prstGeom prst="rect">
            <a:avLst/>
          </a:prstGeom>
          <a:solidFill>
            <a:srgbClr val="F9A825">
              <a:alpha val="85000"/>
            </a:srgbClr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04088" y="220370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43000" y="22128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/auth/login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4088" y="2432304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로그인 → tokenA 획득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04088" y="2633472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200  { accessToken: tokenA }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73168" y="2157984"/>
            <a:ext cx="42062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5E35B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773168" y="2157984"/>
            <a:ext cx="292608" cy="914400"/>
          </a:xfrm>
          <a:prstGeom prst="rect">
            <a:avLst/>
          </a:prstGeom>
          <a:solidFill>
            <a:srgbClr val="5E35B1">
              <a:alpha val="90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773168" y="2157984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111496" y="2203704"/>
            <a:ext cx="411480" cy="201168"/>
          </a:xfrm>
          <a:prstGeom prst="rect">
            <a:avLst/>
          </a:prstGeom>
          <a:solidFill>
            <a:srgbClr val="5E35B1">
              <a:alpha val="85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111496" y="220370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550408" y="22128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3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/api/posts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11496" y="2432304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A로 게시글 작성 (id=1)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111496" y="2633472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201  {"id":1,"title":"A의 게시글"}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3145536"/>
            <a:ext cx="42062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365760" y="3145536"/>
            <a:ext cx="292608" cy="914400"/>
          </a:xfrm>
          <a:prstGeom prst="rect">
            <a:avLst/>
          </a:prstGeom>
          <a:solidFill>
            <a:srgbClr val="F9A825">
              <a:alpha val="90000"/>
            </a:srgbClr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365760" y="3145536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04088" y="3191256"/>
            <a:ext cx="411480" cy="201168"/>
          </a:xfrm>
          <a:prstGeom prst="rect">
            <a:avLst/>
          </a:prstGeom>
          <a:solidFill>
            <a:srgbClr val="F9A825">
              <a:alpha val="85000"/>
            </a:srgbClr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704088" y="319125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143000" y="32004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/auth/login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04088" y="34198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로그인 → tokenB 획득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04088" y="3621024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200  { accessToken: tokenB }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73168" y="3145536"/>
            <a:ext cx="42062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773168" y="3145536"/>
            <a:ext cx="292608" cy="914400"/>
          </a:xfrm>
          <a:prstGeom prst="rect">
            <a:avLst/>
          </a:prstGeom>
          <a:solidFill>
            <a:srgbClr val="C62828">
              <a:alpha val="90000"/>
            </a:srgbClr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4773168" y="3145536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111496" y="3191256"/>
            <a:ext cx="411480" cy="201168"/>
          </a:xfrm>
          <a:prstGeom prst="rect">
            <a:avLst/>
          </a:prstGeom>
          <a:solidFill>
            <a:srgbClr val="C62828">
              <a:alpha val="85000"/>
            </a:srgbClr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5111496" y="319125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550408" y="32004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/api/posts/1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111496" y="34198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B로 A 게시글 수정 시도 ← 핵심!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111496" y="3621024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403 Forbidden  ← @PreAuthorize isOwner 차단 ✅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760" y="4133088"/>
            <a:ext cx="42062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365760" y="4133088"/>
            <a:ext cx="292608" cy="914400"/>
          </a:xfrm>
          <a:prstGeom prst="rect">
            <a:avLst/>
          </a:prstGeom>
          <a:solidFill>
            <a:srgbClr val="43A047">
              <a:alpha val="90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365760" y="4133088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704088" y="4178808"/>
            <a:ext cx="411480" cy="201168"/>
          </a:xfrm>
          <a:prstGeom prst="rect">
            <a:avLst/>
          </a:prstGeom>
          <a:solidFill>
            <a:srgbClr val="43A047">
              <a:alpha val="85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704088" y="41788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1143000" y="41879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/api/posts/1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04088" y="4407408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A로 A 게시글 수정 (성공)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04088" y="4608576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200 OK  {"title":"A가 수정"} ✅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773168" y="4133088"/>
            <a:ext cx="42062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B1FA2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4773168" y="4133088"/>
            <a:ext cx="292608" cy="914400"/>
          </a:xfrm>
          <a:prstGeom prst="rect">
            <a:avLst/>
          </a:prstGeom>
          <a:solidFill>
            <a:srgbClr val="7B1FA2">
              <a:alpha val="90000"/>
            </a:srgbClr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4773168" y="4133088"/>
            <a:ext cx="292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5111496" y="4178808"/>
            <a:ext cx="411480" cy="201168"/>
          </a:xfrm>
          <a:prstGeom prst="rect">
            <a:avLst/>
          </a:prstGeom>
          <a:solidFill>
            <a:srgbClr val="7B1FA2">
              <a:alpha val="85000"/>
            </a:srgbClr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5111496" y="417880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550408" y="41879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1F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/api/posts/admin/list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111496" y="4407408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권한 테스트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5111496" y="4608576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200 OK ✅  |  tokenA(ROLE_USER) → 403 ✅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정리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— Role 기반 인가 + OAuth2 소셜 로그인 + CORS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206240" cy="658368"/>
          </a:xfrm>
          <a:prstGeom prst="rect">
            <a:avLst/>
          </a:prstGeom>
          <a:solidFill>
            <a:srgbClr val="132336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73152" cy="658368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30352" y="111556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3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@EnableMethodSecurity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35331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SecurityConfig에 추가 — @PreAuthorize 전체 활성화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73168" y="1078992"/>
            <a:ext cx="4206240" cy="658368"/>
          </a:xfrm>
          <a:prstGeom prst="rect">
            <a:avLst/>
          </a:prstGeom>
          <a:solidFill>
            <a:srgbClr val="132336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773168" y="1078992"/>
            <a:ext cx="73152" cy="6583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937760" y="111556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@PreAuthorize SpEL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35331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isAuthenticated() · hasRole() · @빈.메서드(#파라미터) 패턴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828800"/>
            <a:ext cx="4206240" cy="658368"/>
          </a:xfrm>
          <a:prstGeom prst="rect">
            <a:avLst/>
          </a:prstGeom>
          <a:solidFill>
            <a:srgbClr val="132336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65760" y="1828800"/>
            <a:ext cx="73152" cy="65836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30352" y="186537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@postService.isOwner()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21031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 빈 참조로 소유자 확인 — 컨트롤러에 인가 조건 명시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73168" y="1828800"/>
            <a:ext cx="4206240" cy="658368"/>
          </a:xfrm>
          <a:prstGeom prst="rect">
            <a:avLst/>
          </a:prstGeom>
          <a:solidFill>
            <a:srgbClr val="132336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773168" y="1828800"/>
            <a:ext cx="73152" cy="65836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937760" y="186537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Authorization Code Flow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1031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6단계: 리다이렉트 → 코드 → Token 교환 → userinfo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578608"/>
            <a:ext cx="4206240" cy="658368"/>
          </a:xfrm>
          <a:prstGeom prst="rect">
            <a:avLst/>
          </a:prstGeom>
          <a:solidFill>
            <a:srgbClr val="132336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365760" y="2578608"/>
            <a:ext cx="73152" cy="6583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30352" y="261518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CustomOAuth2UserService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" y="2852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loadUser() — Google userinfo → DB 조회·저장 → oAuth2User 반환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73168" y="2578608"/>
            <a:ext cx="4206240" cy="658368"/>
          </a:xfrm>
          <a:prstGeom prst="rect">
            <a:avLst/>
          </a:prstGeom>
          <a:solidFill>
            <a:srgbClr val="13233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773168" y="2578608"/>
            <a:ext cx="73152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937760" y="261518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OAuth2SuccessHandler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2852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성공 → email로 DB 조회 → JWT 발급 → 프론트 리다이렉트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328416"/>
            <a:ext cx="4206240" cy="658368"/>
          </a:xfrm>
          <a:prstGeom prst="rect">
            <a:avLst/>
          </a:prstGeom>
          <a:solidFill>
            <a:srgbClr val="132336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365760" y="3328416"/>
            <a:ext cx="73152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30352" y="336499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UriComponentsBuilder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0352" y="360273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.fromUriString().queryParam().build().toUriString() — 쿼리 파라미터 URL 생성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73168" y="3328416"/>
            <a:ext cx="4206240" cy="658368"/>
          </a:xfrm>
          <a:prstGeom prst="rect">
            <a:avLst/>
          </a:prstGeom>
          <a:solidFill>
            <a:srgbClr val="132336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4773168" y="3328416"/>
            <a:ext cx="73152" cy="6583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937760" y="336499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/ Preflight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360273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Same-Origin Policy 해결 — OPTIONS로 서버가 허용 헤더 선언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078224"/>
            <a:ext cx="4206240" cy="658368"/>
          </a:xfrm>
          <a:prstGeom prst="rect">
            <a:avLst/>
          </a:prstGeom>
          <a:solidFill>
            <a:srgbClr val="132336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365760" y="4078224"/>
            <a:ext cx="73152" cy="658368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30352" y="411480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3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CorsConfigurationSource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0352" y="435254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setAllowedOrigins · allowCredentials — SecurityConfig에 .cors()로 등록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73168" y="4078224"/>
            <a:ext cx="4206240" cy="658368"/>
          </a:xfrm>
          <a:prstGeom prst="rect">
            <a:avLst/>
          </a:prstGeom>
          <a:solidFill>
            <a:srgbClr val="132336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4773168" y="4078224"/>
            <a:ext cx="73152" cy="6583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937760" y="411480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SecurityConfig 통합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37760" y="435254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@EnableMethodSecurity + CORS + OAuth2 + JWT Filter + URL인가 통합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4206240" cy="4297680"/>
          </a:xfrm>
          <a:prstGeom prst="rect">
            <a:avLst/>
          </a:prstGeom>
          <a:solidFill>
            <a:srgbClr val="1A2E4A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5E3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질문이 있으시면 지금 바로!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3840480" cy="292608"/>
          </a:xfrm>
          <a:prstGeom prst="rect">
            <a:avLst/>
          </a:prstGeom>
          <a:solidFill>
            <a:srgbClr val="5E35B1">
              <a:alpha val="12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@PreAuthorize가 작동하지 않을 때?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090672"/>
            <a:ext cx="3840480" cy="292608"/>
          </a:xfrm>
          <a:prstGeom prst="rect">
            <a:avLst/>
          </a:prstGeom>
          <a:solidFill>
            <a:srgbClr val="5E35B1">
              <a:alpha val="12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31520" y="309067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OAuth2 리다이렉트 URI 불일치 오류?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438144"/>
            <a:ext cx="3840480" cy="292608"/>
          </a:xfrm>
          <a:prstGeom prst="rect">
            <a:avLst/>
          </a:prstGeom>
          <a:solidFill>
            <a:srgbClr val="5E35B1">
              <a:alpha val="12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343814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CORS allowCredentials(true) + * 오류?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785616"/>
            <a:ext cx="3840480" cy="292608"/>
          </a:xfrm>
          <a:prstGeom prst="rect">
            <a:avLst/>
          </a:prstGeom>
          <a:solidFill>
            <a:srgbClr val="5E35B1">
              <a:alpha val="12000"/>
            </a:srgbClr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78561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Google Test users 설정 방법?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548640"/>
            <a:ext cx="3749040" cy="4297680"/>
          </a:xfrm>
          <a:prstGeom prst="rect">
            <a:avLst/>
          </a:prstGeom>
          <a:solidFill>
            <a:srgbClr val="1A2E4A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937760" y="548640"/>
            <a:ext cx="3749040" cy="502920"/>
          </a:xfrm>
          <a:prstGeom prst="rect">
            <a:avLst/>
          </a:prstGeom>
          <a:solidFill>
            <a:srgbClr val="43A047">
              <a:alpha val="85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937760" y="548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시간 예고 — DAY 20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1188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Spring 연동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0" y="1783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실제 적용 · axios 인터셉터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소셜 로그인 콜백 처리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2377440"/>
            <a:ext cx="3474720" cy="347472"/>
          </a:xfrm>
          <a:prstGeom prst="rect">
            <a:avLst/>
          </a:prstGeom>
          <a:solidFill>
            <a:srgbClr val="132336"/>
          </a:solidFill>
          <a:ln w="63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120640" y="23957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  React 프로젝트 설정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95160" y="239572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axios 설치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0" y="2779776"/>
            <a:ext cx="3474720" cy="347472"/>
          </a:xfrm>
          <a:prstGeom prst="rect">
            <a:avLst/>
          </a:prstGeom>
          <a:solidFill>
            <a:srgbClr val="132336"/>
          </a:solidFill>
          <a:ln w="63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120640" y="279806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axios 인터셉터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95160" y="279806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요청마다 JWT 헤더 자동 첨부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0" y="3182112"/>
            <a:ext cx="3474720" cy="347472"/>
          </a:xfrm>
          <a:prstGeom prst="rect">
            <a:avLst/>
          </a:prstGeom>
          <a:solidFill>
            <a:srgbClr val="132336"/>
          </a:solidFill>
          <a:ln w="63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120640" y="32004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401 처리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95160" y="32004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만료 → Refresh → 재요청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0" y="3584448"/>
            <a:ext cx="3474720" cy="347472"/>
          </a:xfrm>
          <a:prstGeom prst="rect">
            <a:avLst/>
          </a:prstGeom>
          <a:solidFill>
            <a:srgbClr val="132336"/>
          </a:solidFill>
          <a:ln w="63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120640" y="36027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소셜 로그인 callback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95160" y="360273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URL에서 토큰 파싱 → localStorage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0" y="3986784"/>
            <a:ext cx="3474720" cy="347472"/>
          </a:xfrm>
          <a:prstGeom prst="rect">
            <a:avLst/>
          </a:prstGeom>
          <a:solidFill>
            <a:srgbClr val="132336"/>
          </a:solidFill>
          <a:ln w="63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120640" y="40050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PrivateRoute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95160" y="40050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미인증 → 로그인 페이지 리다이렉트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 완료 — 수고하셨습니다! 🎉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3046</Words>
  <Application>Microsoft Office PowerPoint</Application>
  <PresentationFormat>화면 슬라이드 쇼(16:9)</PresentationFormat>
  <Paragraphs>383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19일차 - Role 기반 인가 + OAuth2 + CORS</dc:title>
  <dc:subject>PptxGenJS Presentation</dc:subject>
  <dc:creator>PptxGenJS</dc:creator>
  <cp:lastModifiedBy>상규 남</cp:lastModifiedBy>
  <cp:revision>2</cp:revision>
  <dcterms:created xsi:type="dcterms:W3CDTF">2026-06-06T16:52:17Z</dcterms:created>
  <dcterms:modified xsi:type="dcterms:W3CDTF">2026-06-07T05:35:56Z</dcterms:modified>
</cp:coreProperties>
</file>